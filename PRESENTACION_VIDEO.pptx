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E2A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B860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6E9E3E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73736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RED DE DONACIÓN DE ALIMENTOS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27432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Defensa del Test de Usabilidad · Prototipos A vs B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420624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6E9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GCS-08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Erardo Aldana · Luis Almero · Jastin Fernández · Adrián García · Ángel Gonjar · Héctor Hernández · Iván Khomutov · Esteban Pi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59436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A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Calidad de Software (34041)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D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B8602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E9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EL PROYECTO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2A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Conectar excedentes con quien los necesita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2E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que conecta </a:t>
            </a:r>
            <a:pPr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B86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donantes</a:t>
            </a:r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2E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(restaurantes, supermercados, particulares) con </a:t>
            </a:r>
            <a:pPr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6E9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receptores</a:t>
            </a:r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2E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(personas vulnerables, ONGs, Bancos de Alimentos) para reducir el desperdicio alimentario.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3154680"/>
            <a:ext cx="269748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DDD3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3154680"/>
            <a:ext cx="2697480" cy="109728"/>
          </a:xfrm>
          <a:prstGeom prst="rect">
            <a:avLst/>
          </a:prstGeom>
          <a:solidFill>
            <a:srgbClr val="B8602A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34290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2A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Backend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22960" y="3931920"/>
            <a:ext cx="2331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44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 FastAPI (Python 3.11), arquitectura hexagonal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3502152" y="3154680"/>
            <a:ext cx="269748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DDD3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502152" y="3154680"/>
            <a:ext cx="2697480" cy="109728"/>
          </a:xfrm>
          <a:prstGeom prst="rect">
            <a:avLst/>
          </a:prstGeom>
          <a:solidFill>
            <a:srgbClr val="6E9E3E"/>
          </a:solidFill>
          <a:ln/>
        </p:spPr>
      </p:sp>
      <p:sp>
        <p:nvSpPr>
          <p:cNvPr id="12" name="Text 10"/>
          <p:cNvSpPr/>
          <p:nvPr/>
        </p:nvSpPr>
        <p:spPr>
          <a:xfrm>
            <a:off x="3685032" y="34290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2A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Base de datos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685032" y="3931920"/>
            <a:ext cx="2331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44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asíncrono (SQLAlchemy + asyncpg)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364224" y="3154680"/>
            <a:ext cx="269748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DDD3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364224" y="3154680"/>
            <a:ext cx="2697480" cy="109728"/>
          </a:xfrm>
          <a:prstGeom prst="rect">
            <a:avLst/>
          </a:prstGeom>
          <a:solidFill>
            <a:srgbClr val="B8602A"/>
          </a:solidFill>
          <a:ln/>
        </p:spPr>
      </p:sp>
      <p:sp>
        <p:nvSpPr>
          <p:cNvPr id="16" name="Text 14"/>
          <p:cNvSpPr/>
          <p:nvPr/>
        </p:nvSpPr>
        <p:spPr>
          <a:xfrm>
            <a:off x="6547104" y="34290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2A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Seguridad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547104" y="3931920"/>
            <a:ext cx="2331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44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Autenticación JWT + roles (DONANTE, RECEPTOR, ONG, ADMIN)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9226296" y="3154680"/>
            <a:ext cx="269748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DDD3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9226296" y="3154680"/>
            <a:ext cx="2697480" cy="109728"/>
          </a:xfrm>
          <a:prstGeom prst="rect">
            <a:avLst/>
          </a:prstGeom>
          <a:solidFill>
            <a:srgbClr val="6E9E3E"/>
          </a:solidFill>
          <a:ln/>
        </p:spPr>
      </p:sp>
      <p:sp>
        <p:nvSpPr>
          <p:cNvPr id="20" name="Text 18"/>
          <p:cNvSpPr/>
          <p:nvPr/>
        </p:nvSpPr>
        <p:spPr>
          <a:xfrm>
            <a:off x="9409176" y="34290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2A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Frontend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9409176" y="3931920"/>
            <a:ext cx="2331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44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variantes (A y B) sobre el mismo backend → nativo en Ionic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D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B8602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E9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PROTOTIPOS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2A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Mismo backend, dos filosofías de diseño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544068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DDD3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828800"/>
            <a:ext cx="5440680" cy="548640"/>
          </a:xfrm>
          <a:prstGeom prst="rect">
            <a:avLst/>
          </a:prstGeom>
          <a:solidFill>
            <a:srgbClr val="B8602A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87452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Prototipo A — Eficiencia de pasos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260604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E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Interfaz compacta y densa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E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Menús superiores fijos, acciones inmediatas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E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Botones de acción embebidos en cada fila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E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navegación, más velocidad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263640" y="1828800"/>
            <a:ext cx="530352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DDD3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63640" y="1828800"/>
            <a:ext cx="5303520" cy="548640"/>
          </a:xfrm>
          <a:prstGeom prst="rect">
            <a:avLst/>
          </a:prstGeom>
          <a:solidFill>
            <a:srgbClr val="6E9E3E"/>
          </a:solidFill>
          <a:ln/>
        </p:spPr>
      </p:sp>
      <p:sp>
        <p:nvSpPr>
          <p:cNvPr id="11" name="Text 9"/>
          <p:cNvSpPr/>
          <p:nvPr/>
        </p:nvSpPr>
        <p:spPr>
          <a:xfrm>
            <a:off x="6446520" y="18745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Prototipo B — Carga cognitiva reducida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537960" y="2606040"/>
            <a:ext cx="49377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E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minimalista y limpio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E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Menú lateral retráctil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E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Flujos por pasos (wizards)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E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estético, pero más navegación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0080" y="61722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4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Semejanzas: mismos endpoints y tareas, mismos estándares REST (201/200, 401/403/422), misma arquitectura de información base.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D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B8602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E9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PROTOTIPOS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2A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Justificación según heurísticas de Nielsen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109270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DDD3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304288"/>
            <a:ext cx="640080" cy="640080"/>
          </a:xfrm>
          <a:prstGeom prst="ellipse">
            <a:avLst/>
          </a:prstGeom>
          <a:solidFill>
            <a:srgbClr val="B8602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0428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828800" y="2194560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2A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Visibilidad del estado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828800" y="2606040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aprobar (PATCH /requests/{id}/status) la etiqueta pasa de PENDING → APPROVED al instante.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3429000"/>
            <a:ext cx="109270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DDD3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914400" y="3721608"/>
            <a:ext cx="640080" cy="640080"/>
          </a:xfrm>
          <a:prstGeom prst="ellipse">
            <a:avLst/>
          </a:prstGeom>
          <a:solidFill>
            <a:srgbClr val="B8602A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72160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H4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828800" y="3611880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2A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Consistencia y estándares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828800" y="4023360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Términos de los DTOs (AVAILABLE, RESERVED, COMPLETED) idénticos en todas las pantallas.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0080" y="4846320"/>
            <a:ext cx="109270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DDD3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914400" y="5138928"/>
            <a:ext cx="640080" cy="640080"/>
          </a:xfrm>
          <a:prstGeom prst="ellipse">
            <a:avLst/>
          </a:prstGeom>
          <a:solidFill>
            <a:srgbClr val="B8602A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513892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H5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828800" y="5029200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2A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Prevención de errores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828800" y="5440680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nativa de formularios alineada con los errores 422 de Pydantic.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D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B8602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E9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METODOLOGÍA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2A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test y los usuarios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2834640" cy="1828800"/>
          </a:xfrm>
          <a:prstGeom prst="rect">
            <a:avLst/>
          </a:prstGeom>
          <a:solidFill>
            <a:srgbClr val="2E2A3B"/>
          </a:solidFill>
          <a:ln w="12700">
            <a:solidFill>
              <a:srgbClr val="E6DDD3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0574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moderado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777240" y="260604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Tareas autónomas con pautas automatizadas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11880" y="1828800"/>
            <a:ext cx="2834640" cy="1828800"/>
          </a:xfrm>
          <a:prstGeom prst="rect">
            <a:avLst/>
          </a:prstGeom>
          <a:solidFill>
            <a:srgbClr val="6E9E3E"/>
          </a:solidFill>
          <a:ln w="12700">
            <a:solidFill>
              <a:srgbClr val="E6DDD3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749040" y="20574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Remoto · Loop11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3749040" y="260604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F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 dispositivos propios (escritorio y móvil)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3931920"/>
            <a:ext cx="58064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6DDD3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68680" y="416052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60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28 participantes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868680" y="493776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E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Prototipo A · 14 Prototipo B   |   14 hombres · 14 mujeres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629400" y="1828800"/>
            <a:ext cx="49377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DDD3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629400" y="1828800"/>
            <a:ext cx="109728" cy="2011680"/>
          </a:xfrm>
          <a:prstGeom prst="rect">
            <a:avLst/>
          </a:prstGeom>
          <a:solidFill>
            <a:srgbClr val="B8602A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0" y="20116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2A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Alejandro Torres, 42 — Donante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858000" y="2468880"/>
            <a:ext cx="4526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44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Dueño de restaurante, nivel tecnológico medio, sin tiempo. Quiere registrar excedentes en menos de 2 min.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629400" y="4023360"/>
            <a:ext cx="49377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DDD3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629400" y="4023360"/>
            <a:ext cx="109728" cy="2011680"/>
          </a:xfrm>
          <a:prstGeom prst="rect">
            <a:avLst/>
          </a:prstGeom>
          <a:solidFill>
            <a:srgbClr val="6E9E3E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0" y="42062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2A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Marta Sanabria, 26 — Receptora (ONG)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858000" y="4663440"/>
            <a:ext cx="4526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44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Coordinadora de voluntariado, nivel tecnológico alto. Busca una interfaz clara para examinar donaciones de su zona.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D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B8602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E9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RENDIMIENTO · TIEMPO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2A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T2 «Aceptar solicitud» — Δ 25 s a favor de A</a:t>
            </a:r>
            <a:endParaRPr lang="en-US" sz="3200" dirty="0"/>
          </a:p>
        </p:txBody>
      </p:sp>
      <p:pic>
        <p:nvPicPr>
          <p:cNvPr id="5" name="Image 0" descr="/sessions/confident-hopeful-pascal/mnt/GCS/GCS08_Entrega_Junio/analisis/g1_tiempo_tare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28800"/>
            <a:ext cx="6035040" cy="33832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5349240"/>
            <a:ext cx="6035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44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Escenario: «Eres Alejandro. Has publicado 10 kg de manzanas y la ONG de Marta solicita recogerlas. Revisa y aprueba la solicitud.»</a:t>
            </a:r>
            <a:endParaRPr lang="en-US" sz="12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0" y="1920240"/>
          <a:ext cx="475488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280160"/>
                <a:gridCol w="128016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Métrica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A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A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A3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E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Tiempo medio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7D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B86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66,4 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7D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6E9E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91,4 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7D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E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Pasos (mín / med)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B86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/ 4,6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6E9E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/ 4,9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E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Compleción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7D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B86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92,9 %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7D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6E9E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78,6 %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7D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E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 experiencia (EE)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B86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+0,71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6E9E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−0,07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6858000" y="4937760"/>
            <a:ext cx="47548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E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qué: </a:t>
            </a:r>
            <a:pPr indent="0" marL="0">
              <a:buNone/>
            </a:pPr>
            <a:r>
              <a:rPr lang="en-US" sz="1350" dirty="0">
                <a:solidFill>
                  <a:srgbClr val="44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integra Aprobar/Rechazar en la propia fila (H7). B esconde la gestión en un menú lateral + modal → desorientación y +25 s.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D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B8602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E9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RENDIMIENTO · GÉNERO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2A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T4 «Rechazar solicitud» (B) — Δ 32,9 s H vs M</a:t>
            </a:r>
            <a:endParaRPr lang="en-US" sz="3200" dirty="0"/>
          </a:p>
        </p:txBody>
      </p:sp>
      <p:pic>
        <p:nvPicPr>
          <p:cNvPr id="5" name="Image 0" descr="/sessions/confident-hopeful-pascal/mnt/GCS/GCS08_Entrega_Junio/analisis/g5_genero_B_T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920240"/>
            <a:ext cx="4937760" cy="3291840"/>
          </a:xfrm>
          <a:prstGeom prst="rect">
            <a:avLst/>
          </a:prstGeom>
        </p:spPr>
      </p:pic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0" y="1920240"/>
          <a:ext cx="566928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645920"/>
                <a:gridCol w="164592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Métrica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A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Hombres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A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Mujeres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A3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E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Tiempo medio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7D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3D5A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58,3 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7D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91,1 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7D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E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Pasos medios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3D5A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E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Compleción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7D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3D5A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86 %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7D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71 %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7D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E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 experiencia (EE)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3D5A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−0,29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−1,57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5943600" y="4206240"/>
            <a:ext cx="56692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 (H9): </a:t>
            </a:r>
            <a:pPr indent="0" marL="0">
              <a:buNone/>
            </a:pPr>
            <a:r>
              <a:rPr lang="en-US" sz="1350" dirty="0">
                <a:solidFill>
                  <a:srgbClr val="44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botón de rechazo queda gris sin avisar de que el campo de motivo es obligatorio. Las usuarias creyeron que el sistema se colgó → rodeos (6,3 pasos) y experiencia 3,43.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5943600" y="5577840"/>
            <a:ext cx="5669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E9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ROI: un rechazo rápido y justificado evita logística inversa (desplazamientos en balde de la ONG).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D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B8602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E9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MEDIDAS GLOBALES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2A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UMUX y NPS: dos historias distintas</a:t>
            </a:r>
            <a:endParaRPr lang="en-US" sz="3200" dirty="0"/>
          </a:p>
        </p:txBody>
      </p:sp>
      <p:pic>
        <p:nvPicPr>
          <p:cNvPr id="5" name="Image 0" descr="/sessions/confident-hopeful-pascal/mnt/GCS/GCS08_Entrega_Junio/analisis/g4_umux_np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920240"/>
            <a:ext cx="5852160" cy="35661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812280" y="1920240"/>
            <a:ext cx="47548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DDD3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949440" y="2011680"/>
            <a:ext cx="2057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2E2A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69 / 68</a:t>
            </a:r>
            <a:endParaRPr lang="en-US" sz="2500" dirty="0"/>
          </a:p>
        </p:txBody>
      </p:sp>
      <p:sp>
        <p:nvSpPr>
          <p:cNvPr id="8" name="Shape 5"/>
          <p:cNvSpPr/>
          <p:nvPr/>
        </p:nvSpPr>
        <p:spPr>
          <a:xfrm>
            <a:off x="9052560" y="2121408"/>
            <a:ext cx="0" cy="731520"/>
          </a:xfrm>
          <a:prstGeom prst="line">
            <a:avLst/>
          </a:prstGeom>
          <a:noFill/>
          <a:ln w="12700">
            <a:solidFill>
              <a:srgbClr val="E6DDD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189720" y="2011680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E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UMUX casi empatado — A gana en usabilidad pura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812280" y="3200400"/>
            <a:ext cx="47548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DDD3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949440" y="3291840"/>
            <a:ext cx="2057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6E9E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 / 43</a:t>
            </a:r>
            <a:endParaRPr lang="en-US" sz="2500" dirty="0"/>
          </a:p>
        </p:txBody>
      </p:sp>
      <p:sp>
        <p:nvSpPr>
          <p:cNvPr id="12" name="Shape 9"/>
          <p:cNvSpPr/>
          <p:nvPr/>
        </p:nvSpPr>
        <p:spPr>
          <a:xfrm>
            <a:off x="9052560" y="3401568"/>
            <a:ext cx="0" cy="731520"/>
          </a:xfrm>
          <a:prstGeom prst="line">
            <a:avLst/>
          </a:prstGeom>
          <a:noFill/>
          <a:ln w="12700">
            <a:solidFill>
              <a:srgbClr val="E6DDD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189720" y="3291840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E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NPS — B arrasa en intención de recomendación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6812280" y="4480560"/>
            <a:ext cx="47548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DDD3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949440" y="4572000"/>
            <a:ext cx="2057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B860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+1,4 / −2,0</a:t>
            </a:r>
            <a:endParaRPr lang="en-US" sz="2500" dirty="0"/>
          </a:p>
        </p:txBody>
      </p:sp>
      <p:sp>
        <p:nvSpPr>
          <p:cNvPr id="16" name="Shape 13"/>
          <p:cNvSpPr/>
          <p:nvPr/>
        </p:nvSpPr>
        <p:spPr>
          <a:xfrm>
            <a:off x="9052560" y="4681728"/>
            <a:ext cx="0" cy="731520"/>
          </a:xfrm>
          <a:prstGeom prst="line">
            <a:avLst/>
          </a:prstGeom>
          <a:noFill/>
          <a:ln w="12700">
            <a:solidFill>
              <a:srgbClr val="E6DDD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189720" y="4572000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E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Experiencia total (EE): A mejor, dif. significativa (p=0,05)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6812280" y="571500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4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gana en eficiencia y experiencia; B gana en percepción de marca (estética limpia). Por eso el nativo parte de A e incorpora la estética de B.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D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B8602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E9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ANÁLISIS CON PYTHON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2A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Resumen comparativo por tarea</a:t>
            </a:r>
            <a:endParaRPr lang="en-US" sz="3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74520"/>
          <a:ext cx="658368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731520"/>
                <a:gridCol w="731520"/>
                <a:gridCol w="822960"/>
                <a:gridCol w="822960"/>
                <a:gridCol w="640080"/>
                <a:gridCol w="64008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Tarea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A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T·A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A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T·B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A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Comp·A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A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Comp·B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A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EE·A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A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EE·B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A3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E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 Nueva solicitud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E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91,1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E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91,9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E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78,6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E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78,6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E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+0,07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E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−0,14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E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T2 Aceptar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7D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E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66,4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7D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E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91,4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7D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E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92,9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7D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E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78,6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7D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E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+0,71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7D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E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−0,07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7D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E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T3 Ver solicitud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E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72,9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E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74,1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E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64,3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E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85,7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E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−0,07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E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−0,36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E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T4 Rechazar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7D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E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79,6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7D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E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74,7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7D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E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78,6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7D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E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78,6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7D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E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−0,07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7D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E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−0,93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7D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E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T5 Compartir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E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61,8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E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86,2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E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92,9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E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71,4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E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+0,71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E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−0,50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6" name="Image 0" descr="/sessions/confident-hopeful-pascal/mnt/GCS/GCS08_Entrega_Junio/analisis/g3_expectativa_experienci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0" y="1828800"/>
            <a:ext cx="4480560" cy="25146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640080" y="4937760"/>
            <a:ext cx="109728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DDD3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868680" y="5074920"/>
            <a:ext cx="105156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B86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Otros resultados: 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E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T5 «Compartir» también diverge 24,4 s a favor de A (botones sociales escondidos en B). 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E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 y T3 confirman que el backend es sólido: los problemas son de diseño de interacción, no de datos.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 de rigor: </a:t>
            </a:r>
            <a:pPr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44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NPS real = 0 (A) / 42,9 (B) [índice, no nota cruda]. Compleción T1/T3 NO es 100 %.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D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B8602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E9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PROBLEMAS DETECTADOS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2A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Qué arreglamos en el prototipo nativo</a:t>
            </a:r>
            <a:endParaRPr lang="en-US" sz="3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920240"/>
          <a:ext cx="1097280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822960"/>
                <a:gridCol w="3383280"/>
                <a:gridCol w="822960"/>
                <a:gridCol w="1188720"/>
                <a:gridCol w="4297680"/>
              </a:tblGrid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A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A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Problema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A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Heur.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A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Gravedad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A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Solución en el nativo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A3B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E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E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E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Gestión de solicitudes oculta (T2 +25 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E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E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E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Botones Aprobar/Rechazar en la propia fila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E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7D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E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7D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E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Botón de rechazo gris sin feedback (T4)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7D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E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7D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Crítica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7D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E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Validación visible + texto de ayuda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7DD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E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E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E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Compartir relegado al pie con scroll (T5)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E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H7/H6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E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E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Compartir como acción de cabecera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E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7D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E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7D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E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Densidad visual alta (NPS bajo)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7D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E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7D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E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7D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E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Más espacios en blanco (estética de B)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7DD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E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E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E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T3 compleción baja (64 %)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E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E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E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Estado de la solicitud más visible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E2A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6E9E3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6E9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LECCIONES APRENDIDAS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 · Reflexiones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502920" cy="502920"/>
          </a:xfrm>
          <a:prstGeom prst="ellipse">
            <a:avLst/>
          </a:prstGeom>
          <a:solidFill>
            <a:srgbClr val="B8602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25880" y="196596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peligro de los flujos ocultos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25880" y="2395728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Fragmentar para reducir carga visual sale caro si las acciones diarias exigen navegación profunda. La eficiencia operativa prima sobre el minimalismo extremo.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3246120"/>
            <a:ext cx="502920" cy="502920"/>
          </a:xfrm>
          <a:prstGeom prst="ellipse">
            <a:avLst/>
          </a:prstGeom>
          <a:solidFill>
            <a:srgbClr val="B8602A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246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25880" y="320040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valor del feedback temprano (H9)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325880" y="3630168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Bloquear componentes sin explicar la validación rompe la fluidez y da sensación de «sistema colgado».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4480560"/>
            <a:ext cx="502920" cy="502920"/>
          </a:xfrm>
          <a:prstGeom prst="ellipse">
            <a:avLst/>
          </a:prstGeom>
          <a:solidFill>
            <a:srgbClr val="B8602A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4480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325880" y="443484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Tests remotos no moderados (Loop11)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325880" y="4864608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objetivos —pasos, tiempos, lostness— destapan cuellos de botella que el equipo pasa por alto en la auto-inspección.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40080" y="58978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6E9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Decisión final:  </a:t>
            </a:r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prototipo nativo en Ionic parte del Prototipo A (mejor eficiencia, compleción y experiencia) e incorpora la estética del B, corrigiendo sus puntos críticos.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Red de Donación de Alimentos — Test de Usabilidad</dc:title>
  <dc:subject>PptxGenJS Presentation</dc:subject>
  <dc:creator>GCS-08</dc:creator>
  <cp:lastModifiedBy>GCS-08</cp:lastModifiedBy>
  <cp:revision>1</cp:revision>
  <dcterms:created xsi:type="dcterms:W3CDTF">2026-06-14T21:52:47Z</dcterms:created>
  <dcterms:modified xsi:type="dcterms:W3CDTF">2026-06-14T21:52:47Z</dcterms:modified>
</cp:coreProperties>
</file>