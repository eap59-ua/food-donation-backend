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charts/chart6.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4" d="100"/>
          <a:sy n="154" d="100"/>
        </p:scale>
        <p:origin x="38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Hoja_de_c_lculo_de_Microsoft_Excel1.xlsx"/></Relationships>
</file>

<file path=ppt/charts/_rels/chart2.xml.rels><?xml version="1.0" encoding="UTF-8" standalone="yes"?>
<Relationships xmlns="http://schemas.openxmlformats.org/package/2006/relationships"><Relationship Id="rId1" Type="http://schemas.openxmlformats.org/officeDocument/2006/relationships/package" Target="../embeddings/Hoja_de_c_lculo_de_Microsoft_Excel2.xlsx"/></Relationships>
</file>

<file path=ppt/charts/_rels/chart3.xml.rels><?xml version="1.0" encoding="UTF-8" standalone="yes"?>
<Relationships xmlns="http://schemas.openxmlformats.org/package/2006/relationships"><Relationship Id="rId1" Type="http://schemas.openxmlformats.org/officeDocument/2006/relationships/package" Target="../embeddings/Hoja_de_c_lculo_de_Microsoft_Excel3.xlsx"/></Relationships>
</file>

<file path=ppt/charts/_rels/chart4.xml.rels><?xml version="1.0" encoding="UTF-8" standalone="yes"?>
<Relationships xmlns="http://schemas.openxmlformats.org/package/2006/relationships"><Relationship Id="rId1" Type="http://schemas.openxmlformats.org/officeDocument/2006/relationships/package" Target="../embeddings/Hoja_de_c_lculo_de_Microsoft_Excel4.xlsx"/></Relationships>
</file>

<file path=ppt/charts/_rels/chart5.xml.rels><?xml version="1.0" encoding="UTF-8" standalone="yes"?>
<Relationships xmlns="http://schemas.openxmlformats.org/package/2006/relationships"><Relationship Id="rId1" Type="http://schemas.openxmlformats.org/officeDocument/2006/relationships/package" Target="../embeddings/Hoja_de_c_lculo_de_Microsoft_Excel5.xlsx"/></Relationships>
</file>

<file path=ppt/charts/_rels/chart6.xml.rels><?xml version="1.0" encoding="UTF-8" standalone="yes"?>
<Relationships xmlns="http://schemas.openxmlformats.org/package/2006/relationships"><Relationship Id="rId1" Type="http://schemas.openxmlformats.org/officeDocument/2006/relationships/package" Target="../embeddings/Hoja_de_c_lculo_de_Microsoft_Excel6.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s-ES"/>
  <c:roundedCorners val="1"/>
  <c:style val="2"/>
  <c:chart>
    <c:title>
      <c:tx>
        <c:rich>
          <a:bodyPr/>
          <a:lstStyle/>
          <a:p>
            <a:pPr>
              <a:defRPr sz="1000" b="0" i="0" u="none" strike="noStrike">
                <a:solidFill>
                  <a:srgbClr val="000000"/>
                </a:solidFill>
                <a:latin typeface="Arial"/>
              </a:defRPr>
            </a:pPr>
            <a:r>
              <a:rPr sz="1000" b="0" i="0" u="none" strike="noStrike">
                <a:solidFill>
                  <a:srgbClr val="000000"/>
                </a:solidFill>
                <a:latin typeface="Arial"/>
              </a:rPr>
              <a:t>T2: Comparativa métricas clave</a:t>
            </a:r>
          </a:p>
        </c:rich>
      </c:tx>
      <c:overlay val="0"/>
    </c:title>
    <c:autoTitleDeleted val="0"/>
    <c:plotArea>
      <c:layout/>
      <c:barChart>
        <c:barDir val="col"/>
        <c:grouping val="clustered"/>
        <c:varyColors val="0"/>
        <c:ser>
          <c:idx val="0"/>
          <c:order val="0"/>
          <c:tx>
            <c:strRef>
              <c:f>Sheet1!$B$1</c:f>
              <c:strCache>
                <c:ptCount val="1"/>
                <c:pt idx="0">
                  <c:v>Proto A</c:v>
                </c:pt>
              </c:strCache>
            </c:strRef>
          </c:tx>
          <c:spPr>
            <a:solidFill>
              <a:srgbClr val="6C63A8"/>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Tiempo (s)</c:v>
                </c:pt>
                <c:pt idx="1">
                  <c:v>% Éxito</c:v>
                </c:pt>
                <c:pt idx="2">
                  <c:v>Lostness ×100</c:v>
                </c:pt>
              </c:strCache>
            </c:strRef>
          </c:cat>
          <c:val>
            <c:numRef>
              <c:f>Sheet1!$B$2:$B$4</c:f>
              <c:numCache>
                <c:formatCode>General</c:formatCode>
                <c:ptCount val="3"/>
                <c:pt idx="0">
                  <c:v>66</c:v>
                </c:pt>
                <c:pt idx="1">
                  <c:v>92.9</c:v>
                </c:pt>
                <c:pt idx="2">
                  <c:v>38</c:v>
                </c:pt>
              </c:numCache>
            </c:numRef>
          </c:val>
        </c:ser>
        <c:ser>
          <c:idx val="1"/>
          <c:order val="1"/>
          <c:tx>
            <c:strRef>
              <c:f>Sheet1!$C$1</c:f>
              <c:strCache>
                <c:ptCount val="1"/>
                <c:pt idx="0">
                  <c:v>Proto B</c:v>
                </c:pt>
              </c:strCache>
            </c:strRef>
          </c:tx>
          <c:spPr>
            <a:solidFill>
              <a:srgbClr val="F4A261"/>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Tiempo (s)</c:v>
                </c:pt>
                <c:pt idx="1">
                  <c:v>% Éxito</c:v>
                </c:pt>
                <c:pt idx="2">
                  <c:v>Lostness ×100</c:v>
                </c:pt>
              </c:strCache>
            </c:strRef>
          </c:cat>
          <c:val>
            <c:numRef>
              <c:f>Sheet1!$C$2:$C$4</c:f>
              <c:numCache>
                <c:formatCode>General</c:formatCode>
                <c:ptCount val="3"/>
                <c:pt idx="0">
                  <c:v>91</c:v>
                </c:pt>
                <c:pt idx="1">
                  <c:v>78.599999999999994</c:v>
                </c:pt>
                <c:pt idx="2">
                  <c:v>44</c:v>
                </c:pt>
              </c:numCache>
            </c:numRef>
          </c:val>
        </c:ser>
        <c:dLbls>
          <c:showLegendKey val="0"/>
          <c:showVal val="1"/>
          <c:showCatName val="0"/>
          <c:showSerName val="0"/>
          <c:showPercent val="0"/>
          <c:showBubbleSize val="0"/>
        </c:dLbls>
        <c:gapWidth val="150"/>
        <c:axId val="264175616"/>
        <c:axId val="264184320"/>
      </c:barChart>
      <c:catAx>
        <c:axId val="264175616"/>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s-ES"/>
          </a:p>
        </c:txPr>
        <c:crossAx val="264184320"/>
        <c:crosses val="autoZero"/>
        <c:auto val="1"/>
        <c:lblAlgn val="ctr"/>
        <c:lblOffset val="100"/>
        <c:noMultiLvlLbl val="1"/>
      </c:catAx>
      <c:valAx>
        <c:axId val="264184320"/>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s-ES"/>
          </a:p>
        </c:txPr>
        <c:crossAx val="264175616"/>
        <c:crosses val="autoZero"/>
        <c:crossBetween val="between"/>
      </c:valAx>
      <c:spPr>
        <a:noFill/>
        <a:ln>
          <a:noFill/>
        </a:ln>
        <a:effectLst/>
      </c:spPr>
    </c:plotArea>
    <c:legend>
      <c:legendPos val="b"/>
      <c:overlay val="0"/>
      <c:txPr>
        <a:bodyPr/>
        <a:lstStyle/>
        <a:p>
          <a:pPr>
            <a:defRPr sz="900"/>
          </a:pPr>
          <a:endParaRPr lang="es-E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s-ES"/>
  <c:roundedCorners val="1"/>
  <c:style val="2"/>
  <c:chart>
    <c:autoTitleDeleted val="1"/>
    <c:plotArea>
      <c:layout/>
      <c:barChart>
        <c:barDir val="col"/>
        <c:grouping val="clustered"/>
        <c:varyColors val="0"/>
        <c:ser>
          <c:idx val="0"/>
          <c:order val="0"/>
          <c:tx>
            <c:strRef>
              <c:f>Sheet1!$B$1</c:f>
              <c:strCache>
                <c:ptCount val="1"/>
                <c:pt idx="0">
                  <c:v>Expectativa</c:v>
                </c:pt>
              </c:strCache>
            </c:strRef>
          </c:tx>
          <c:spPr>
            <a:solidFill>
              <a:srgbClr val="7C3AED"/>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Proto A</c:v>
                </c:pt>
                <c:pt idx="1">
                  <c:v>Proto B</c:v>
                </c:pt>
              </c:strCache>
            </c:strRef>
          </c:cat>
          <c:val>
            <c:numRef>
              <c:f>Sheet1!$B$2:$B$3</c:f>
              <c:numCache>
                <c:formatCode>General</c:formatCode>
                <c:ptCount val="2"/>
                <c:pt idx="0">
                  <c:v>4.71</c:v>
                </c:pt>
                <c:pt idx="1">
                  <c:v>4.29</c:v>
                </c:pt>
              </c:numCache>
            </c:numRef>
          </c:val>
        </c:ser>
        <c:ser>
          <c:idx val="1"/>
          <c:order val="1"/>
          <c:tx>
            <c:strRef>
              <c:f>Sheet1!$C$1</c:f>
              <c:strCache>
                <c:ptCount val="1"/>
                <c:pt idx="0">
                  <c:v>Experiencia</c:v>
                </c:pt>
              </c:strCache>
            </c:strRef>
          </c:tx>
          <c:spPr>
            <a:solidFill>
              <a:srgbClr val="F97316"/>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Proto A</c:v>
                </c:pt>
                <c:pt idx="1">
                  <c:v>Proto B</c:v>
                </c:pt>
              </c:strCache>
            </c:strRef>
          </c:cat>
          <c:val>
            <c:numRef>
              <c:f>Sheet1!$C$2:$C$3</c:f>
              <c:numCache>
                <c:formatCode>General</c:formatCode>
                <c:ptCount val="2"/>
                <c:pt idx="0">
                  <c:v>5.43</c:v>
                </c:pt>
                <c:pt idx="1">
                  <c:v>4.21</c:v>
                </c:pt>
              </c:numCache>
            </c:numRef>
          </c:val>
        </c:ser>
        <c:dLbls>
          <c:showLegendKey val="0"/>
          <c:showVal val="1"/>
          <c:showCatName val="0"/>
          <c:showSerName val="0"/>
          <c:showPercent val="0"/>
          <c:showBubbleSize val="0"/>
        </c:dLbls>
        <c:gapWidth val="150"/>
        <c:axId val="264170176"/>
        <c:axId val="264174528"/>
      </c:barChart>
      <c:catAx>
        <c:axId val="264170176"/>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s-ES"/>
          </a:p>
        </c:txPr>
        <c:crossAx val="264174528"/>
        <c:crosses val="autoZero"/>
        <c:auto val="1"/>
        <c:lblAlgn val="ctr"/>
        <c:lblOffset val="100"/>
        <c:noMultiLvlLbl val="1"/>
      </c:catAx>
      <c:valAx>
        <c:axId val="264174528"/>
        <c:scaling>
          <c:orientation val="minMax"/>
          <c:max val="7"/>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s-ES"/>
          </a:p>
        </c:txPr>
        <c:crossAx val="264170176"/>
        <c:crosses val="autoZero"/>
        <c:crossBetween val="between"/>
      </c:valAx>
      <c:spPr>
        <a:noFill/>
        <a:ln>
          <a:noFill/>
        </a:ln>
        <a:effectLst/>
      </c:spPr>
    </c:plotArea>
    <c:legend>
      <c:legendPos val="b"/>
      <c:overlay val="0"/>
      <c:txPr>
        <a:bodyPr/>
        <a:lstStyle/>
        <a:p>
          <a:pPr>
            <a:defRPr sz="900"/>
          </a:pPr>
          <a:endParaRPr lang="es-E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s-ES"/>
  <c:roundedCorners val="1"/>
  <c:style val="2"/>
  <c:chart>
    <c:autoTitleDeleted val="1"/>
    <c:plotArea>
      <c:layout/>
      <c:barChart>
        <c:barDir val="col"/>
        <c:grouping val="clustered"/>
        <c:varyColors val="0"/>
        <c:ser>
          <c:idx val="0"/>
          <c:order val="0"/>
          <c:tx>
            <c:strRef>
              <c:f>Sheet1!$B$1</c:f>
              <c:strCache>
                <c:ptCount val="1"/>
                <c:pt idx="0">
                  <c:v>Expectativa</c:v>
                </c:pt>
              </c:strCache>
            </c:strRef>
          </c:tx>
          <c:spPr>
            <a:solidFill>
              <a:srgbClr val="7C3AED"/>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Proto A</c:v>
                </c:pt>
                <c:pt idx="1">
                  <c:v>Proto B</c:v>
                </c:pt>
              </c:strCache>
            </c:strRef>
          </c:cat>
          <c:val>
            <c:numRef>
              <c:f>Sheet1!$B$2:$B$3</c:f>
              <c:numCache>
                <c:formatCode>General</c:formatCode>
                <c:ptCount val="2"/>
                <c:pt idx="0">
                  <c:v>4.43</c:v>
                </c:pt>
                <c:pt idx="1">
                  <c:v>4.57</c:v>
                </c:pt>
              </c:numCache>
            </c:numRef>
          </c:val>
        </c:ser>
        <c:ser>
          <c:idx val="1"/>
          <c:order val="1"/>
          <c:tx>
            <c:strRef>
              <c:f>Sheet1!$C$1</c:f>
              <c:strCache>
                <c:ptCount val="1"/>
                <c:pt idx="0">
                  <c:v>Experiencia</c:v>
                </c:pt>
              </c:strCache>
            </c:strRef>
          </c:tx>
          <c:spPr>
            <a:solidFill>
              <a:srgbClr val="F97316"/>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Proto A</c:v>
                </c:pt>
                <c:pt idx="1">
                  <c:v>Proto B</c:v>
                </c:pt>
              </c:strCache>
            </c:strRef>
          </c:cat>
          <c:val>
            <c:numRef>
              <c:f>Sheet1!$C$2:$C$3</c:f>
              <c:numCache>
                <c:formatCode>General</c:formatCode>
                <c:ptCount val="2"/>
                <c:pt idx="0">
                  <c:v>5.14</c:v>
                </c:pt>
                <c:pt idx="1">
                  <c:v>4.07</c:v>
                </c:pt>
              </c:numCache>
            </c:numRef>
          </c:val>
        </c:ser>
        <c:dLbls>
          <c:showLegendKey val="0"/>
          <c:showVal val="1"/>
          <c:showCatName val="0"/>
          <c:showSerName val="0"/>
          <c:showPercent val="0"/>
          <c:showBubbleSize val="0"/>
        </c:dLbls>
        <c:gapWidth val="150"/>
        <c:axId val="264176160"/>
        <c:axId val="264183232"/>
      </c:barChart>
      <c:catAx>
        <c:axId val="264176160"/>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s-ES"/>
          </a:p>
        </c:txPr>
        <c:crossAx val="264183232"/>
        <c:crosses val="autoZero"/>
        <c:auto val="1"/>
        <c:lblAlgn val="ctr"/>
        <c:lblOffset val="100"/>
        <c:noMultiLvlLbl val="1"/>
      </c:catAx>
      <c:valAx>
        <c:axId val="264183232"/>
        <c:scaling>
          <c:orientation val="minMax"/>
          <c:max val="7"/>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s-ES"/>
          </a:p>
        </c:txPr>
        <c:crossAx val="264176160"/>
        <c:crosses val="autoZero"/>
        <c:crossBetween val="between"/>
      </c:valAx>
      <c:spPr>
        <a:noFill/>
        <a:ln>
          <a:noFill/>
        </a:ln>
        <a:effectLst/>
      </c:spPr>
    </c:plotArea>
    <c:legend>
      <c:legendPos val="b"/>
      <c:overlay val="0"/>
      <c:txPr>
        <a:bodyPr/>
        <a:lstStyle/>
        <a:p>
          <a:pPr>
            <a:defRPr sz="900"/>
          </a:pPr>
          <a:endParaRPr lang="es-ES"/>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s-ES"/>
  <c:roundedCorners val="1"/>
  <c:style val="2"/>
  <c:chart>
    <c:title>
      <c:tx>
        <c:rich>
          <a:bodyPr/>
          <a:lstStyle/>
          <a:p>
            <a:pPr>
              <a:defRPr sz="900" b="0" i="0" u="none" strike="noStrike">
                <a:solidFill>
                  <a:srgbClr val="000000"/>
                </a:solidFill>
                <a:latin typeface="Arial"/>
              </a:defRPr>
            </a:pPr>
            <a:r>
              <a:rPr sz="900" b="0" i="0" u="none" strike="noStrike">
                <a:solidFill>
                  <a:srgbClr val="000000"/>
                </a:solidFill>
                <a:latin typeface="Arial"/>
              </a:rPr>
              <a:t>Tiempo medio por tarea (segundos) — A es más rápido en T2 y T5; B lo es en T4</a:t>
            </a:r>
          </a:p>
        </c:rich>
      </c:tx>
      <c:overlay val="0"/>
    </c:title>
    <c:autoTitleDeleted val="0"/>
    <c:plotArea>
      <c:layout/>
      <c:lineChart>
        <c:grouping val="standard"/>
        <c:varyColors val="0"/>
        <c:ser>
          <c:idx val="0"/>
          <c:order val="0"/>
          <c:tx>
            <c:strRef>
              <c:f>Sheet1!$B$1</c:f>
              <c:strCache>
                <c:ptCount val="1"/>
                <c:pt idx="0">
                  <c:v>Prototipo A</c:v>
                </c:pt>
              </c:strCache>
            </c:strRef>
          </c:tx>
          <c:spPr>
            <a:ln w="25400" cap="flat">
              <a:solidFill>
                <a:srgbClr val="6C63A8"/>
              </a:solidFill>
              <a:prstDash val="solid"/>
              <a:round/>
            </a:ln>
            <a:effectLst/>
          </c:spPr>
          <c:marker>
            <c:symbol val="circle"/>
            <c:size val="6"/>
            <c:spPr>
              <a:solidFill>
                <a:srgbClr val="6C63A8"/>
              </a:solidFill>
              <a:ln w="9525" cap="flat">
                <a:solidFill>
                  <a:srgbClr val="6C63A8"/>
                </a:solidFill>
                <a:prstDash val="solid"/>
                <a:round/>
              </a:ln>
              <a:effectLst/>
            </c:spPr>
          </c:marker>
          <c:dLbls>
            <c:numFmt formatCode="#,##0" sourceLinked="0"/>
            <c:spPr>
              <a:noFill/>
              <a:ln>
                <a:noFill/>
              </a:ln>
              <a:effectLst/>
            </c:spPr>
            <c:txPr>
              <a:bodyPr/>
              <a:lstStyle/>
              <a:p>
                <a:pPr>
                  <a:defRPr sz="800" b="0" i="0" u="none" strike="noStrike">
                    <a:solidFill>
                      <a:srgbClr val="1E293B"/>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T1</c:v>
                </c:pt>
                <c:pt idx="1">
                  <c:v>T2</c:v>
                </c:pt>
                <c:pt idx="2">
                  <c:v>T3</c:v>
                </c:pt>
                <c:pt idx="3">
                  <c:v>T4</c:v>
                </c:pt>
                <c:pt idx="4">
                  <c:v>T5</c:v>
                </c:pt>
              </c:strCache>
            </c:strRef>
          </c:cat>
          <c:val>
            <c:numRef>
              <c:f>Sheet1!$B$2:$B$6</c:f>
              <c:numCache>
                <c:formatCode>General</c:formatCode>
                <c:ptCount val="5"/>
                <c:pt idx="0">
                  <c:v>91</c:v>
                </c:pt>
                <c:pt idx="1">
                  <c:v>66</c:v>
                </c:pt>
                <c:pt idx="2">
                  <c:v>73</c:v>
                </c:pt>
                <c:pt idx="3">
                  <c:v>80</c:v>
                </c:pt>
                <c:pt idx="4">
                  <c:v>62</c:v>
                </c:pt>
              </c:numCache>
            </c:numRef>
          </c:val>
          <c:smooth val="0"/>
        </c:ser>
        <c:ser>
          <c:idx val="1"/>
          <c:order val="1"/>
          <c:tx>
            <c:strRef>
              <c:f>Sheet1!$C$1</c:f>
              <c:strCache>
                <c:ptCount val="1"/>
                <c:pt idx="0">
                  <c:v>Prototipo B</c:v>
                </c:pt>
              </c:strCache>
            </c:strRef>
          </c:tx>
          <c:spPr>
            <a:ln w="25400" cap="flat">
              <a:solidFill>
                <a:srgbClr val="F4A261"/>
              </a:solidFill>
              <a:prstDash val="solid"/>
              <a:round/>
            </a:ln>
            <a:effectLst/>
          </c:spPr>
          <c:marker>
            <c:symbol val="circle"/>
            <c:size val="6"/>
            <c:spPr>
              <a:solidFill>
                <a:srgbClr val="F4A261"/>
              </a:solidFill>
              <a:ln w="9525" cap="flat">
                <a:solidFill>
                  <a:srgbClr val="F4A261"/>
                </a:solidFill>
                <a:prstDash val="solid"/>
                <a:round/>
              </a:ln>
              <a:effectLst/>
            </c:spPr>
          </c:marker>
          <c:dLbls>
            <c:numFmt formatCode="#,##0" sourceLinked="0"/>
            <c:spPr>
              <a:noFill/>
              <a:ln>
                <a:noFill/>
              </a:ln>
              <a:effectLst/>
            </c:spPr>
            <c:txPr>
              <a:bodyPr/>
              <a:lstStyle/>
              <a:p>
                <a:pPr>
                  <a:defRPr sz="800" b="0" i="0" u="none" strike="noStrike">
                    <a:solidFill>
                      <a:srgbClr val="1E293B"/>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T1</c:v>
                </c:pt>
                <c:pt idx="1">
                  <c:v>T2</c:v>
                </c:pt>
                <c:pt idx="2">
                  <c:v>T3</c:v>
                </c:pt>
                <c:pt idx="3">
                  <c:v>T4</c:v>
                </c:pt>
                <c:pt idx="4">
                  <c:v>T5</c:v>
                </c:pt>
              </c:strCache>
            </c:strRef>
          </c:cat>
          <c:val>
            <c:numRef>
              <c:f>Sheet1!$C$2:$C$6</c:f>
              <c:numCache>
                <c:formatCode>General</c:formatCode>
                <c:ptCount val="5"/>
                <c:pt idx="0">
                  <c:v>92</c:v>
                </c:pt>
                <c:pt idx="1">
                  <c:v>91</c:v>
                </c:pt>
                <c:pt idx="2">
                  <c:v>74</c:v>
                </c:pt>
                <c:pt idx="3">
                  <c:v>75</c:v>
                </c:pt>
                <c:pt idx="4">
                  <c:v>86</c:v>
                </c:pt>
              </c:numCache>
            </c:numRef>
          </c:val>
          <c:smooth val="0"/>
        </c:ser>
        <c:dLbls>
          <c:showLegendKey val="0"/>
          <c:showVal val="1"/>
          <c:showCatName val="0"/>
          <c:showSerName val="0"/>
          <c:showPercent val="0"/>
          <c:showBubbleSize val="0"/>
        </c:dLbls>
        <c:marker val="1"/>
        <c:smooth val="0"/>
        <c:axId val="264177248"/>
        <c:axId val="264179968"/>
      </c:lineChart>
      <c:catAx>
        <c:axId val="264177248"/>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s-ES"/>
          </a:p>
        </c:txPr>
        <c:crossAx val="264179968"/>
        <c:crosses val="autoZero"/>
        <c:auto val="1"/>
        <c:lblAlgn val="ctr"/>
        <c:lblOffset val="100"/>
        <c:noMultiLvlLbl val="1"/>
      </c:catAx>
      <c:valAx>
        <c:axId val="264179968"/>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s-ES"/>
          </a:p>
        </c:txPr>
        <c:crossAx val="264177248"/>
        <c:crosses val="autoZero"/>
        <c:crossBetween val="between"/>
      </c:valAx>
      <c:spPr>
        <a:noFill/>
        <a:ln>
          <a:noFill/>
        </a:ln>
        <a:effectLst/>
      </c:spPr>
    </c:plotArea>
    <c:legend>
      <c:legendPos val="r"/>
      <c:overlay val="0"/>
      <c:txPr>
        <a:bodyPr/>
        <a:lstStyle/>
        <a:p>
          <a:pPr>
            <a:defRPr sz="900"/>
          </a:pPr>
          <a:endParaRPr lang="es-ES"/>
        </a:p>
      </c:txPr>
    </c:legend>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s-ES"/>
  <c:roundedCorners val="1"/>
  <c:style val="2"/>
  <c:chart>
    <c:title>
      <c:tx>
        <c:rich>
          <a:bodyPr/>
          <a:lstStyle/>
          <a:p>
            <a:pPr>
              <a:defRPr sz="900" b="0" i="0" u="none" strike="noStrike">
                <a:solidFill>
                  <a:srgbClr val="000000"/>
                </a:solidFill>
                <a:latin typeface="Arial"/>
              </a:defRPr>
            </a:pPr>
            <a:r>
              <a:rPr sz="900" b="0" i="0" u="none" strike="noStrike">
                <a:solidFill>
                  <a:srgbClr val="000000"/>
                </a:solidFill>
                <a:latin typeface="Arial"/>
              </a:rPr>
              <a:t>Expectativa vs Experiencia T1 por género — Prototipo B</a:t>
            </a:r>
          </a:p>
        </c:rich>
      </c:tx>
      <c:overlay val="0"/>
    </c:title>
    <c:autoTitleDeleted val="0"/>
    <c:plotArea>
      <c:layout/>
      <c:barChart>
        <c:barDir val="col"/>
        <c:grouping val="clustered"/>
        <c:varyColors val="0"/>
        <c:ser>
          <c:idx val="0"/>
          <c:order val="0"/>
          <c:tx>
            <c:strRef>
              <c:f>Sheet1!$B$1</c:f>
              <c:strCache>
                <c:ptCount val="1"/>
                <c:pt idx="0">
                  <c:v>Expectativa</c:v>
                </c:pt>
              </c:strCache>
            </c:strRef>
          </c:tx>
          <c:spPr>
            <a:solidFill>
              <a:srgbClr val="D62828"/>
            </a:solidFill>
            <a:effectLst/>
          </c:spPr>
          <c:invertIfNegative val="0"/>
          <c:dLbls>
            <c:numFmt formatCode="#,##0" sourceLinked="0"/>
            <c:spPr>
              <a:noFill/>
              <a:ln>
                <a:noFill/>
              </a:ln>
              <a:effectLst/>
            </c:spPr>
            <c:txPr>
              <a:bodyPr/>
              <a:lstStyle/>
              <a:p>
                <a:pPr>
                  <a:defRPr sz="800" b="0" i="0" u="none" strike="noStrike">
                    <a:solidFill>
                      <a:srgbClr val="1E293B"/>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Femenino</c:v>
                </c:pt>
                <c:pt idx="1">
                  <c:v>Masculino</c:v>
                </c:pt>
              </c:strCache>
            </c:strRef>
          </c:cat>
          <c:val>
            <c:numRef>
              <c:f>Sheet1!$B$2:$B$3</c:f>
              <c:numCache>
                <c:formatCode>General</c:formatCode>
                <c:ptCount val="2"/>
                <c:pt idx="0">
                  <c:v>4.8600000000000003</c:v>
                </c:pt>
                <c:pt idx="1">
                  <c:v>4.43</c:v>
                </c:pt>
              </c:numCache>
            </c:numRef>
          </c:val>
        </c:ser>
        <c:ser>
          <c:idx val="1"/>
          <c:order val="1"/>
          <c:tx>
            <c:strRef>
              <c:f>Sheet1!$C$1</c:f>
              <c:strCache>
                <c:ptCount val="1"/>
                <c:pt idx="0">
                  <c:v>Experiencia</c:v>
                </c:pt>
              </c:strCache>
            </c:strRef>
          </c:tx>
          <c:spPr>
            <a:solidFill>
              <a:srgbClr val="1B4332"/>
            </a:solidFill>
            <a:effectLst/>
          </c:spPr>
          <c:invertIfNegative val="0"/>
          <c:dLbls>
            <c:numFmt formatCode="#,##0" sourceLinked="0"/>
            <c:spPr>
              <a:noFill/>
              <a:ln>
                <a:noFill/>
              </a:ln>
              <a:effectLst/>
            </c:spPr>
            <c:txPr>
              <a:bodyPr/>
              <a:lstStyle/>
              <a:p>
                <a:pPr>
                  <a:defRPr sz="800" b="0" i="0" u="none" strike="noStrike">
                    <a:solidFill>
                      <a:srgbClr val="1E293B"/>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Femenino</c:v>
                </c:pt>
                <c:pt idx="1">
                  <c:v>Masculino</c:v>
                </c:pt>
              </c:strCache>
            </c:strRef>
          </c:cat>
          <c:val>
            <c:numRef>
              <c:f>Sheet1!$C$2:$C$3</c:f>
              <c:numCache>
                <c:formatCode>General</c:formatCode>
                <c:ptCount val="2"/>
                <c:pt idx="0">
                  <c:v>4</c:v>
                </c:pt>
                <c:pt idx="1">
                  <c:v>5</c:v>
                </c:pt>
              </c:numCache>
            </c:numRef>
          </c:val>
        </c:ser>
        <c:dLbls>
          <c:showLegendKey val="0"/>
          <c:showVal val="1"/>
          <c:showCatName val="0"/>
          <c:showSerName val="0"/>
          <c:showPercent val="0"/>
          <c:showBubbleSize val="0"/>
        </c:dLbls>
        <c:gapWidth val="150"/>
        <c:axId val="264182688"/>
        <c:axId val="264169632"/>
      </c:barChart>
      <c:catAx>
        <c:axId val="264182688"/>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s-ES"/>
          </a:p>
        </c:txPr>
        <c:crossAx val="264169632"/>
        <c:crosses val="autoZero"/>
        <c:auto val="1"/>
        <c:lblAlgn val="ctr"/>
        <c:lblOffset val="100"/>
        <c:noMultiLvlLbl val="1"/>
      </c:catAx>
      <c:valAx>
        <c:axId val="264169632"/>
        <c:scaling>
          <c:orientation val="minMax"/>
          <c:max val="7"/>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s-ES"/>
          </a:p>
        </c:txPr>
        <c:crossAx val="264182688"/>
        <c:crosses val="autoZero"/>
        <c:crossBetween val="between"/>
      </c:valAx>
      <c:spPr>
        <a:noFill/>
        <a:ln>
          <a:noFill/>
        </a:ln>
        <a:effectLst/>
      </c:spPr>
    </c:plotArea>
    <c:legend>
      <c:legendPos val="r"/>
      <c:overlay val="0"/>
      <c:txPr>
        <a:bodyPr/>
        <a:lstStyle/>
        <a:p>
          <a:pPr>
            <a:defRPr sz="800"/>
          </a:pPr>
          <a:endParaRPr lang="es-ES"/>
        </a:p>
      </c:txPr>
    </c:legend>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s-ES"/>
  <c:roundedCorners val="1"/>
  <c:style val="2"/>
  <c:chart>
    <c:title>
      <c:tx>
        <c:rich>
          <a:bodyPr/>
          <a:lstStyle/>
          <a:p>
            <a:pPr>
              <a:defRPr sz="1000" b="0" i="0" u="none" strike="noStrike">
                <a:solidFill>
                  <a:srgbClr val="000000"/>
                </a:solidFill>
                <a:latin typeface="Arial"/>
              </a:defRPr>
            </a:pPr>
            <a:r>
              <a:rPr sz="1000" b="0" i="0" u="none" strike="noStrike">
                <a:solidFill>
                  <a:srgbClr val="000000"/>
                </a:solidFill>
                <a:latin typeface="Arial"/>
              </a:rPr>
              <a:t>Puntuaciones UMUX por ítem (escala 1–7 · punto neutro = 4)</a:t>
            </a:r>
          </a:p>
        </c:rich>
      </c:tx>
      <c:overlay val="0"/>
    </c:title>
    <c:autoTitleDeleted val="0"/>
    <c:plotArea>
      <c:layout/>
      <c:barChart>
        <c:barDir val="col"/>
        <c:grouping val="clustered"/>
        <c:varyColors val="0"/>
        <c:ser>
          <c:idx val="0"/>
          <c:order val="0"/>
          <c:tx>
            <c:strRef>
              <c:f>Sheet1!$B$1</c:f>
              <c:strCache>
                <c:ptCount val="1"/>
                <c:pt idx="0">
                  <c:v>Prototipo A</c:v>
                </c:pt>
              </c:strCache>
            </c:strRef>
          </c:tx>
          <c:spPr>
            <a:solidFill>
              <a:srgbClr val="6C63A8"/>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UMUX1 Funciona bien</c:v>
                </c:pt>
                <c:pt idx="1">
                  <c:v>UMUX2 Facil de usar</c:v>
                </c:pt>
                <c:pt idx="2">
                  <c:v>UMUX3 Cumple necesidades</c:v>
                </c:pt>
                <c:pt idx="3">
                  <c:v>UMUX4 Sin frustracion</c:v>
                </c:pt>
              </c:strCache>
            </c:strRef>
          </c:cat>
          <c:val>
            <c:numRef>
              <c:f>Sheet1!$B$2:$B$5</c:f>
              <c:numCache>
                <c:formatCode>General</c:formatCode>
                <c:ptCount val="4"/>
                <c:pt idx="0">
                  <c:v>4.71</c:v>
                </c:pt>
                <c:pt idx="1">
                  <c:v>3.93</c:v>
                </c:pt>
                <c:pt idx="2">
                  <c:v>4.57</c:v>
                </c:pt>
                <c:pt idx="3">
                  <c:v>4.8600000000000003</c:v>
                </c:pt>
              </c:numCache>
            </c:numRef>
          </c:val>
        </c:ser>
        <c:ser>
          <c:idx val="1"/>
          <c:order val="1"/>
          <c:tx>
            <c:strRef>
              <c:f>Sheet1!$C$1</c:f>
              <c:strCache>
                <c:ptCount val="1"/>
                <c:pt idx="0">
                  <c:v>Prototipo B</c:v>
                </c:pt>
              </c:strCache>
            </c:strRef>
          </c:tx>
          <c:spPr>
            <a:solidFill>
              <a:srgbClr val="F4A261"/>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UMUX1 Funciona bien</c:v>
                </c:pt>
                <c:pt idx="1">
                  <c:v>UMUX2 Facil de usar</c:v>
                </c:pt>
                <c:pt idx="2">
                  <c:v>UMUX3 Cumple necesidades</c:v>
                </c:pt>
                <c:pt idx="3">
                  <c:v>UMUX4 Sin frustracion</c:v>
                </c:pt>
              </c:strCache>
            </c:strRef>
          </c:cat>
          <c:val>
            <c:numRef>
              <c:f>Sheet1!$C$2:$C$5</c:f>
              <c:numCache>
                <c:formatCode>General</c:formatCode>
                <c:ptCount val="4"/>
                <c:pt idx="0">
                  <c:v>4.79</c:v>
                </c:pt>
                <c:pt idx="1">
                  <c:v>3.21</c:v>
                </c:pt>
                <c:pt idx="2">
                  <c:v>4.5</c:v>
                </c:pt>
                <c:pt idx="3">
                  <c:v>5</c:v>
                </c:pt>
              </c:numCache>
            </c:numRef>
          </c:val>
        </c:ser>
        <c:dLbls>
          <c:showLegendKey val="0"/>
          <c:showVal val="1"/>
          <c:showCatName val="0"/>
          <c:showSerName val="0"/>
          <c:showPercent val="0"/>
          <c:showBubbleSize val="0"/>
        </c:dLbls>
        <c:gapWidth val="150"/>
        <c:axId val="410510752"/>
        <c:axId val="410511296"/>
      </c:barChart>
      <c:catAx>
        <c:axId val="410510752"/>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s-ES"/>
          </a:p>
        </c:txPr>
        <c:crossAx val="410511296"/>
        <c:crosses val="autoZero"/>
        <c:auto val="1"/>
        <c:lblAlgn val="ctr"/>
        <c:lblOffset val="100"/>
        <c:noMultiLvlLbl val="1"/>
      </c:catAx>
      <c:valAx>
        <c:axId val="410511296"/>
        <c:scaling>
          <c:orientation val="minMax"/>
          <c:max val="7"/>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s-ES"/>
          </a:p>
        </c:txPr>
        <c:crossAx val="410510752"/>
        <c:crosses val="autoZero"/>
        <c:crossBetween val="between"/>
      </c:valAx>
      <c:spPr>
        <a:noFill/>
        <a:ln>
          <a:noFill/>
        </a:ln>
        <a:effectLst/>
      </c:spPr>
    </c:plotArea>
    <c:legend>
      <c:legendPos val="b"/>
      <c:overlay val="0"/>
      <c:txPr>
        <a:bodyPr/>
        <a:lstStyle/>
        <a:p>
          <a:pPr>
            <a:defRPr sz="900"/>
          </a:pPr>
          <a:endParaRPr lang="es-E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3786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chart" Target="../charts/chart4.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a:effectLst/>
      </p:bgPr>
    </p:bg>
    <p:spTree>
      <p:nvGrpSpPr>
        <p:cNvPr id="1" name=""/>
        <p:cNvGrpSpPr/>
        <p:nvPr/>
      </p:nvGrpSpPr>
      <p:grpSpPr>
        <a:xfrm>
          <a:off x="0" y="0"/>
          <a:ext cx="0" cy="0"/>
          <a:chOff x="0" y="0"/>
          <a:chExt cx="0" cy="0"/>
        </a:xfrm>
      </p:grpSpPr>
      <p:sp>
        <p:nvSpPr>
          <p:cNvPr id="2" name="Text 0"/>
          <p:cNvSpPr/>
          <p:nvPr/>
        </p:nvSpPr>
        <p:spPr>
          <a:xfrm>
            <a:off x="640080" y="502920"/>
            <a:ext cx="7863840" cy="640080"/>
          </a:xfrm>
          <a:prstGeom prst="rect">
            <a:avLst/>
          </a:prstGeom>
          <a:noFill/>
          <a:ln/>
        </p:spPr>
        <p:txBody>
          <a:bodyPr wrap="square" rtlCol="0" anchor="ctr"/>
          <a:lstStyle/>
          <a:p>
            <a:pPr marL="0" indent="0">
              <a:buNone/>
            </a:pPr>
            <a:r>
              <a:rPr lang="en-US" sz="3000" b="1" dirty="0">
                <a:solidFill>
                  <a:srgbClr val="E9C46A"/>
                </a:solidFill>
                <a:latin typeface="Calibri" pitchFamily="34" charset="0"/>
                <a:ea typeface="Calibri" pitchFamily="34" charset="-122"/>
                <a:cs typeface="Calibri" pitchFamily="34" charset="-120"/>
              </a:rPr>
              <a:t>Red de Donación de Alimentos</a:t>
            </a:r>
            <a:endParaRPr lang="en-US" sz="3000" dirty="0"/>
          </a:p>
        </p:txBody>
      </p:sp>
      <p:sp>
        <p:nvSpPr>
          <p:cNvPr id="3" name="Text 1"/>
          <p:cNvSpPr/>
          <p:nvPr/>
        </p:nvSpPr>
        <p:spPr>
          <a:xfrm>
            <a:off x="640080" y="1188720"/>
            <a:ext cx="7863840" cy="457200"/>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Informe de Evaluación Heurística y Test de Usuario</a:t>
            </a:r>
            <a:endParaRPr lang="en-US" sz="1800" dirty="0"/>
          </a:p>
        </p:txBody>
      </p:sp>
      <p:sp>
        <p:nvSpPr>
          <p:cNvPr id="4" name="Shape 2"/>
          <p:cNvSpPr/>
          <p:nvPr/>
        </p:nvSpPr>
        <p:spPr>
          <a:xfrm>
            <a:off x="640080" y="1737360"/>
            <a:ext cx="7863840" cy="36576"/>
          </a:xfrm>
          <a:prstGeom prst="rect">
            <a:avLst/>
          </a:prstGeom>
          <a:solidFill>
            <a:srgbClr val="E9C46A"/>
          </a:solidFill>
          <a:ln/>
        </p:spPr>
      </p:sp>
      <p:sp>
        <p:nvSpPr>
          <p:cNvPr id="5" name="Shape 3"/>
          <p:cNvSpPr/>
          <p:nvPr/>
        </p:nvSpPr>
        <p:spPr>
          <a:xfrm>
            <a:off x="640080" y="1920240"/>
            <a:ext cx="1463040" cy="1097280"/>
          </a:xfrm>
          <a:prstGeom prst="roundRect">
            <a:avLst>
              <a:gd name="adj" fmla="val 8333"/>
            </a:avLst>
          </a:prstGeom>
          <a:solidFill>
            <a:srgbClr val="40916C">
              <a:alpha val="80000"/>
            </a:srgbClr>
          </a:solidFill>
          <a:ln/>
        </p:spPr>
      </p:sp>
      <p:sp>
        <p:nvSpPr>
          <p:cNvPr id="6" name="Text 4"/>
          <p:cNvSpPr/>
          <p:nvPr/>
        </p:nvSpPr>
        <p:spPr>
          <a:xfrm>
            <a:off x="640080" y="1965960"/>
            <a:ext cx="1463040" cy="548640"/>
          </a:xfrm>
          <a:prstGeom prst="rect">
            <a:avLst/>
          </a:prstGeom>
          <a:noFill/>
          <a:ln/>
        </p:spPr>
        <p:txBody>
          <a:bodyPr wrap="square" rtlCol="0" anchor="ctr"/>
          <a:lstStyle/>
          <a:p>
            <a:pPr marL="0" indent="0" algn="ctr">
              <a:buNone/>
            </a:pPr>
            <a:r>
              <a:rPr lang="en-US" sz="2200" b="1" dirty="0">
                <a:solidFill>
                  <a:srgbClr val="E9C46A"/>
                </a:solidFill>
                <a:latin typeface="Calibri" pitchFamily="34" charset="0"/>
                <a:ea typeface="Calibri" pitchFamily="34" charset="-122"/>
                <a:cs typeface="Calibri" pitchFamily="34" charset="-120"/>
              </a:rPr>
              <a:t>28</a:t>
            </a:r>
            <a:endParaRPr lang="en-US" sz="2200" dirty="0"/>
          </a:p>
        </p:txBody>
      </p:sp>
      <p:sp>
        <p:nvSpPr>
          <p:cNvPr id="7" name="Text 5"/>
          <p:cNvSpPr/>
          <p:nvPr/>
        </p:nvSpPr>
        <p:spPr>
          <a:xfrm>
            <a:off x="640080" y="2514600"/>
            <a:ext cx="1463040" cy="36576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Participantes</a:t>
            </a:r>
            <a:endParaRPr lang="en-US" sz="1000" dirty="0"/>
          </a:p>
        </p:txBody>
      </p:sp>
      <p:sp>
        <p:nvSpPr>
          <p:cNvPr id="8" name="Shape 6"/>
          <p:cNvSpPr/>
          <p:nvPr/>
        </p:nvSpPr>
        <p:spPr>
          <a:xfrm>
            <a:off x="2267712" y="1920240"/>
            <a:ext cx="1463040" cy="1097280"/>
          </a:xfrm>
          <a:prstGeom prst="roundRect">
            <a:avLst>
              <a:gd name="adj" fmla="val 8333"/>
            </a:avLst>
          </a:prstGeom>
          <a:solidFill>
            <a:srgbClr val="40916C">
              <a:alpha val="80000"/>
            </a:srgbClr>
          </a:solidFill>
          <a:ln/>
        </p:spPr>
      </p:sp>
      <p:sp>
        <p:nvSpPr>
          <p:cNvPr id="9" name="Text 7"/>
          <p:cNvSpPr/>
          <p:nvPr/>
        </p:nvSpPr>
        <p:spPr>
          <a:xfrm>
            <a:off x="2267712" y="1965960"/>
            <a:ext cx="1463040" cy="548640"/>
          </a:xfrm>
          <a:prstGeom prst="rect">
            <a:avLst/>
          </a:prstGeom>
          <a:noFill/>
          <a:ln/>
        </p:spPr>
        <p:txBody>
          <a:bodyPr wrap="square" rtlCol="0" anchor="ctr"/>
          <a:lstStyle/>
          <a:p>
            <a:pPr marL="0" indent="0" algn="ctr">
              <a:buNone/>
            </a:pPr>
            <a:r>
              <a:rPr lang="en-US" sz="2200" b="1" dirty="0">
                <a:solidFill>
                  <a:srgbClr val="E9C46A"/>
                </a:solidFill>
                <a:latin typeface="Calibri" pitchFamily="34" charset="0"/>
                <a:ea typeface="Calibri" pitchFamily="34" charset="-122"/>
                <a:cs typeface="Calibri" pitchFamily="34" charset="-120"/>
              </a:rPr>
              <a:t>2</a:t>
            </a:r>
            <a:endParaRPr lang="en-US" sz="2200" dirty="0"/>
          </a:p>
        </p:txBody>
      </p:sp>
      <p:sp>
        <p:nvSpPr>
          <p:cNvPr id="10" name="Text 8"/>
          <p:cNvSpPr/>
          <p:nvPr/>
        </p:nvSpPr>
        <p:spPr>
          <a:xfrm>
            <a:off x="2267712" y="2514600"/>
            <a:ext cx="1463040" cy="36576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Prototipos</a:t>
            </a:r>
            <a:endParaRPr lang="en-US" sz="1000" dirty="0"/>
          </a:p>
        </p:txBody>
      </p:sp>
      <p:sp>
        <p:nvSpPr>
          <p:cNvPr id="11" name="Shape 9"/>
          <p:cNvSpPr/>
          <p:nvPr/>
        </p:nvSpPr>
        <p:spPr>
          <a:xfrm>
            <a:off x="3895344" y="1920240"/>
            <a:ext cx="1463040" cy="1097280"/>
          </a:xfrm>
          <a:prstGeom prst="roundRect">
            <a:avLst>
              <a:gd name="adj" fmla="val 8333"/>
            </a:avLst>
          </a:prstGeom>
          <a:solidFill>
            <a:srgbClr val="40916C">
              <a:alpha val="80000"/>
            </a:srgbClr>
          </a:solidFill>
          <a:ln/>
        </p:spPr>
      </p:sp>
      <p:sp>
        <p:nvSpPr>
          <p:cNvPr id="12" name="Text 10"/>
          <p:cNvSpPr/>
          <p:nvPr/>
        </p:nvSpPr>
        <p:spPr>
          <a:xfrm>
            <a:off x="3895344" y="1965960"/>
            <a:ext cx="1463040" cy="548640"/>
          </a:xfrm>
          <a:prstGeom prst="rect">
            <a:avLst/>
          </a:prstGeom>
          <a:noFill/>
          <a:ln/>
        </p:spPr>
        <p:txBody>
          <a:bodyPr wrap="square" rtlCol="0" anchor="ctr"/>
          <a:lstStyle/>
          <a:p>
            <a:pPr marL="0" indent="0" algn="ctr">
              <a:buNone/>
            </a:pPr>
            <a:r>
              <a:rPr lang="en-US" sz="2200" b="1" dirty="0">
                <a:solidFill>
                  <a:srgbClr val="E9C46A"/>
                </a:solidFill>
                <a:latin typeface="Calibri" pitchFamily="34" charset="0"/>
                <a:ea typeface="Calibri" pitchFamily="34" charset="-122"/>
                <a:cs typeface="Calibri" pitchFamily="34" charset="-120"/>
              </a:rPr>
              <a:t>5</a:t>
            </a:r>
            <a:endParaRPr lang="en-US" sz="2200" dirty="0"/>
          </a:p>
        </p:txBody>
      </p:sp>
      <p:sp>
        <p:nvSpPr>
          <p:cNvPr id="13" name="Text 11"/>
          <p:cNvSpPr/>
          <p:nvPr/>
        </p:nvSpPr>
        <p:spPr>
          <a:xfrm>
            <a:off x="3895344" y="2514600"/>
            <a:ext cx="1463040" cy="36576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Tareas</a:t>
            </a:r>
            <a:endParaRPr lang="en-US" sz="1000" dirty="0"/>
          </a:p>
        </p:txBody>
      </p:sp>
      <p:sp>
        <p:nvSpPr>
          <p:cNvPr id="14" name="Shape 12"/>
          <p:cNvSpPr/>
          <p:nvPr/>
        </p:nvSpPr>
        <p:spPr>
          <a:xfrm>
            <a:off x="5522976" y="1920240"/>
            <a:ext cx="1463040" cy="1097280"/>
          </a:xfrm>
          <a:prstGeom prst="roundRect">
            <a:avLst>
              <a:gd name="adj" fmla="val 8333"/>
            </a:avLst>
          </a:prstGeom>
          <a:solidFill>
            <a:srgbClr val="40916C">
              <a:alpha val="80000"/>
            </a:srgbClr>
          </a:solidFill>
          <a:ln/>
        </p:spPr>
      </p:sp>
      <p:sp>
        <p:nvSpPr>
          <p:cNvPr id="15" name="Text 13"/>
          <p:cNvSpPr/>
          <p:nvPr/>
        </p:nvSpPr>
        <p:spPr>
          <a:xfrm>
            <a:off x="5522976" y="1965960"/>
            <a:ext cx="1463040" cy="548640"/>
          </a:xfrm>
          <a:prstGeom prst="rect">
            <a:avLst/>
          </a:prstGeom>
          <a:noFill/>
          <a:ln/>
        </p:spPr>
        <p:txBody>
          <a:bodyPr wrap="square" rtlCol="0" anchor="ctr"/>
          <a:lstStyle/>
          <a:p>
            <a:pPr marL="0" indent="0" algn="ctr">
              <a:buNone/>
            </a:pPr>
            <a:r>
              <a:rPr lang="en-US" sz="1200" b="1" dirty="0">
                <a:solidFill>
                  <a:srgbClr val="E9C46A"/>
                </a:solidFill>
                <a:latin typeface="Calibri" pitchFamily="34" charset="0"/>
                <a:ea typeface="Calibri" pitchFamily="34" charset="-122"/>
                <a:cs typeface="Calibri" pitchFamily="34" charset="-120"/>
              </a:rPr>
              <a:t>No Moderado</a:t>
            </a:r>
            <a:endParaRPr lang="en-US" sz="1200" dirty="0"/>
          </a:p>
        </p:txBody>
      </p:sp>
      <p:sp>
        <p:nvSpPr>
          <p:cNvPr id="16" name="Text 14"/>
          <p:cNvSpPr/>
          <p:nvPr/>
        </p:nvSpPr>
        <p:spPr>
          <a:xfrm>
            <a:off x="5522976" y="2514600"/>
            <a:ext cx="1463040" cy="36576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Modalidad</a:t>
            </a:r>
            <a:endParaRPr lang="en-US" sz="1000" dirty="0"/>
          </a:p>
        </p:txBody>
      </p:sp>
      <p:sp>
        <p:nvSpPr>
          <p:cNvPr id="17" name="Shape 15"/>
          <p:cNvSpPr/>
          <p:nvPr/>
        </p:nvSpPr>
        <p:spPr>
          <a:xfrm>
            <a:off x="7150608" y="1920240"/>
            <a:ext cx="1463040" cy="1097280"/>
          </a:xfrm>
          <a:prstGeom prst="roundRect">
            <a:avLst>
              <a:gd name="adj" fmla="val 8333"/>
            </a:avLst>
          </a:prstGeom>
          <a:solidFill>
            <a:srgbClr val="40916C">
              <a:alpha val="80000"/>
            </a:srgbClr>
          </a:solidFill>
          <a:ln/>
        </p:spPr>
      </p:sp>
      <p:sp>
        <p:nvSpPr>
          <p:cNvPr id="18" name="Text 16"/>
          <p:cNvSpPr/>
          <p:nvPr/>
        </p:nvSpPr>
        <p:spPr>
          <a:xfrm>
            <a:off x="7150608" y="1965960"/>
            <a:ext cx="1463040" cy="548640"/>
          </a:xfrm>
          <a:prstGeom prst="rect">
            <a:avLst/>
          </a:prstGeom>
          <a:noFill/>
          <a:ln/>
        </p:spPr>
        <p:txBody>
          <a:bodyPr wrap="square" rtlCol="0" anchor="ctr"/>
          <a:lstStyle/>
          <a:p>
            <a:pPr marL="0" indent="0" algn="ctr">
              <a:buNone/>
            </a:pPr>
            <a:r>
              <a:rPr lang="en-US" sz="1200" b="1" dirty="0">
                <a:solidFill>
                  <a:srgbClr val="E9C46A"/>
                </a:solidFill>
                <a:latin typeface="Calibri" pitchFamily="34" charset="0"/>
                <a:ea typeface="Calibri" pitchFamily="34" charset="-122"/>
                <a:cs typeface="Calibri" pitchFamily="34" charset="-120"/>
              </a:rPr>
              <a:t>Loop11</a:t>
            </a:r>
            <a:endParaRPr lang="en-US" sz="1200" dirty="0"/>
          </a:p>
        </p:txBody>
      </p:sp>
      <p:sp>
        <p:nvSpPr>
          <p:cNvPr id="19" name="Text 17"/>
          <p:cNvSpPr/>
          <p:nvPr/>
        </p:nvSpPr>
        <p:spPr>
          <a:xfrm>
            <a:off x="7150608" y="2514600"/>
            <a:ext cx="1463040" cy="36576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Herramienta</a:t>
            </a:r>
            <a:endParaRPr lang="en-US" sz="1000" dirty="0"/>
          </a:p>
        </p:txBody>
      </p:sp>
      <p:sp>
        <p:nvSpPr>
          <p:cNvPr id="20" name="Text 18"/>
          <p:cNvSpPr/>
          <p:nvPr/>
        </p:nvSpPr>
        <p:spPr>
          <a:xfrm>
            <a:off x="640080" y="4389120"/>
            <a:ext cx="7863840" cy="365760"/>
          </a:xfrm>
          <a:prstGeom prst="rect">
            <a:avLst/>
          </a:prstGeom>
          <a:noFill/>
          <a:ln/>
        </p:spPr>
        <p:txBody>
          <a:bodyPr wrap="square" rtlCol="0" anchor="ctr"/>
          <a:lstStyle/>
          <a:p>
            <a:pPr marL="0" indent="0" algn="ctr">
              <a:buNone/>
            </a:pPr>
            <a:r>
              <a:rPr lang="en-US" sz="1200" dirty="0">
                <a:solidFill>
                  <a:srgbClr val="6C757D"/>
                </a:solidFill>
                <a:latin typeface="Calibri" pitchFamily="34" charset="0"/>
                <a:ea typeface="Calibri" pitchFamily="34" charset="-122"/>
                <a:cs typeface="Calibri" pitchFamily="34" charset="-120"/>
              </a:rPr>
              <a:t>GCS-08 · Gestión de Calidad del Software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p:spPr>
      </p:sp>
      <p:sp>
        <p:nvSpPr>
          <p:cNvPr id="3" name="Text 1"/>
          <p:cNvSpPr/>
          <p:nvPr/>
        </p:nvSpPr>
        <p:spPr>
          <a:xfrm>
            <a:off x="365760" y="109728"/>
            <a:ext cx="8412480" cy="47548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1. Descripción del Proyecto</a:t>
            </a:r>
            <a:endParaRPr lang="en-US" sz="2200" dirty="0"/>
          </a:p>
        </p:txBody>
      </p:sp>
      <p:sp>
        <p:nvSpPr>
          <p:cNvPr id="4" name="Text 2"/>
          <p:cNvSpPr/>
          <p:nvPr/>
        </p:nvSpPr>
        <p:spPr>
          <a:xfrm>
            <a:off x="365760" y="868680"/>
            <a:ext cx="5120640" cy="3200400"/>
          </a:xfrm>
          <a:prstGeom prst="rect">
            <a:avLst/>
          </a:prstGeom>
          <a:noFill/>
          <a:ln/>
        </p:spPr>
        <p:txBody>
          <a:bodyPr wrap="square" rtlCol="0" anchor="t"/>
          <a:lstStyle/>
          <a:p>
            <a:pPr marL="0" indent="0">
              <a:buNone/>
            </a:pPr>
            <a:r>
              <a:rPr lang="en-US" sz="1300" b="1" dirty="0">
                <a:solidFill>
                  <a:srgbClr val="212529"/>
                </a:solidFill>
                <a:latin typeface="Calibri" pitchFamily="34" charset="0"/>
                <a:ea typeface="Calibri" pitchFamily="34" charset="-122"/>
                <a:cs typeface="Calibri" pitchFamily="34" charset="-120"/>
              </a:rPr>
              <a:t>RedDonación</a:t>
            </a:r>
            <a:r>
              <a:rPr lang="en-US" sz="1300" dirty="0">
                <a:solidFill>
                  <a:srgbClr val="212529"/>
                </a:solidFill>
                <a:latin typeface="Calibri" pitchFamily="34" charset="0"/>
                <a:ea typeface="Calibri" pitchFamily="34" charset="-122"/>
                <a:cs typeface="Calibri" pitchFamily="34" charset="-120"/>
              </a:rPr>
              <a:t> es una plataforma web que conecta donantes de alimentos —restaurantes, supermercados y particulares— con receptores y ONGs para reducir el desperdicio alimentario y facilitar la distribución solidaria.</a:t>
            </a:r>
            <a:endParaRPr lang="en-US" sz="1300" dirty="0"/>
          </a:p>
          <a:p>
            <a:pPr marL="0" indent="0">
              <a:buNone/>
            </a:pPr>
            <a:endParaRPr lang="en-US" sz="1300" dirty="0"/>
          </a:p>
          <a:p>
            <a:pPr marL="0" indent="0">
              <a:buNone/>
            </a:pPr>
            <a:r>
              <a:rPr lang="en-US" sz="1300" b="1" dirty="0">
                <a:solidFill>
                  <a:srgbClr val="212529"/>
                </a:solidFill>
                <a:latin typeface="Calibri" pitchFamily="34" charset="0"/>
                <a:ea typeface="Calibri" pitchFamily="34" charset="-122"/>
                <a:cs typeface="Calibri" pitchFamily="34" charset="-120"/>
              </a:rPr>
              <a:t>Backend: </a:t>
            </a:r>
            <a:endParaRPr lang="en-US" sz="1300" dirty="0"/>
          </a:p>
          <a:p>
            <a:pPr marL="0" indent="0">
              <a:buNone/>
            </a:pPr>
            <a:r>
              <a:rPr lang="en-US" sz="1300" dirty="0">
                <a:solidFill>
                  <a:srgbClr val="212529"/>
                </a:solidFill>
                <a:latin typeface="Calibri" pitchFamily="34" charset="0"/>
                <a:ea typeface="Calibri" pitchFamily="34" charset="-122"/>
                <a:cs typeface="Calibri" pitchFamily="34" charset="-120"/>
              </a:rPr>
              <a:t>FastAPI (Python) + API REST con autenticación JWT.</a:t>
            </a:r>
            <a:endParaRPr lang="en-US" sz="1300" dirty="0"/>
          </a:p>
          <a:p>
            <a:pPr marL="0" indent="0">
              <a:buNone/>
            </a:pPr>
            <a:endParaRPr lang="en-US" sz="1300" dirty="0"/>
          </a:p>
          <a:p>
            <a:pPr marL="0" indent="0">
              <a:buNone/>
            </a:pPr>
            <a:r>
              <a:rPr lang="en-US" sz="1300" b="1" dirty="0">
                <a:solidFill>
                  <a:srgbClr val="212529"/>
                </a:solidFill>
                <a:latin typeface="Calibri" pitchFamily="34" charset="0"/>
                <a:ea typeface="Calibri" pitchFamily="34" charset="-122"/>
                <a:cs typeface="Calibri" pitchFamily="34" charset="-120"/>
              </a:rPr>
              <a:t>Frontend: </a:t>
            </a:r>
            <a:endParaRPr lang="en-US" sz="1300" dirty="0"/>
          </a:p>
          <a:p>
            <a:pPr marL="0" indent="0">
              <a:buNone/>
            </a:pPr>
            <a:r>
              <a:rPr lang="en-US" sz="1300" dirty="0">
                <a:solidFill>
                  <a:srgbClr val="212529"/>
                </a:solidFill>
                <a:latin typeface="Calibri" pitchFamily="34" charset="0"/>
                <a:ea typeface="Calibri" pitchFamily="34" charset="-122"/>
                <a:cs typeface="Calibri" pitchFamily="34" charset="-120"/>
              </a:rPr>
              <a:t>React + TypeScript · Tailwind CSS · Axios.</a:t>
            </a:r>
            <a:endParaRPr lang="en-US" sz="1300" dirty="0"/>
          </a:p>
          <a:p>
            <a:pPr marL="0" indent="0">
              <a:buNone/>
            </a:pPr>
            <a:endParaRPr lang="en-US" sz="1300" dirty="0"/>
          </a:p>
          <a:p>
            <a:pPr marL="0" indent="0">
              <a:buNone/>
            </a:pPr>
            <a:r>
              <a:rPr lang="en-US" sz="1300" dirty="0">
                <a:solidFill>
                  <a:srgbClr val="212529"/>
                </a:solidFill>
                <a:latin typeface="Calibri" pitchFamily="34" charset="0"/>
                <a:ea typeface="Calibri" pitchFamily="34" charset="-122"/>
                <a:cs typeface="Calibri" pitchFamily="34" charset="-120"/>
              </a:rPr>
              <a:t>Dos subgrupos desarrollaron de forma independiente </a:t>
            </a:r>
            <a:endParaRPr lang="en-US" sz="1300" dirty="0"/>
          </a:p>
          <a:p>
            <a:pPr marL="0" indent="0">
              <a:buNone/>
            </a:pPr>
            <a:r>
              <a:rPr lang="en-US" sz="1300" b="1" dirty="0">
                <a:solidFill>
                  <a:srgbClr val="212529"/>
                </a:solidFill>
                <a:latin typeface="Calibri" pitchFamily="34" charset="0"/>
                <a:ea typeface="Calibri" pitchFamily="34" charset="-122"/>
                <a:cs typeface="Calibri" pitchFamily="34" charset="-120"/>
              </a:rPr>
              <a:t>FoodDonationA</a:t>
            </a:r>
            <a:r>
              <a:rPr lang="en-US" sz="1300" dirty="0">
                <a:solidFill>
                  <a:srgbClr val="212529"/>
                </a:solidFill>
                <a:latin typeface="Calibri" pitchFamily="34" charset="0"/>
                <a:ea typeface="Calibri" pitchFamily="34" charset="-122"/>
                <a:cs typeface="Calibri" pitchFamily="34" charset="-120"/>
              </a:rPr>
              <a:t> y </a:t>
            </a:r>
            <a:r>
              <a:rPr lang="en-US" sz="1300" b="1" dirty="0">
                <a:solidFill>
                  <a:srgbClr val="212529"/>
                </a:solidFill>
                <a:latin typeface="Calibri" pitchFamily="34" charset="0"/>
                <a:ea typeface="Calibri" pitchFamily="34" charset="-122"/>
                <a:cs typeface="Calibri" pitchFamily="34" charset="-120"/>
              </a:rPr>
              <a:t>FoodDonationB</a:t>
            </a:r>
            <a:r>
              <a:rPr lang="en-US" sz="1300" dirty="0">
                <a:solidFill>
                  <a:srgbClr val="212529"/>
                </a:solidFill>
                <a:latin typeface="Calibri" pitchFamily="34" charset="0"/>
                <a:ea typeface="Calibri" pitchFamily="34" charset="-122"/>
                <a:cs typeface="Calibri" pitchFamily="34" charset="-120"/>
              </a:rPr>
              <a:t>, consumiendo la misma API REST y cubriendo el mismo conjunto de funcionalidades.</a:t>
            </a:r>
            <a:endParaRPr lang="en-US" sz="1300" dirty="0"/>
          </a:p>
        </p:txBody>
      </p:sp>
      <p:sp>
        <p:nvSpPr>
          <p:cNvPr id="5" name="Shape 3"/>
          <p:cNvSpPr/>
          <p:nvPr/>
        </p:nvSpPr>
        <p:spPr>
          <a:xfrm>
            <a:off x="5669280" y="868680"/>
            <a:ext cx="3108960" cy="1280160"/>
          </a:xfrm>
          <a:prstGeom prst="roundRect">
            <a:avLst>
              <a:gd name="adj" fmla="val 5714"/>
            </a:avLst>
          </a:prstGeom>
          <a:solidFill>
            <a:srgbClr val="E9F5EE"/>
          </a:solidFill>
          <a:ln/>
          <a:effectLst>
            <a:outerShdw blurRad="63500" dist="25400" dir="2700000" algn="bl" rotWithShape="0">
              <a:srgbClr val="000000">
                <a:alpha val="10000"/>
              </a:srgbClr>
            </a:outerShdw>
          </a:effectLst>
        </p:spPr>
      </p:sp>
      <p:sp>
        <p:nvSpPr>
          <p:cNvPr id="6" name="Text 4"/>
          <p:cNvSpPr/>
          <p:nvPr/>
        </p:nvSpPr>
        <p:spPr>
          <a:xfrm>
            <a:off x="5806440" y="941832"/>
            <a:ext cx="2834640" cy="274320"/>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Roles</a:t>
            </a:r>
            <a:endParaRPr lang="en-US" sz="1100" dirty="0"/>
          </a:p>
        </p:txBody>
      </p:sp>
      <p:sp>
        <p:nvSpPr>
          <p:cNvPr id="7" name="Text 5"/>
          <p:cNvSpPr/>
          <p:nvPr/>
        </p:nvSpPr>
        <p:spPr>
          <a:xfrm>
            <a:off x="5806440" y="1252728"/>
            <a:ext cx="2834640" cy="822960"/>
          </a:xfrm>
          <a:prstGeom prst="rect">
            <a:avLst/>
          </a:prstGeom>
          <a:noFill/>
          <a:ln/>
        </p:spPr>
        <p:txBody>
          <a:bodyPr wrap="square" rtlCol="0" anchor="t"/>
          <a:lstStyle/>
          <a:p>
            <a:pPr marL="0" indent="0">
              <a:buNone/>
            </a:pPr>
            <a:r>
              <a:rPr lang="en-US" sz="1000" dirty="0">
                <a:solidFill>
                  <a:srgbClr val="212529"/>
                </a:solidFill>
                <a:latin typeface="Calibri" pitchFamily="34" charset="0"/>
                <a:ea typeface="Calibri" pitchFamily="34" charset="-122"/>
                <a:cs typeface="Calibri" pitchFamily="34" charset="-120"/>
              </a:rPr>
              <a:t>DONANTE · publica lotes excedentes</a:t>
            </a:r>
            <a:endParaRPr lang="en-US" sz="1000" dirty="0"/>
          </a:p>
          <a:p>
            <a:pPr marL="0" indent="0">
              <a:buNone/>
            </a:pPr>
            <a:r>
              <a:rPr lang="en-US" sz="1000" dirty="0">
                <a:solidFill>
                  <a:srgbClr val="212529"/>
                </a:solidFill>
                <a:latin typeface="Calibri" pitchFamily="34" charset="0"/>
                <a:ea typeface="Calibri" pitchFamily="34" charset="-122"/>
                <a:cs typeface="Calibri" pitchFamily="34" charset="-120"/>
              </a:rPr>
              <a:t>RECEPTOR · solicita donaciones</a:t>
            </a:r>
            <a:endParaRPr lang="en-US" sz="1000" dirty="0"/>
          </a:p>
          <a:p>
            <a:pPr marL="0" indent="0">
              <a:buNone/>
            </a:pPr>
            <a:r>
              <a:rPr lang="en-US" sz="1000" dirty="0">
                <a:solidFill>
                  <a:srgbClr val="212529"/>
                </a:solidFill>
                <a:latin typeface="Calibri" pitchFamily="34" charset="0"/>
                <a:ea typeface="Calibri" pitchFamily="34" charset="-122"/>
                <a:cs typeface="Calibri" pitchFamily="34" charset="-120"/>
              </a:rPr>
              <a:t>ONG · gestión ampliada</a:t>
            </a:r>
            <a:endParaRPr lang="en-US" sz="1000" dirty="0"/>
          </a:p>
          <a:p>
            <a:pPr marL="0" indent="0">
              <a:buNone/>
            </a:pPr>
            <a:r>
              <a:rPr lang="en-US" sz="1000" dirty="0">
                <a:solidFill>
                  <a:srgbClr val="212529"/>
                </a:solidFill>
                <a:latin typeface="Calibri" pitchFamily="34" charset="0"/>
                <a:ea typeface="Calibri" pitchFamily="34" charset="-122"/>
                <a:cs typeface="Calibri" pitchFamily="34" charset="-120"/>
              </a:rPr>
              <a:t>ADMIN · supervisión global</a:t>
            </a:r>
            <a:endParaRPr lang="en-US" sz="1000" dirty="0"/>
          </a:p>
        </p:txBody>
      </p:sp>
      <p:sp>
        <p:nvSpPr>
          <p:cNvPr id="8" name="Shape 6"/>
          <p:cNvSpPr/>
          <p:nvPr/>
        </p:nvSpPr>
        <p:spPr>
          <a:xfrm>
            <a:off x="5669280" y="2286000"/>
            <a:ext cx="3108960" cy="1280160"/>
          </a:xfrm>
          <a:prstGeom prst="roundRect">
            <a:avLst>
              <a:gd name="adj" fmla="val 5714"/>
            </a:avLst>
          </a:prstGeom>
          <a:solidFill>
            <a:srgbClr val="E9F5EE"/>
          </a:solidFill>
          <a:ln/>
          <a:effectLst>
            <a:outerShdw blurRad="63500" dist="25400" dir="2700000" algn="bl" rotWithShape="0">
              <a:srgbClr val="000000">
                <a:alpha val="10000"/>
              </a:srgbClr>
            </a:outerShdw>
          </a:effectLst>
        </p:spPr>
      </p:sp>
      <p:sp>
        <p:nvSpPr>
          <p:cNvPr id="9" name="Text 7"/>
          <p:cNvSpPr/>
          <p:nvPr/>
        </p:nvSpPr>
        <p:spPr>
          <a:xfrm>
            <a:off x="5806440" y="2359152"/>
            <a:ext cx="2834640" cy="274320"/>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Estados Donación</a:t>
            </a:r>
            <a:endParaRPr lang="en-US" sz="1100" dirty="0"/>
          </a:p>
        </p:txBody>
      </p:sp>
      <p:sp>
        <p:nvSpPr>
          <p:cNvPr id="10" name="Text 8"/>
          <p:cNvSpPr/>
          <p:nvPr/>
        </p:nvSpPr>
        <p:spPr>
          <a:xfrm>
            <a:off x="5806440" y="2670048"/>
            <a:ext cx="2834640" cy="822960"/>
          </a:xfrm>
          <a:prstGeom prst="rect">
            <a:avLst/>
          </a:prstGeom>
          <a:noFill/>
          <a:ln/>
        </p:spPr>
        <p:txBody>
          <a:bodyPr wrap="square" rtlCol="0" anchor="t"/>
          <a:lstStyle/>
          <a:p>
            <a:pPr marL="0" indent="0">
              <a:buNone/>
            </a:pPr>
            <a:r>
              <a:rPr lang="en-US" sz="1000" dirty="0">
                <a:solidFill>
                  <a:srgbClr val="212529"/>
                </a:solidFill>
                <a:latin typeface="Calibri" pitchFamily="34" charset="0"/>
                <a:ea typeface="Calibri" pitchFamily="34" charset="-122"/>
                <a:cs typeface="Calibri" pitchFamily="34" charset="-120"/>
              </a:rPr>
              <a:t>AVAILABLE · RESERVED · COMPLETED · EXPIRED</a:t>
            </a:r>
            <a:endParaRPr lang="en-US" sz="1000" dirty="0"/>
          </a:p>
        </p:txBody>
      </p:sp>
      <p:sp>
        <p:nvSpPr>
          <p:cNvPr id="11" name="Shape 9"/>
          <p:cNvSpPr/>
          <p:nvPr/>
        </p:nvSpPr>
        <p:spPr>
          <a:xfrm>
            <a:off x="5669280" y="3703320"/>
            <a:ext cx="3108960" cy="1280160"/>
          </a:xfrm>
          <a:prstGeom prst="roundRect">
            <a:avLst>
              <a:gd name="adj" fmla="val 5714"/>
            </a:avLst>
          </a:prstGeom>
          <a:solidFill>
            <a:srgbClr val="E9F5EE"/>
          </a:solidFill>
          <a:ln/>
          <a:effectLst>
            <a:outerShdw blurRad="63500" dist="25400" dir="2700000" algn="bl" rotWithShape="0">
              <a:srgbClr val="000000">
                <a:alpha val="10000"/>
              </a:srgbClr>
            </a:outerShdw>
          </a:effectLst>
        </p:spPr>
      </p:sp>
      <p:sp>
        <p:nvSpPr>
          <p:cNvPr id="12" name="Text 10"/>
          <p:cNvSpPr/>
          <p:nvPr/>
        </p:nvSpPr>
        <p:spPr>
          <a:xfrm>
            <a:off x="5806440" y="3776472"/>
            <a:ext cx="2834640" cy="274320"/>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Estados Solicitud</a:t>
            </a:r>
            <a:endParaRPr lang="en-US" sz="1100" dirty="0"/>
          </a:p>
        </p:txBody>
      </p:sp>
      <p:sp>
        <p:nvSpPr>
          <p:cNvPr id="13" name="Text 11"/>
          <p:cNvSpPr/>
          <p:nvPr/>
        </p:nvSpPr>
        <p:spPr>
          <a:xfrm>
            <a:off x="5806440" y="4087368"/>
            <a:ext cx="2834640" cy="822960"/>
          </a:xfrm>
          <a:prstGeom prst="rect">
            <a:avLst/>
          </a:prstGeom>
          <a:noFill/>
          <a:ln/>
        </p:spPr>
        <p:txBody>
          <a:bodyPr wrap="square" rtlCol="0" anchor="t"/>
          <a:lstStyle/>
          <a:p>
            <a:pPr marL="0" indent="0">
              <a:buNone/>
            </a:pPr>
            <a:r>
              <a:rPr lang="en-US" sz="1000" dirty="0">
                <a:solidFill>
                  <a:srgbClr val="212529"/>
                </a:solidFill>
                <a:latin typeface="Calibri" pitchFamily="34" charset="0"/>
                <a:ea typeface="Calibri" pitchFamily="34" charset="-122"/>
                <a:cs typeface="Calibri" pitchFamily="34" charset="-120"/>
              </a:rPr>
              <a:t>PENDING · APPROVED · REJECTED</a:t>
            </a:r>
            <a:endParaRPr lang="en-US" sz="1000" dirty="0"/>
          </a:p>
        </p:txBody>
      </p:sp>
      <p:sp>
        <p:nvSpPr>
          <p:cNvPr id="14" name="Shape 12"/>
          <p:cNvSpPr/>
          <p:nvPr/>
        </p:nvSpPr>
        <p:spPr>
          <a:xfrm>
            <a:off x="365760" y="4206240"/>
            <a:ext cx="8412480" cy="594360"/>
          </a:xfrm>
          <a:prstGeom prst="roundRect">
            <a:avLst>
              <a:gd name="adj" fmla="val 9231"/>
            </a:avLst>
          </a:prstGeom>
          <a:solidFill>
            <a:srgbClr val="D8F3DC"/>
          </a:solidFill>
          <a:ln/>
        </p:spPr>
      </p:sp>
      <p:sp>
        <p:nvSpPr>
          <p:cNvPr id="15" name="Text 13"/>
          <p:cNvSpPr/>
          <p:nvPr/>
        </p:nvSpPr>
        <p:spPr>
          <a:xfrm>
            <a:off x="502920" y="4279392"/>
            <a:ext cx="8229600" cy="438912"/>
          </a:xfrm>
          <a:prstGeom prst="rect">
            <a:avLst/>
          </a:prstGeom>
          <a:noFill/>
          <a:ln/>
        </p:spPr>
        <p:txBody>
          <a:bodyPr wrap="square" rtlCol="0" anchor="ctr"/>
          <a:lstStyle/>
          <a:p>
            <a:pPr marL="0" indent="0">
              <a:buNone/>
            </a:pPr>
            <a:r>
              <a:rPr lang="en-US" sz="1050" dirty="0">
                <a:solidFill>
                  <a:srgbClr val="1B4332"/>
                </a:solidFill>
                <a:latin typeface="Calibri" pitchFamily="34" charset="0"/>
                <a:ea typeface="Calibri" pitchFamily="34" charset="-122"/>
                <a:cs typeface="Calibri" pitchFamily="34" charset="-120"/>
              </a:rPr>
              <a:t>Endpoints: /api/v1/auth/*  ·  /api/v1/donations/*  ·  /api/v1/requests/*  ·  Docs: Swagger UI en /docs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p:spPr>
      </p:sp>
      <p:sp>
        <p:nvSpPr>
          <p:cNvPr id="3" name="Text 1"/>
          <p:cNvSpPr/>
          <p:nvPr/>
        </p:nvSpPr>
        <p:spPr>
          <a:xfrm>
            <a:off x="365760" y="109728"/>
            <a:ext cx="8412480" cy="47548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2. Prototipos: Semejanzas y Diferencias</a:t>
            </a:r>
            <a:endParaRPr lang="en-US" sz="2200" dirty="0"/>
          </a:p>
        </p:txBody>
      </p:sp>
      <p:sp>
        <p:nvSpPr>
          <p:cNvPr id="4" name="Shape 2"/>
          <p:cNvSpPr/>
          <p:nvPr/>
        </p:nvSpPr>
        <p:spPr>
          <a:xfrm>
            <a:off x="274320" y="777240"/>
            <a:ext cx="8595360" cy="457200"/>
          </a:xfrm>
          <a:prstGeom prst="roundRect">
            <a:avLst>
              <a:gd name="adj" fmla="val 12000"/>
            </a:avLst>
          </a:prstGeom>
          <a:solidFill>
            <a:srgbClr val="D8F3DC"/>
          </a:solidFill>
          <a:ln/>
        </p:spPr>
      </p:sp>
      <p:sp>
        <p:nvSpPr>
          <p:cNvPr id="5" name="Text 3"/>
          <p:cNvSpPr/>
          <p:nvPr/>
        </p:nvSpPr>
        <p:spPr>
          <a:xfrm>
            <a:off x="411480" y="822960"/>
            <a:ext cx="8321040" cy="365760"/>
          </a:xfrm>
          <a:prstGeom prst="rect">
            <a:avLst/>
          </a:prstGeom>
          <a:noFill/>
          <a:ln/>
        </p:spPr>
        <p:txBody>
          <a:bodyPr wrap="square" rtlCol="0" anchor="ctr"/>
          <a:lstStyle/>
          <a:p>
            <a:pPr marL="0" indent="0">
              <a:buNone/>
            </a:pPr>
            <a:r>
              <a:rPr lang="en-US" sz="1000" dirty="0">
                <a:solidFill>
                  <a:srgbClr val="1B4332"/>
                </a:solidFill>
                <a:latin typeface="Calibri" pitchFamily="34" charset="0"/>
                <a:ea typeface="Calibri" pitchFamily="34" charset="-122"/>
                <a:cs typeface="Calibri" pitchFamily="34" charset="-120"/>
              </a:rPr>
              <a:t>SEMEJANZAS: Misma marca 'RedDonación' · Landing con estadísticas de impacto (+1.200 kg, 15 ONGs, 340 familias) · Flujo completo: registro, catálogo, donaciones y solicitudes</a:t>
            </a:r>
            <a:endParaRPr lang="en-US" sz="1000" dirty="0"/>
          </a:p>
        </p:txBody>
      </p:sp>
      <p:sp>
        <p:nvSpPr>
          <p:cNvPr id="6" name="Shape 4"/>
          <p:cNvSpPr/>
          <p:nvPr/>
        </p:nvSpPr>
        <p:spPr>
          <a:xfrm>
            <a:off x="274320" y="1316736"/>
            <a:ext cx="8595360" cy="292608"/>
          </a:xfrm>
          <a:prstGeom prst="rect">
            <a:avLst/>
          </a:prstGeom>
          <a:solidFill>
            <a:srgbClr val="1B4332"/>
          </a:solidFill>
          <a:ln/>
        </p:spPr>
      </p:sp>
      <p:sp>
        <p:nvSpPr>
          <p:cNvPr id="7" name="Text 5"/>
          <p:cNvSpPr/>
          <p:nvPr/>
        </p:nvSpPr>
        <p:spPr>
          <a:xfrm>
            <a:off x="320040" y="1353312"/>
            <a:ext cx="1554480" cy="219456"/>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Dimensión</a:t>
            </a:r>
            <a:endParaRPr lang="en-US" sz="1000" dirty="0"/>
          </a:p>
        </p:txBody>
      </p:sp>
      <p:sp>
        <p:nvSpPr>
          <p:cNvPr id="8" name="Text 6"/>
          <p:cNvSpPr/>
          <p:nvPr/>
        </p:nvSpPr>
        <p:spPr>
          <a:xfrm>
            <a:off x="1965960" y="1353312"/>
            <a:ext cx="3017520" cy="219456"/>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Prototipo A (Morado-Violeta)</a:t>
            </a:r>
            <a:endParaRPr lang="en-US" sz="1000" dirty="0"/>
          </a:p>
        </p:txBody>
      </p:sp>
      <p:sp>
        <p:nvSpPr>
          <p:cNvPr id="9" name="Text 7"/>
          <p:cNvSpPr/>
          <p:nvPr/>
        </p:nvSpPr>
        <p:spPr>
          <a:xfrm>
            <a:off x="5074920" y="1353312"/>
            <a:ext cx="3017520" cy="219456"/>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Prototipo B (Terracota-Oliva)</a:t>
            </a:r>
            <a:endParaRPr lang="en-US" sz="1000" dirty="0"/>
          </a:p>
        </p:txBody>
      </p:sp>
      <p:sp>
        <p:nvSpPr>
          <p:cNvPr id="10" name="Shape 8"/>
          <p:cNvSpPr/>
          <p:nvPr/>
        </p:nvSpPr>
        <p:spPr>
          <a:xfrm>
            <a:off x="274320" y="1627632"/>
            <a:ext cx="8595360" cy="530352"/>
          </a:xfrm>
          <a:prstGeom prst="rect">
            <a:avLst/>
          </a:prstGeom>
          <a:solidFill>
            <a:srgbClr val="FFFFFF"/>
          </a:solidFill>
          <a:ln/>
        </p:spPr>
      </p:sp>
      <p:sp>
        <p:nvSpPr>
          <p:cNvPr id="11" name="Text 9"/>
          <p:cNvSpPr/>
          <p:nvPr/>
        </p:nvSpPr>
        <p:spPr>
          <a:xfrm>
            <a:off x="320040" y="1673352"/>
            <a:ext cx="1572768" cy="457200"/>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Identidad visual</a:t>
            </a:r>
            <a:endParaRPr lang="en-US" sz="950" dirty="0"/>
          </a:p>
        </p:txBody>
      </p:sp>
      <p:sp>
        <p:nvSpPr>
          <p:cNvPr id="12" name="Text 10"/>
          <p:cNvSpPr/>
          <p:nvPr/>
        </p:nvSpPr>
        <p:spPr>
          <a:xfrm>
            <a:off x="1965960" y="1673352"/>
            <a:ext cx="3035808" cy="45720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Paleta morado-violeta, gradiente frío, estilo minimalista</a:t>
            </a:r>
            <a:endParaRPr lang="en-US" sz="950" dirty="0"/>
          </a:p>
        </p:txBody>
      </p:sp>
      <p:sp>
        <p:nvSpPr>
          <p:cNvPr id="13" name="Text 11"/>
          <p:cNvSpPr/>
          <p:nvPr/>
        </p:nvSpPr>
        <p:spPr>
          <a:xfrm>
            <a:off x="5074920" y="1673352"/>
            <a:ext cx="3035808" cy="45720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Paleta terracota-oliva, gradiente cálido, mayor densidad info</a:t>
            </a:r>
            <a:endParaRPr lang="en-US" sz="950" dirty="0"/>
          </a:p>
        </p:txBody>
      </p:sp>
      <p:sp>
        <p:nvSpPr>
          <p:cNvPr id="14" name="Shape 12"/>
          <p:cNvSpPr/>
          <p:nvPr/>
        </p:nvSpPr>
        <p:spPr>
          <a:xfrm>
            <a:off x="274320" y="2176272"/>
            <a:ext cx="8595360" cy="530352"/>
          </a:xfrm>
          <a:prstGeom prst="rect">
            <a:avLst/>
          </a:prstGeom>
          <a:solidFill>
            <a:srgbClr val="E9F5EE"/>
          </a:solidFill>
          <a:ln/>
        </p:spPr>
      </p:sp>
      <p:sp>
        <p:nvSpPr>
          <p:cNvPr id="15" name="Text 13"/>
          <p:cNvSpPr/>
          <p:nvPr/>
        </p:nvSpPr>
        <p:spPr>
          <a:xfrm>
            <a:off x="320040" y="2221992"/>
            <a:ext cx="1572768" cy="457200"/>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Navegación autenticada</a:t>
            </a:r>
            <a:endParaRPr lang="en-US" sz="950" dirty="0"/>
          </a:p>
        </p:txBody>
      </p:sp>
      <p:sp>
        <p:nvSpPr>
          <p:cNvPr id="16" name="Text 14"/>
          <p:cNvSpPr/>
          <p:nvPr/>
        </p:nvSpPr>
        <p:spPr>
          <a:xfrm>
            <a:off x="1965960" y="2221992"/>
            <a:ext cx="3035808" cy="45720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Panel · Donaciones · Nueva · Solicitudes + badge rol</a:t>
            </a:r>
            <a:endParaRPr lang="en-US" sz="950" dirty="0"/>
          </a:p>
        </p:txBody>
      </p:sp>
      <p:sp>
        <p:nvSpPr>
          <p:cNvPr id="17" name="Text 15"/>
          <p:cNvSpPr/>
          <p:nvPr/>
        </p:nvSpPr>
        <p:spPr>
          <a:xfrm>
            <a:off x="5074920" y="2221992"/>
            <a:ext cx="3035808" cy="45720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Donaciones · Solicitudes · Dashboard · Perfil · Cerrar sesión</a:t>
            </a:r>
            <a:endParaRPr lang="en-US" sz="950" dirty="0"/>
          </a:p>
        </p:txBody>
      </p:sp>
      <p:sp>
        <p:nvSpPr>
          <p:cNvPr id="18" name="Shape 16"/>
          <p:cNvSpPr/>
          <p:nvPr/>
        </p:nvSpPr>
        <p:spPr>
          <a:xfrm>
            <a:off x="274320" y="2724912"/>
            <a:ext cx="8595360" cy="530352"/>
          </a:xfrm>
          <a:prstGeom prst="rect">
            <a:avLst/>
          </a:prstGeom>
          <a:solidFill>
            <a:srgbClr val="FFFFFF"/>
          </a:solidFill>
          <a:ln/>
        </p:spPr>
      </p:sp>
      <p:sp>
        <p:nvSpPr>
          <p:cNvPr id="19" name="Text 17"/>
          <p:cNvSpPr/>
          <p:nvPr/>
        </p:nvSpPr>
        <p:spPr>
          <a:xfrm>
            <a:off x="320040" y="2770632"/>
            <a:ext cx="1572768" cy="457200"/>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Lista donaciones</a:t>
            </a:r>
            <a:endParaRPr lang="en-US" sz="950" dirty="0"/>
          </a:p>
        </p:txBody>
      </p:sp>
      <p:sp>
        <p:nvSpPr>
          <p:cNvPr id="20" name="Text 18"/>
          <p:cNvSpPr/>
          <p:nvPr/>
        </p:nvSpPr>
        <p:spPr>
          <a:xfrm>
            <a:off x="1965960" y="2770632"/>
            <a:ext cx="3035808" cy="45720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Estado vacío explícito; filtros ubicación + estado</a:t>
            </a:r>
            <a:endParaRPr lang="en-US" sz="950" dirty="0"/>
          </a:p>
        </p:txBody>
      </p:sp>
      <p:sp>
        <p:nvSpPr>
          <p:cNvPr id="21" name="Text 19"/>
          <p:cNvSpPr/>
          <p:nvPr/>
        </p:nvSpPr>
        <p:spPr>
          <a:xfrm>
            <a:off x="5074920" y="2770632"/>
            <a:ext cx="3035808" cy="45720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Tarjetas con datos; filtros pill + campo búsqueda</a:t>
            </a:r>
            <a:endParaRPr lang="en-US" sz="950" dirty="0"/>
          </a:p>
        </p:txBody>
      </p:sp>
      <p:sp>
        <p:nvSpPr>
          <p:cNvPr id="22" name="Shape 20"/>
          <p:cNvSpPr/>
          <p:nvPr/>
        </p:nvSpPr>
        <p:spPr>
          <a:xfrm>
            <a:off x="274320" y="3273552"/>
            <a:ext cx="8595360" cy="530352"/>
          </a:xfrm>
          <a:prstGeom prst="rect">
            <a:avLst/>
          </a:prstGeom>
          <a:solidFill>
            <a:srgbClr val="E9F5EE"/>
          </a:solidFill>
          <a:ln/>
        </p:spPr>
      </p:sp>
      <p:sp>
        <p:nvSpPr>
          <p:cNvPr id="23" name="Text 21"/>
          <p:cNvSpPr/>
          <p:nvPr/>
        </p:nvSpPr>
        <p:spPr>
          <a:xfrm>
            <a:off x="320040" y="3319272"/>
            <a:ext cx="1572768" cy="457200"/>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Formulario donación</a:t>
            </a:r>
            <a:endParaRPr lang="en-US" sz="950" dirty="0"/>
          </a:p>
        </p:txBody>
      </p:sp>
      <p:sp>
        <p:nvSpPr>
          <p:cNvPr id="24" name="Text 22"/>
          <p:cNvSpPr/>
          <p:nvPr/>
        </p:nvSpPr>
        <p:spPr>
          <a:xfrm>
            <a:off x="1965960" y="3319272"/>
            <a:ext cx="3035808" cy="45720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5 campos, cantidad en texto libre (ambiguo)</a:t>
            </a:r>
            <a:endParaRPr lang="en-US" sz="950" dirty="0"/>
          </a:p>
        </p:txBody>
      </p:sp>
      <p:sp>
        <p:nvSpPr>
          <p:cNvPr id="25" name="Text 23"/>
          <p:cNvSpPr/>
          <p:nvPr/>
        </p:nvSpPr>
        <p:spPr>
          <a:xfrm>
            <a:off x="5074920" y="3319272"/>
            <a:ext cx="3035808" cy="45720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8 campos en 3 secciones, selector de unidad kg/uds</a:t>
            </a:r>
            <a:endParaRPr lang="en-US" sz="950" dirty="0"/>
          </a:p>
        </p:txBody>
      </p:sp>
      <p:sp>
        <p:nvSpPr>
          <p:cNvPr id="26" name="Shape 24"/>
          <p:cNvSpPr/>
          <p:nvPr/>
        </p:nvSpPr>
        <p:spPr>
          <a:xfrm>
            <a:off x="274320" y="3822192"/>
            <a:ext cx="8595360" cy="530352"/>
          </a:xfrm>
          <a:prstGeom prst="rect">
            <a:avLst/>
          </a:prstGeom>
          <a:solidFill>
            <a:srgbClr val="FFFFFF"/>
          </a:solidFill>
          <a:ln/>
        </p:spPr>
      </p:sp>
      <p:sp>
        <p:nvSpPr>
          <p:cNvPr id="27" name="Text 25"/>
          <p:cNvSpPr/>
          <p:nvPr/>
        </p:nvSpPr>
        <p:spPr>
          <a:xfrm>
            <a:off x="320040" y="3867912"/>
            <a:ext cx="1572768" cy="457200"/>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Gestión solicitudes</a:t>
            </a:r>
            <a:endParaRPr lang="en-US" sz="950" dirty="0"/>
          </a:p>
        </p:txBody>
      </p:sp>
      <p:sp>
        <p:nvSpPr>
          <p:cNvPr id="28" name="Text 26"/>
          <p:cNvSpPr/>
          <p:nvPr/>
        </p:nvSpPr>
        <p:spPr>
          <a:xfrm>
            <a:off x="1965960" y="3867912"/>
            <a:ext cx="3035808" cy="45720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Chips de estado; acción desde detalle</a:t>
            </a:r>
            <a:endParaRPr lang="en-US" sz="950" dirty="0"/>
          </a:p>
        </p:txBody>
      </p:sp>
      <p:sp>
        <p:nvSpPr>
          <p:cNvPr id="29" name="Text 27"/>
          <p:cNvSpPr/>
          <p:nvPr/>
        </p:nvSpPr>
        <p:spPr>
          <a:xfrm>
            <a:off x="5074920" y="3867912"/>
            <a:ext cx="3035808" cy="45720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Botones Aprobar/Rechazar inline en tarjeta (sin confirmación)</a:t>
            </a:r>
            <a:endParaRPr lang="en-US" sz="950" dirty="0"/>
          </a:p>
        </p:txBody>
      </p:sp>
      <p:sp>
        <p:nvSpPr>
          <p:cNvPr id="30" name="Shape 28"/>
          <p:cNvSpPr/>
          <p:nvPr/>
        </p:nvSpPr>
        <p:spPr>
          <a:xfrm>
            <a:off x="274320" y="4370832"/>
            <a:ext cx="8595360" cy="530352"/>
          </a:xfrm>
          <a:prstGeom prst="rect">
            <a:avLst/>
          </a:prstGeom>
          <a:solidFill>
            <a:srgbClr val="E9F5EE"/>
          </a:solidFill>
          <a:ln/>
        </p:spPr>
      </p:sp>
      <p:sp>
        <p:nvSpPr>
          <p:cNvPr id="31" name="Text 29"/>
          <p:cNvSpPr/>
          <p:nvPr/>
        </p:nvSpPr>
        <p:spPr>
          <a:xfrm>
            <a:off x="320040" y="4416552"/>
            <a:ext cx="1572768" cy="457200"/>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Bug detectado</a:t>
            </a:r>
            <a:endParaRPr lang="en-US" sz="950" dirty="0"/>
          </a:p>
        </p:txBody>
      </p:sp>
      <p:sp>
        <p:nvSpPr>
          <p:cNvPr id="32" name="Text 30"/>
          <p:cNvSpPr/>
          <p:nvPr/>
        </p:nvSpPr>
        <p:spPr>
          <a:xfrm>
            <a:off x="1965960" y="4416552"/>
            <a:ext cx="3035808" cy="45720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No detectado</a:t>
            </a:r>
            <a:endParaRPr lang="en-US" sz="950" dirty="0"/>
          </a:p>
        </p:txBody>
      </p:sp>
      <p:sp>
        <p:nvSpPr>
          <p:cNvPr id="33" name="Text 31"/>
          <p:cNvSpPr/>
          <p:nvPr/>
        </p:nvSpPr>
        <p:spPr>
          <a:xfrm>
            <a:off x="5074920" y="4416552"/>
            <a:ext cx="3035808" cy="457200"/>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"Invalid Date" en fechas de donaciones (error de parseo)</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p:spPr>
      </p:sp>
      <p:sp>
        <p:nvSpPr>
          <p:cNvPr id="3" name="Text 1"/>
          <p:cNvSpPr/>
          <p:nvPr/>
        </p:nvSpPr>
        <p:spPr>
          <a:xfrm>
            <a:off x="365760" y="109728"/>
            <a:ext cx="841248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2b. Justificación de Diseño: Heurísticas de Nielsen</a:t>
            </a:r>
            <a:endParaRPr lang="en-US" sz="2000" dirty="0"/>
          </a:p>
        </p:txBody>
      </p:sp>
      <p:sp>
        <p:nvSpPr>
          <p:cNvPr id="4" name="Shape 2"/>
          <p:cNvSpPr/>
          <p:nvPr/>
        </p:nvSpPr>
        <p:spPr>
          <a:xfrm>
            <a:off x="274320" y="804672"/>
            <a:ext cx="8595360" cy="658368"/>
          </a:xfrm>
          <a:prstGeom prst="roundRect">
            <a:avLst>
              <a:gd name="adj" fmla="val 8333"/>
            </a:avLst>
          </a:prstGeom>
          <a:solidFill>
            <a:srgbClr val="FFFFFF"/>
          </a:solidFill>
          <a:ln/>
          <a:effectLst>
            <a:outerShdw blurRad="38100" dist="12700" dir="2700000" algn="bl" rotWithShape="0">
              <a:srgbClr val="000000">
                <a:alpha val="8000"/>
              </a:srgbClr>
            </a:outerShdw>
          </a:effectLst>
        </p:spPr>
      </p:sp>
      <p:sp>
        <p:nvSpPr>
          <p:cNvPr id="5" name="Text 3"/>
          <p:cNvSpPr/>
          <p:nvPr/>
        </p:nvSpPr>
        <p:spPr>
          <a:xfrm>
            <a:off x="411480" y="841248"/>
            <a:ext cx="8229600" cy="219456"/>
          </a:xfrm>
          <a:prstGeom prst="rect">
            <a:avLst/>
          </a:prstGeom>
          <a:noFill/>
          <a:ln/>
        </p:spPr>
        <p:txBody>
          <a:bodyPr wrap="square" lIns="0" tIns="0" rIns="0" bIns="0"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H1 · Visibilidad del estado del sistema</a:t>
            </a:r>
            <a:endParaRPr lang="en-US" sz="1000" dirty="0"/>
          </a:p>
        </p:txBody>
      </p:sp>
      <p:sp>
        <p:nvSpPr>
          <p:cNvPr id="6" name="Text 4"/>
          <p:cNvSpPr/>
          <p:nvPr/>
        </p:nvSpPr>
        <p:spPr>
          <a:xfrm>
            <a:off x="502920" y="1078992"/>
            <a:ext cx="3977640" cy="32004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A: Badge de rol siempre visible + chips de color en solicitudes ✓</a:t>
            </a:r>
            <a:endParaRPr lang="en-US" sz="950" dirty="0"/>
          </a:p>
        </p:txBody>
      </p:sp>
      <p:sp>
        <p:nvSpPr>
          <p:cNvPr id="7" name="Text 5"/>
          <p:cNvSpPr/>
          <p:nvPr/>
        </p:nvSpPr>
        <p:spPr>
          <a:xfrm>
            <a:off x="4617720" y="1078992"/>
            <a:ext cx="4160520" cy="32004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B: Bug 'Invalid Date' oculta fecha de caducidad —campo crítico— ✗</a:t>
            </a:r>
            <a:endParaRPr lang="en-US" sz="950" dirty="0"/>
          </a:p>
        </p:txBody>
      </p:sp>
      <p:sp>
        <p:nvSpPr>
          <p:cNvPr id="8" name="Shape 6"/>
          <p:cNvSpPr/>
          <p:nvPr/>
        </p:nvSpPr>
        <p:spPr>
          <a:xfrm>
            <a:off x="274320" y="1508760"/>
            <a:ext cx="8595360" cy="658368"/>
          </a:xfrm>
          <a:prstGeom prst="roundRect">
            <a:avLst>
              <a:gd name="adj" fmla="val 8333"/>
            </a:avLst>
          </a:prstGeom>
          <a:solidFill>
            <a:srgbClr val="E9F5EE"/>
          </a:solidFill>
          <a:ln/>
          <a:effectLst>
            <a:outerShdw blurRad="38100" dist="12700" dir="2700000" algn="bl" rotWithShape="0">
              <a:srgbClr val="000000">
                <a:alpha val="8000"/>
              </a:srgbClr>
            </a:outerShdw>
          </a:effectLst>
        </p:spPr>
      </p:sp>
      <p:sp>
        <p:nvSpPr>
          <p:cNvPr id="9" name="Text 7"/>
          <p:cNvSpPr/>
          <p:nvPr/>
        </p:nvSpPr>
        <p:spPr>
          <a:xfrm>
            <a:off x="411480" y="1545336"/>
            <a:ext cx="8229600" cy="219456"/>
          </a:xfrm>
          <a:prstGeom prst="rect">
            <a:avLst/>
          </a:prstGeom>
          <a:noFill/>
          <a:ln/>
        </p:spPr>
        <p:txBody>
          <a:bodyPr wrap="square" lIns="0" tIns="0" rIns="0" bIns="0"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H2 · Coherencia con el mundo real</a:t>
            </a:r>
            <a:endParaRPr lang="en-US" sz="1000" dirty="0"/>
          </a:p>
        </p:txBody>
      </p:sp>
      <p:sp>
        <p:nvSpPr>
          <p:cNvPr id="10" name="Text 8"/>
          <p:cNvSpPr/>
          <p:nvPr/>
        </p:nvSpPr>
        <p:spPr>
          <a:xfrm>
            <a:off x="502920" y="1783080"/>
            <a:ext cx="3977640" cy="32004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A: Lenguaje uniforme en castellano ✓</a:t>
            </a:r>
            <a:endParaRPr lang="en-US" sz="950" dirty="0"/>
          </a:p>
        </p:txBody>
      </p:sp>
      <p:sp>
        <p:nvSpPr>
          <p:cNvPr id="11" name="Text 9"/>
          <p:cNvSpPr/>
          <p:nvPr/>
        </p:nvSpPr>
        <p:spPr>
          <a:xfrm>
            <a:off x="4617720" y="1783080"/>
            <a:ext cx="4160520" cy="32004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B: Filtros de estado en inglés (Available/Expired) en UI en castellano ✗</a:t>
            </a:r>
            <a:endParaRPr lang="en-US" sz="950" dirty="0"/>
          </a:p>
        </p:txBody>
      </p:sp>
      <p:sp>
        <p:nvSpPr>
          <p:cNvPr id="12" name="Shape 10"/>
          <p:cNvSpPr/>
          <p:nvPr/>
        </p:nvSpPr>
        <p:spPr>
          <a:xfrm>
            <a:off x="274320" y="2212848"/>
            <a:ext cx="8595360" cy="658368"/>
          </a:xfrm>
          <a:prstGeom prst="roundRect">
            <a:avLst>
              <a:gd name="adj" fmla="val 8333"/>
            </a:avLst>
          </a:prstGeom>
          <a:solidFill>
            <a:srgbClr val="FFFFFF"/>
          </a:solidFill>
          <a:ln/>
          <a:effectLst>
            <a:outerShdw blurRad="38100" dist="12700" dir="2700000" algn="bl" rotWithShape="0">
              <a:srgbClr val="000000">
                <a:alpha val="8000"/>
              </a:srgbClr>
            </a:outerShdw>
          </a:effectLst>
        </p:spPr>
      </p:sp>
      <p:sp>
        <p:nvSpPr>
          <p:cNvPr id="13" name="Text 11"/>
          <p:cNvSpPr/>
          <p:nvPr/>
        </p:nvSpPr>
        <p:spPr>
          <a:xfrm>
            <a:off x="411480" y="2249424"/>
            <a:ext cx="8229600" cy="219456"/>
          </a:xfrm>
          <a:prstGeom prst="rect">
            <a:avLst/>
          </a:prstGeom>
          <a:noFill/>
          <a:ln/>
        </p:spPr>
        <p:txBody>
          <a:bodyPr wrap="square" lIns="0" tIns="0" rIns="0" bIns="0"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H3 · Control y libertad del usuario</a:t>
            </a:r>
            <a:endParaRPr lang="en-US" sz="1000" dirty="0"/>
          </a:p>
        </p:txBody>
      </p:sp>
      <p:sp>
        <p:nvSpPr>
          <p:cNvPr id="14" name="Text 12"/>
          <p:cNvSpPr/>
          <p:nvPr/>
        </p:nvSpPr>
        <p:spPr>
          <a:xfrm>
            <a:off x="502920" y="2487168"/>
            <a:ext cx="3977640" cy="32004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A: Acciones controladas; navegación clara</a:t>
            </a:r>
            <a:endParaRPr lang="en-US" sz="950" dirty="0"/>
          </a:p>
        </p:txBody>
      </p:sp>
      <p:sp>
        <p:nvSpPr>
          <p:cNvPr id="15" name="Text 13"/>
          <p:cNvSpPr/>
          <p:nvPr/>
        </p:nvSpPr>
        <p:spPr>
          <a:xfrm>
            <a:off x="4617720" y="2487168"/>
            <a:ext cx="4160520" cy="32004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B: Botón 'Cancelar' explícito ✓ pero Aprobar/Rechazar sin confirmación ✗</a:t>
            </a:r>
            <a:endParaRPr lang="en-US" sz="950" dirty="0"/>
          </a:p>
        </p:txBody>
      </p:sp>
      <p:sp>
        <p:nvSpPr>
          <p:cNvPr id="16" name="Shape 14"/>
          <p:cNvSpPr/>
          <p:nvPr/>
        </p:nvSpPr>
        <p:spPr>
          <a:xfrm>
            <a:off x="274320" y="2916936"/>
            <a:ext cx="8595360" cy="658368"/>
          </a:xfrm>
          <a:prstGeom prst="roundRect">
            <a:avLst>
              <a:gd name="adj" fmla="val 8333"/>
            </a:avLst>
          </a:prstGeom>
          <a:solidFill>
            <a:srgbClr val="E9F5EE"/>
          </a:solidFill>
          <a:ln/>
          <a:effectLst>
            <a:outerShdw blurRad="38100" dist="12700" dir="2700000" algn="bl" rotWithShape="0">
              <a:srgbClr val="000000">
                <a:alpha val="8000"/>
              </a:srgbClr>
            </a:outerShdw>
          </a:effectLst>
        </p:spPr>
      </p:sp>
      <p:sp>
        <p:nvSpPr>
          <p:cNvPr id="17" name="Text 15"/>
          <p:cNvSpPr/>
          <p:nvPr/>
        </p:nvSpPr>
        <p:spPr>
          <a:xfrm>
            <a:off x="411480" y="2953512"/>
            <a:ext cx="8229600" cy="219456"/>
          </a:xfrm>
          <a:prstGeom prst="rect">
            <a:avLst/>
          </a:prstGeom>
          <a:noFill/>
          <a:ln/>
        </p:spPr>
        <p:txBody>
          <a:bodyPr wrap="square" lIns="0" tIns="0" rIns="0" bIns="0"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H5 · Prevención de errores</a:t>
            </a:r>
            <a:endParaRPr lang="en-US" sz="1000" dirty="0"/>
          </a:p>
        </p:txBody>
      </p:sp>
      <p:sp>
        <p:nvSpPr>
          <p:cNvPr id="18" name="Text 16"/>
          <p:cNvSpPr/>
          <p:nvPr/>
        </p:nvSpPr>
        <p:spPr>
          <a:xfrm>
            <a:off x="502920" y="3191256"/>
            <a:ext cx="3977640" cy="32004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A: Campo cantidad texto libre: entradas ambiguas (¿kg, uds, litros?) ✗</a:t>
            </a:r>
            <a:endParaRPr lang="en-US" sz="950" dirty="0"/>
          </a:p>
        </p:txBody>
      </p:sp>
      <p:sp>
        <p:nvSpPr>
          <p:cNvPr id="19" name="Text 17"/>
          <p:cNvSpPr/>
          <p:nvPr/>
        </p:nvSpPr>
        <p:spPr>
          <a:xfrm>
            <a:off x="4617720" y="3191256"/>
            <a:ext cx="4160520" cy="32004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B: Selector kg/unidades previene ambigüedad en cantidad ✓</a:t>
            </a:r>
            <a:endParaRPr lang="en-US" sz="950" dirty="0"/>
          </a:p>
        </p:txBody>
      </p:sp>
      <p:sp>
        <p:nvSpPr>
          <p:cNvPr id="20" name="Shape 18"/>
          <p:cNvSpPr/>
          <p:nvPr/>
        </p:nvSpPr>
        <p:spPr>
          <a:xfrm>
            <a:off x="274320" y="3621024"/>
            <a:ext cx="8595360" cy="658368"/>
          </a:xfrm>
          <a:prstGeom prst="roundRect">
            <a:avLst>
              <a:gd name="adj" fmla="val 8333"/>
            </a:avLst>
          </a:prstGeom>
          <a:solidFill>
            <a:srgbClr val="FFFFFF"/>
          </a:solidFill>
          <a:ln/>
          <a:effectLst>
            <a:outerShdw blurRad="38100" dist="12700" dir="2700000" algn="bl" rotWithShape="0">
              <a:srgbClr val="000000">
                <a:alpha val="8000"/>
              </a:srgbClr>
            </a:outerShdw>
          </a:effectLst>
        </p:spPr>
      </p:sp>
      <p:sp>
        <p:nvSpPr>
          <p:cNvPr id="21" name="Text 19"/>
          <p:cNvSpPr/>
          <p:nvPr/>
        </p:nvSpPr>
        <p:spPr>
          <a:xfrm>
            <a:off x="411480" y="3657600"/>
            <a:ext cx="8229600" cy="219456"/>
          </a:xfrm>
          <a:prstGeom prst="rect">
            <a:avLst/>
          </a:prstGeom>
          <a:noFill/>
          <a:ln/>
        </p:spPr>
        <p:txBody>
          <a:bodyPr wrap="square" lIns="0" tIns="0" rIns="0" bIns="0"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H6 · Reconocimiento vs recuerdo</a:t>
            </a:r>
            <a:endParaRPr lang="en-US" sz="1000" dirty="0"/>
          </a:p>
        </p:txBody>
      </p:sp>
      <p:sp>
        <p:nvSpPr>
          <p:cNvPr id="22" name="Text 20"/>
          <p:cNvSpPr/>
          <p:nvPr/>
        </p:nvSpPr>
        <p:spPr>
          <a:xfrm>
            <a:off x="502920" y="3895344"/>
            <a:ext cx="3977640" cy="32004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A: Placeholders orientativos; estado solo visible en el detalle</a:t>
            </a:r>
            <a:endParaRPr lang="en-US" sz="950" dirty="0"/>
          </a:p>
        </p:txBody>
      </p:sp>
      <p:sp>
        <p:nvSpPr>
          <p:cNvPr id="23" name="Text 21"/>
          <p:cNvSpPr/>
          <p:nvPr/>
        </p:nvSpPr>
        <p:spPr>
          <a:xfrm>
            <a:off x="4617720" y="3895344"/>
            <a:ext cx="4160520" cy="32004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B: Tarjetas con datos visibles: menos navegación para identificar donación ✓</a:t>
            </a:r>
            <a:endParaRPr lang="en-US" sz="950" dirty="0"/>
          </a:p>
        </p:txBody>
      </p:sp>
      <p:sp>
        <p:nvSpPr>
          <p:cNvPr id="24" name="Shape 22"/>
          <p:cNvSpPr/>
          <p:nvPr/>
        </p:nvSpPr>
        <p:spPr>
          <a:xfrm>
            <a:off x="274320" y="4325112"/>
            <a:ext cx="8595360" cy="658368"/>
          </a:xfrm>
          <a:prstGeom prst="roundRect">
            <a:avLst>
              <a:gd name="adj" fmla="val 8333"/>
            </a:avLst>
          </a:prstGeom>
          <a:solidFill>
            <a:srgbClr val="E9F5EE"/>
          </a:solidFill>
          <a:ln/>
          <a:effectLst>
            <a:outerShdw blurRad="38100" dist="12700" dir="2700000" algn="bl" rotWithShape="0">
              <a:srgbClr val="000000">
                <a:alpha val="8000"/>
              </a:srgbClr>
            </a:outerShdw>
          </a:effectLst>
        </p:spPr>
      </p:sp>
      <p:sp>
        <p:nvSpPr>
          <p:cNvPr id="25" name="Text 23"/>
          <p:cNvSpPr/>
          <p:nvPr/>
        </p:nvSpPr>
        <p:spPr>
          <a:xfrm>
            <a:off x="411480" y="4361688"/>
            <a:ext cx="8229600" cy="219456"/>
          </a:xfrm>
          <a:prstGeom prst="rect">
            <a:avLst/>
          </a:prstGeom>
          <a:noFill/>
          <a:ln/>
        </p:spPr>
        <p:txBody>
          <a:bodyPr wrap="square" lIns="0" tIns="0" rIns="0" bIns="0"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H8 · Diseño minimalista</a:t>
            </a:r>
            <a:endParaRPr lang="en-US" sz="1000" dirty="0"/>
          </a:p>
        </p:txBody>
      </p:sp>
      <p:sp>
        <p:nvSpPr>
          <p:cNvPr id="26" name="Text 24"/>
          <p:cNvSpPr/>
          <p:nvPr/>
        </p:nvSpPr>
        <p:spPr>
          <a:xfrm>
            <a:off x="502920" y="4599432"/>
            <a:ext cx="3977640" cy="32004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A: Dashboard receptor escaso (solo 2 tarjetas, sin actividad reciente) ✗</a:t>
            </a:r>
            <a:endParaRPr lang="en-US" sz="950" dirty="0"/>
          </a:p>
        </p:txBody>
      </p:sp>
      <p:sp>
        <p:nvSpPr>
          <p:cNvPr id="27" name="Text 25"/>
          <p:cNvSpPr/>
          <p:nvPr/>
        </p:nvSpPr>
        <p:spPr>
          <a:xfrm>
            <a:off x="4617720" y="4599432"/>
            <a:ext cx="4160520" cy="32004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B: Mayor densidad informativa; formularios más estructurados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p:spPr>
      </p:sp>
      <p:sp>
        <p:nvSpPr>
          <p:cNvPr id="3" name="Text 1"/>
          <p:cNvSpPr/>
          <p:nvPr/>
        </p:nvSpPr>
        <p:spPr>
          <a:xfrm>
            <a:off x="365760" y="109728"/>
            <a:ext cx="8412480" cy="47548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3. Características del Test de Usuario</a:t>
            </a:r>
            <a:endParaRPr lang="en-US" sz="2200" dirty="0"/>
          </a:p>
        </p:txBody>
      </p:sp>
      <p:sp>
        <p:nvSpPr>
          <p:cNvPr id="4" name="Shape 2"/>
          <p:cNvSpPr/>
          <p:nvPr/>
        </p:nvSpPr>
        <p:spPr>
          <a:xfrm>
            <a:off x="274320" y="841248"/>
            <a:ext cx="2651760" cy="1188720"/>
          </a:xfrm>
          <a:prstGeom prst="roundRect">
            <a:avLst>
              <a:gd name="adj" fmla="val 7692"/>
            </a:avLst>
          </a:prstGeom>
          <a:solidFill>
            <a:srgbClr val="1B4332"/>
          </a:solidFill>
          <a:ln/>
        </p:spPr>
      </p:sp>
      <p:sp>
        <p:nvSpPr>
          <p:cNvPr id="5" name="Text 3"/>
          <p:cNvSpPr/>
          <p:nvPr/>
        </p:nvSpPr>
        <p:spPr>
          <a:xfrm>
            <a:off x="274320" y="1005840"/>
            <a:ext cx="2651760" cy="594360"/>
          </a:xfrm>
          <a:prstGeom prst="rect">
            <a:avLst/>
          </a:prstGeom>
          <a:noFill/>
          <a:ln/>
        </p:spPr>
        <p:txBody>
          <a:bodyPr wrap="square" rtlCol="0" anchor="ctr"/>
          <a:lstStyle/>
          <a:p>
            <a:pPr marL="0" indent="0" algn="ctr">
              <a:buNone/>
            </a:pPr>
            <a:r>
              <a:rPr lang="en-US" sz="1600" b="1" dirty="0">
                <a:solidFill>
                  <a:srgbClr val="E9C46A"/>
                </a:solidFill>
                <a:latin typeface="Calibri" pitchFamily="34" charset="0"/>
                <a:ea typeface="Calibri" pitchFamily="34" charset="-122"/>
                <a:cs typeface="Calibri" pitchFamily="34" charset="-120"/>
              </a:rPr>
              <a:t>No Moderado</a:t>
            </a:r>
            <a:endParaRPr lang="en-US" sz="1600" dirty="0"/>
          </a:p>
        </p:txBody>
      </p:sp>
      <p:sp>
        <p:nvSpPr>
          <p:cNvPr id="6" name="Text 4"/>
          <p:cNvSpPr/>
          <p:nvPr/>
        </p:nvSpPr>
        <p:spPr>
          <a:xfrm>
            <a:off x="274320" y="1600200"/>
            <a:ext cx="2651760" cy="32004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Modalidad</a:t>
            </a:r>
            <a:endParaRPr lang="en-US" sz="1100" dirty="0"/>
          </a:p>
        </p:txBody>
      </p:sp>
      <p:sp>
        <p:nvSpPr>
          <p:cNvPr id="7" name="Shape 5"/>
          <p:cNvSpPr/>
          <p:nvPr/>
        </p:nvSpPr>
        <p:spPr>
          <a:xfrm>
            <a:off x="3154680" y="841248"/>
            <a:ext cx="2651760" cy="1188720"/>
          </a:xfrm>
          <a:prstGeom prst="roundRect">
            <a:avLst>
              <a:gd name="adj" fmla="val 7692"/>
            </a:avLst>
          </a:prstGeom>
          <a:solidFill>
            <a:srgbClr val="1B4332"/>
          </a:solidFill>
          <a:ln/>
        </p:spPr>
      </p:sp>
      <p:sp>
        <p:nvSpPr>
          <p:cNvPr id="8" name="Text 6"/>
          <p:cNvSpPr/>
          <p:nvPr/>
        </p:nvSpPr>
        <p:spPr>
          <a:xfrm>
            <a:off x="3154680" y="1005840"/>
            <a:ext cx="2651760" cy="594360"/>
          </a:xfrm>
          <a:prstGeom prst="rect">
            <a:avLst/>
          </a:prstGeom>
          <a:noFill/>
          <a:ln/>
        </p:spPr>
        <p:txBody>
          <a:bodyPr wrap="square" rtlCol="0" anchor="ctr"/>
          <a:lstStyle/>
          <a:p>
            <a:pPr marL="0" indent="0" algn="ctr">
              <a:buNone/>
            </a:pPr>
            <a:r>
              <a:rPr lang="en-US" sz="2600" b="1" dirty="0">
                <a:solidFill>
                  <a:srgbClr val="E9C46A"/>
                </a:solidFill>
                <a:latin typeface="Calibri" pitchFamily="34" charset="0"/>
                <a:ea typeface="Calibri" pitchFamily="34" charset="-122"/>
                <a:cs typeface="Calibri" pitchFamily="34" charset="-120"/>
              </a:rPr>
              <a:t>Remoto</a:t>
            </a:r>
            <a:endParaRPr lang="en-US" sz="2600" dirty="0"/>
          </a:p>
        </p:txBody>
      </p:sp>
      <p:sp>
        <p:nvSpPr>
          <p:cNvPr id="9" name="Text 7"/>
          <p:cNvSpPr/>
          <p:nvPr/>
        </p:nvSpPr>
        <p:spPr>
          <a:xfrm>
            <a:off x="3154680" y="1600200"/>
            <a:ext cx="2651760" cy="32004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Entorno (Loop11)</a:t>
            </a:r>
            <a:endParaRPr lang="en-US" sz="1100" dirty="0"/>
          </a:p>
        </p:txBody>
      </p:sp>
      <p:sp>
        <p:nvSpPr>
          <p:cNvPr id="10" name="Shape 8"/>
          <p:cNvSpPr/>
          <p:nvPr/>
        </p:nvSpPr>
        <p:spPr>
          <a:xfrm>
            <a:off x="6035040" y="841248"/>
            <a:ext cx="2651760" cy="1188720"/>
          </a:xfrm>
          <a:prstGeom prst="roundRect">
            <a:avLst>
              <a:gd name="adj" fmla="val 7692"/>
            </a:avLst>
          </a:prstGeom>
          <a:solidFill>
            <a:srgbClr val="1B4332"/>
          </a:solidFill>
          <a:ln/>
        </p:spPr>
      </p:sp>
      <p:sp>
        <p:nvSpPr>
          <p:cNvPr id="11" name="Text 9"/>
          <p:cNvSpPr/>
          <p:nvPr/>
        </p:nvSpPr>
        <p:spPr>
          <a:xfrm>
            <a:off x="6035040" y="1005840"/>
            <a:ext cx="2651760" cy="594360"/>
          </a:xfrm>
          <a:prstGeom prst="rect">
            <a:avLst/>
          </a:prstGeom>
          <a:noFill/>
          <a:ln/>
        </p:spPr>
        <p:txBody>
          <a:bodyPr wrap="square" rtlCol="0" anchor="ctr"/>
          <a:lstStyle/>
          <a:p>
            <a:pPr marL="0" indent="0" algn="ctr">
              <a:buNone/>
            </a:pPr>
            <a:r>
              <a:rPr lang="en-US" sz="2600" b="1" dirty="0">
                <a:solidFill>
                  <a:srgbClr val="E9C46A"/>
                </a:solidFill>
                <a:latin typeface="Calibri" pitchFamily="34" charset="0"/>
                <a:ea typeface="Calibri" pitchFamily="34" charset="-122"/>
                <a:cs typeface="Calibri" pitchFamily="34" charset="-120"/>
              </a:rPr>
              <a:t>28</a:t>
            </a:r>
            <a:endParaRPr lang="en-US" sz="2600" dirty="0"/>
          </a:p>
        </p:txBody>
      </p:sp>
      <p:sp>
        <p:nvSpPr>
          <p:cNvPr id="12" name="Text 10"/>
          <p:cNvSpPr/>
          <p:nvPr/>
        </p:nvSpPr>
        <p:spPr>
          <a:xfrm>
            <a:off x="6035040" y="1600200"/>
            <a:ext cx="2651760" cy="32004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Participantes (14/prototipo)</a:t>
            </a:r>
            <a:endParaRPr lang="en-US" sz="1100" dirty="0"/>
          </a:p>
        </p:txBody>
      </p:sp>
      <p:sp>
        <p:nvSpPr>
          <p:cNvPr id="13" name="Shape 11"/>
          <p:cNvSpPr/>
          <p:nvPr/>
        </p:nvSpPr>
        <p:spPr>
          <a:xfrm>
            <a:off x="274320" y="2212848"/>
            <a:ext cx="2651760" cy="1188720"/>
          </a:xfrm>
          <a:prstGeom prst="roundRect">
            <a:avLst>
              <a:gd name="adj" fmla="val 7692"/>
            </a:avLst>
          </a:prstGeom>
          <a:solidFill>
            <a:srgbClr val="1B4332"/>
          </a:solidFill>
          <a:ln/>
        </p:spPr>
      </p:sp>
      <p:sp>
        <p:nvSpPr>
          <p:cNvPr id="14" name="Text 12"/>
          <p:cNvSpPr/>
          <p:nvPr/>
        </p:nvSpPr>
        <p:spPr>
          <a:xfrm>
            <a:off x="274320" y="2377440"/>
            <a:ext cx="2651760" cy="594360"/>
          </a:xfrm>
          <a:prstGeom prst="rect">
            <a:avLst/>
          </a:prstGeom>
          <a:noFill/>
          <a:ln/>
        </p:spPr>
        <p:txBody>
          <a:bodyPr wrap="square" rtlCol="0" anchor="ctr"/>
          <a:lstStyle/>
          <a:p>
            <a:pPr marL="0" indent="0" algn="ctr">
              <a:buNone/>
            </a:pPr>
            <a:r>
              <a:rPr lang="en-US" sz="2600" b="1" dirty="0">
                <a:solidFill>
                  <a:srgbClr val="E9C46A"/>
                </a:solidFill>
                <a:latin typeface="Calibri" pitchFamily="34" charset="0"/>
                <a:ea typeface="Calibri" pitchFamily="34" charset="-122"/>
                <a:cs typeface="Calibri" pitchFamily="34" charset="-120"/>
              </a:rPr>
              <a:t>7F + 7M</a:t>
            </a:r>
            <a:endParaRPr lang="en-US" sz="2600" dirty="0"/>
          </a:p>
        </p:txBody>
      </p:sp>
      <p:sp>
        <p:nvSpPr>
          <p:cNvPr id="15" name="Text 13"/>
          <p:cNvSpPr/>
          <p:nvPr/>
        </p:nvSpPr>
        <p:spPr>
          <a:xfrm>
            <a:off x="274320" y="2971800"/>
            <a:ext cx="2651760" cy="32004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Equilibrio de género</a:t>
            </a:r>
            <a:endParaRPr lang="en-US" sz="1100" dirty="0"/>
          </a:p>
        </p:txBody>
      </p:sp>
      <p:sp>
        <p:nvSpPr>
          <p:cNvPr id="16" name="Shape 14"/>
          <p:cNvSpPr/>
          <p:nvPr/>
        </p:nvSpPr>
        <p:spPr>
          <a:xfrm>
            <a:off x="3154680" y="2212848"/>
            <a:ext cx="2651760" cy="1188720"/>
          </a:xfrm>
          <a:prstGeom prst="roundRect">
            <a:avLst>
              <a:gd name="adj" fmla="val 7692"/>
            </a:avLst>
          </a:prstGeom>
          <a:solidFill>
            <a:srgbClr val="1B4332"/>
          </a:solidFill>
          <a:ln/>
        </p:spPr>
      </p:sp>
      <p:sp>
        <p:nvSpPr>
          <p:cNvPr id="17" name="Text 15"/>
          <p:cNvSpPr/>
          <p:nvPr/>
        </p:nvSpPr>
        <p:spPr>
          <a:xfrm>
            <a:off x="3154680" y="2377440"/>
            <a:ext cx="2651760" cy="594360"/>
          </a:xfrm>
          <a:prstGeom prst="rect">
            <a:avLst/>
          </a:prstGeom>
          <a:noFill/>
          <a:ln/>
        </p:spPr>
        <p:txBody>
          <a:bodyPr wrap="square" rtlCol="0" anchor="ctr"/>
          <a:lstStyle/>
          <a:p>
            <a:pPr marL="0" indent="0" algn="ctr">
              <a:buNone/>
            </a:pPr>
            <a:r>
              <a:rPr lang="en-US" sz="2600" b="1" dirty="0">
                <a:solidFill>
                  <a:srgbClr val="E9C46A"/>
                </a:solidFill>
                <a:latin typeface="Calibri" pitchFamily="34" charset="0"/>
                <a:ea typeface="Calibri" pitchFamily="34" charset="-122"/>
                <a:cs typeface="Calibri" pitchFamily="34" charset="-120"/>
              </a:rPr>
              <a:t>18–54</a:t>
            </a:r>
            <a:endParaRPr lang="en-US" sz="2600" dirty="0"/>
          </a:p>
        </p:txBody>
      </p:sp>
      <p:sp>
        <p:nvSpPr>
          <p:cNvPr id="18" name="Text 16"/>
          <p:cNvSpPr/>
          <p:nvPr/>
        </p:nvSpPr>
        <p:spPr>
          <a:xfrm>
            <a:off x="3154680" y="2971800"/>
            <a:ext cx="2651760" cy="32004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Rango de edad</a:t>
            </a:r>
            <a:endParaRPr lang="en-US" sz="1100" dirty="0"/>
          </a:p>
        </p:txBody>
      </p:sp>
      <p:sp>
        <p:nvSpPr>
          <p:cNvPr id="19" name="Text 17"/>
          <p:cNvSpPr/>
          <p:nvPr/>
        </p:nvSpPr>
        <p:spPr>
          <a:xfrm>
            <a:off x="365760" y="3339430"/>
            <a:ext cx="8412480" cy="274320"/>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Tareas completadas por cada participante (orden fijo):</a:t>
            </a:r>
            <a:endParaRPr lang="en-US" sz="1300" dirty="0"/>
          </a:p>
        </p:txBody>
      </p:sp>
      <p:sp>
        <p:nvSpPr>
          <p:cNvPr id="20" name="Shape 18"/>
          <p:cNvSpPr/>
          <p:nvPr/>
        </p:nvSpPr>
        <p:spPr>
          <a:xfrm>
            <a:off x="274320" y="3566160"/>
            <a:ext cx="1600200" cy="731520"/>
          </a:xfrm>
          <a:prstGeom prst="roundRect">
            <a:avLst>
              <a:gd name="adj" fmla="val 10000"/>
            </a:avLst>
          </a:prstGeom>
          <a:solidFill>
            <a:srgbClr val="40916C"/>
          </a:solidFill>
          <a:ln/>
        </p:spPr>
      </p:sp>
      <p:sp>
        <p:nvSpPr>
          <p:cNvPr id="21" name="Text 19"/>
          <p:cNvSpPr/>
          <p:nvPr/>
        </p:nvSpPr>
        <p:spPr>
          <a:xfrm>
            <a:off x="274320" y="3566160"/>
            <a:ext cx="1600200" cy="73152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T1 · Nueva solicitud</a:t>
            </a:r>
            <a:endParaRPr lang="en-US" sz="1000" dirty="0"/>
          </a:p>
        </p:txBody>
      </p:sp>
      <p:sp>
        <p:nvSpPr>
          <p:cNvPr id="22" name="Shape 20"/>
          <p:cNvSpPr/>
          <p:nvPr/>
        </p:nvSpPr>
        <p:spPr>
          <a:xfrm>
            <a:off x="1993392" y="3566160"/>
            <a:ext cx="1600200" cy="731520"/>
          </a:xfrm>
          <a:prstGeom prst="roundRect">
            <a:avLst>
              <a:gd name="adj" fmla="val 10000"/>
            </a:avLst>
          </a:prstGeom>
          <a:solidFill>
            <a:srgbClr val="40916C"/>
          </a:solidFill>
          <a:ln/>
        </p:spPr>
      </p:sp>
      <p:sp>
        <p:nvSpPr>
          <p:cNvPr id="23" name="Text 21"/>
          <p:cNvSpPr/>
          <p:nvPr/>
        </p:nvSpPr>
        <p:spPr>
          <a:xfrm>
            <a:off x="1993392" y="3566160"/>
            <a:ext cx="1600200" cy="73152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T2 · Aceptar solicitud</a:t>
            </a:r>
            <a:endParaRPr lang="en-US" sz="1000" dirty="0"/>
          </a:p>
        </p:txBody>
      </p:sp>
      <p:sp>
        <p:nvSpPr>
          <p:cNvPr id="24" name="Shape 22"/>
          <p:cNvSpPr/>
          <p:nvPr/>
        </p:nvSpPr>
        <p:spPr>
          <a:xfrm>
            <a:off x="3712464" y="3566160"/>
            <a:ext cx="1600200" cy="731520"/>
          </a:xfrm>
          <a:prstGeom prst="roundRect">
            <a:avLst>
              <a:gd name="adj" fmla="val 10000"/>
            </a:avLst>
          </a:prstGeom>
          <a:solidFill>
            <a:srgbClr val="40916C"/>
          </a:solidFill>
          <a:ln/>
        </p:spPr>
      </p:sp>
      <p:sp>
        <p:nvSpPr>
          <p:cNvPr id="25" name="Text 23"/>
          <p:cNvSpPr/>
          <p:nvPr/>
        </p:nvSpPr>
        <p:spPr>
          <a:xfrm>
            <a:off x="3712464" y="3566160"/>
            <a:ext cx="1600200" cy="73152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T3 · Ver solicitud</a:t>
            </a:r>
            <a:endParaRPr lang="en-US" sz="1000" dirty="0"/>
          </a:p>
        </p:txBody>
      </p:sp>
      <p:sp>
        <p:nvSpPr>
          <p:cNvPr id="26" name="Shape 24"/>
          <p:cNvSpPr/>
          <p:nvPr/>
        </p:nvSpPr>
        <p:spPr>
          <a:xfrm>
            <a:off x="5431536" y="3566160"/>
            <a:ext cx="1600200" cy="731520"/>
          </a:xfrm>
          <a:prstGeom prst="roundRect">
            <a:avLst>
              <a:gd name="adj" fmla="val 10000"/>
            </a:avLst>
          </a:prstGeom>
          <a:solidFill>
            <a:srgbClr val="40916C"/>
          </a:solidFill>
          <a:ln/>
        </p:spPr>
      </p:sp>
      <p:sp>
        <p:nvSpPr>
          <p:cNvPr id="27" name="Text 25"/>
          <p:cNvSpPr/>
          <p:nvPr/>
        </p:nvSpPr>
        <p:spPr>
          <a:xfrm>
            <a:off x="5431536" y="3566160"/>
            <a:ext cx="1600200" cy="73152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T4 · Rechazar solicitud</a:t>
            </a:r>
            <a:endParaRPr lang="en-US" sz="1000" dirty="0"/>
          </a:p>
        </p:txBody>
      </p:sp>
      <p:sp>
        <p:nvSpPr>
          <p:cNvPr id="28" name="Shape 26"/>
          <p:cNvSpPr/>
          <p:nvPr/>
        </p:nvSpPr>
        <p:spPr>
          <a:xfrm>
            <a:off x="7150608" y="3566160"/>
            <a:ext cx="1600200" cy="731520"/>
          </a:xfrm>
          <a:prstGeom prst="roundRect">
            <a:avLst>
              <a:gd name="adj" fmla="val 10000"/>
            </a:avLst>
          </a:prstGeom>
          <a:solidFill>
            <a:srgbClr val="40916C"/>
          </a:solidFill>
          <a:ln/>
        </p:spPr>
      </p:sp>
      <p:sp>
        <p:nvSpPr>
          <p:cNvPr id="29" name="Text 27"/>
          <p:cNvSpPr/>
          <p:nvPr/>
        </p:nvSpPr>
        <p:spPr>
          <a:xfrm>
            <a:off x="7150608" y="3566160"/>
            <a:ext cx="1600200" cy="73152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T5 · Compartir donación</a:t>
            </a:r>
            <a:endParaRPr lang="en-US" sz="1000" dirty="0"/>
          </a:p>
        </p:txBody>
      </p:sp>
      <p:sp>
        <p:nvSpPr>
          <p:cNvPr id="30" name="Shape 28"/>
          <p:cNvSpPr/>
          <p:nvPr/>
        </p:nvSpPr>
        <p:spPr>
          <a:xfrm>
            <a:off x="274320" y="4370832"/>
            <a:ext cx="8595360" cy="502920"/>
          </a:xfrm>
          <a:prstGeom prst="roundRect">
            <a:avLst>
              <a:gd name="adj" fmla="val 10909"/>
            </a:avLst>
          </a:prstGeom>
          <a:solidFill>
            <a:srgbClr val="E9F5EE"/>
          </a:solidFill>
          <a:ln/>
        </p:spPr>
      </p:sp>
      <p:sp>
        <p:nvSpPr>
          <p:cNvPr id="31" name="Text 29"/>
          <p:cNvSpPr/>
          <p:nvPr/>
        </p:nvSpPr>
        <p:spPr>
          <a:xfrm>
            <a:off x="411480" y="4416552"/>
            <a:ext cx="8321040" cy="411480"/>
          </a:xfrm>
          <a:prstGeom prst="rect">
            <a:avLst/>
          </a:prstGeom>
          <a:noFill/>
          <a:ln/>
        </p:spPr>
        <p:txBody>
          <a:bodyPr wrap="square" rtlCol="0" anchor="ctr"/>
          <a:lstStyle/>
          <a:p>
            <a:pPr marL="0" indent="0">
              <a:buNone/>
            </a:pPr>
            <a:r>
              <a:rPr lang="en-US" sz="1000" dirty="0">
                <a:solidFill>
                  <a:srgbClr val="212529"/>
                </a:solidFill>
                <a:latin typeface="Calibri" pitchFamily="34" charset="0"/>
                <a:ea typeface="Calibri" pitchFamily="34" charset="-122"/>
                <a:cs typeface="Calibri" pitchFamily="34" charset="-120"/>
              </a:rPr>
              <a:t>Métricas registradas por Loop11: Tiempo por tarea · Páginas visitadas · Éxito/Abandono · Índice de Lostness · Expectativa/Experiencia (1–7) · UMUX (4 ítems 1–7) · NPS (0–10)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p:spPr>
      </p:sp>
      <p:sp>
        <p:nvSpPr>
          <p:cNvPr id="3" name="Text 1"/>
          <p:cNvSpPr/>
          <p:nvPr/>
        </p:nvSpPr>
        <p:spPr>
          <a:xfrm>
            <a:off x="365760" y="109728"/>
            <a:ext cx="8412480" cy="47548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4. Personas Elegidas para el Test</a:t>
            </a:r>
            <a:endParaRPr lang="en-US" sz="2200" dirty="0"/>
          </a:p>
        </p:txBody>
      </p:sp>
      <p:sp>
        <p:nvSpPr>
          <p:cNvPr id="4" name="Shape 2"/>
          <p:cNvSpPr/>
          <p:nvPr/>
        </p:nvSpPr>
        <p:spPr>
          <a:xfrm>
            <a:off x="274320" y="822960"/>
            <a:ext cx="4206240" cy="4160520"/>
          </a:xfrm>
          <a:prstGeom prst="roundRect">
            <a:avLst>
              <a:gd name="adj" fmla="val 2637"/>
            </a:avLst>
          </a:prstGeom>
          <a:solidFill>
            <a:srgbClr val="FFFFFF"/>
          </a:solidFill>
          <a:ln/>
          <a:effectLst>
            <a:outerShdw blurRad="101600" dist="38100" dir="2700000" algn="bl" rotWithShape="0">
              <a:srgbClr val="000000">
                <a:alpha val="12000"/>
              </a:srgbClr>
            </a:outerShdw>
          </a:effectLst>
        </p:spPr>
      </p:sp>
      <p:sp>
        <p:nvSpPr>
          <p:cNvPr id="5" name="Shape 3"/>
          <p:cNvSpPr/>
          <p:nvPr/>
        </p:nvSpPr>
        <p:spPr>
          <a:xfrm>
            <a:off x="274320" y="822960"/>
            <a:ext cx="4206240" cy="731520"/>
          </a:xfrm>
          <a:prstGeom prst="roundRect">
            <a:avLst>
              <a:gd name="adj" fmla="val 15000"/>
            </a:avLst>
          </a:prstGeom>
          <a:solidFill>
            <a:srgbClr val="6C63A8"/>
          </a:solidFill>
          <a:ln/>
        </p:spPr>
      </p:sp>
      <p:sp>
        <p:nvSpPr>
          <p:cNvPr id="6" name="Shape 4"/>
          <p:cNvSpPr/>
          <p:nvPr/>
        </p:nvSpPr>
        <p:spPr>
          <a:xfrm>
            <a:off x="274320" y="1188720"/>
            <a:ext cx="4206240" cy="365760"/>
          </a:xfrm>
          <a:prstGeom prst="rect">
            <a:avLst/>
          </a:prstGeom>
          <a:solidFill>
            <a:srgbClr val="6C63A8"/>
          </a:solidFill>
          <a:ln/>
        </p:spPr>
      </p:sp>
      <p:sp>
        <p:nvSpPr>
          <p:cNvPr id="7" name="Text 5"/>
          <p:cNvSpPr/>
          <p:nvPr/>
        </p:nvSpPr>
        <p:spPr>
          <a:xfrm>
            <a:off x="411480" y="859536"/>
            <a:ext cx="3931920" cy="347472"/>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Laura Martínez</a:t>
            </a:r>
            <a:endParaRPr lang="en-US" sz="1500" dirty="0"/>
          </a:p>
        </p:txBody>
      </p:sp>
      <p:sp>
        <p:nvSpPr>
          <p:cNvPr id="8" name="Text 6"/>
          <p:cNvSpPr/>
          <p:nvPr/>
        </p:nvSpPr>
        <p:spPr>
          <a:xfrm>
            <a:off x="411480" y="1207008"/>
            <a:ext cx="3931920" cy="27432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DONANTE · Desktop Windows</a:t>
            </a:r>
            <a:endParaRPr lang="en-US" sz="1000" dirty="0"/>
          </a:p>
        </p:txBody>
      </p:sp>
      <p:sp>
        <p:nvSpPr>
          <p:cNvPr id="9" name="Text 7"/>
          <p:cNvSpPr/>
          <p:nvPr/>
        </p:nvSpPr>
        <p:spPr>
          <a:xfrm>
            <a:off x="411480" y="1664208"/>
            <a:ext cx="3931920" cy="182880"/>
          </a:xfrm>
          <a:prstGeom prst="rect">
            <a:avLst/>
          </a:prstGeom>
          <a:noFill/>
          <a:ln/>
        </p:spPr>
        <p:txBody>
          <a:bodyPr wrap="square" lIns="0" tIns="0" rIns="0" bIns="0" rtlCol="0" anchor="ctr"/>
          <a:lstStyle/>
          <a:p>
            <a:pPr marL="0" indent="0">
              <a:buNone/>
            </a:pPr>
            <a:r>
              <a:rPr lang="en-US" sz="950" b="1" dirty="0">
                <a:solidFill>
                  <a:srgbClr val="6C63A8"/>
                </a:solidFill>
                <a:latin typeface="Calibri" pitchFamily="34" charset="0"/>
                <a:ea typeface="Calibri" pitchFamily="34" charset="-122"/>
                <a:cs typeface="Calibri" pitchFamily="34" charset="-120"/>
              </a:rPr>
              <a:t>Edad / Género:</a:t>
            </a:r>
            <a:endParaRPr lang="en-US" sz="950" dirty="0"/>
          </a:p>
        </p:txBody>
      </p:sp>
      <p:sp>
        <p:nvSpPr>
          <p:cNvPr id="10" name="Text 8"/>
          <p:cNvSpPr/>
          <p:nvPr/>
        </p:nvSpPr>
        <p:spPr>
          <a:xfrm>
            <a:off x="411480" y="1847088"/>
            <a:ext cx="3931920" cy="45720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32 años · Femenino</a:t>
            </a:r>
            <a:endParaRPr lang="en-US" sz="900" dirty="0"/>
          </a:p>
        </p:txBody>
      </p:sp>
      <p:sp>
        <p:nvSpPr>
          <p:cNvPr id="11" name="Text 9"/>
          <p:cNvSpPr/>
          <p:nvPr/>
        </p:nvSpPr>
        <p:spPr>
          <a:xfrm>
            <a:off x="411480" y="2304288"/>
            <a:ext cx="3931920" cy="182880"/>
          </a:xfrm>
          <a:prstGeom prst="rect">
            <a:avLst/>
          </a:prstGeom>
          <a:noFill/>
          <a:ln/>
        </p:spPr>
        <p:txBody>
          <a:bodyPr wrap="square" lIns="0" tIns="0" rIns="0" bIns="0" rtlCol="0" anchor="ctr"/>
          <a:lstStyle/>
          <a:p>
            <a:pPr marL="0" indent="0">
              <a:buNone/>
            </a:pPr>
            <a:r>
              <a:rPr lang="en-US" sz="950" b="1" dirty="0">
                <a:solidFill>
                  <a:srgbClr val="6C63A8"/>
                </a:solidFill>
                <a:latin typeface="Calibri" pitchFamily="34" charset="0"/>
                <a:ea typeface="Calibri" pitchFamily="34" charset="-122"/>
                <a:cs typeface="Calibri" pitchFamily="34" charset="-120"/>
              </a:rPr>
              <a:t>Ocupación:</a:t>
            </a:r>
            <a:endParaRPr lang="en-US" sz="950" dirty="0"/>
          </a:p>
        </p:txBody>
      </p:sp>
      <p:sp>
        <p:nvSpPr>
          <p:cNvPr id="12" name="Text 10"/>
          <p:cNvSpPr/>
          <p:nvPr/>
        </p:nvSpPr>
        <p:spPr>
          <a:xfrm>
            <a:off x="411480" y="2487168"/>
            <a:ext cx="3931920" cy="45720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Responsable de logística en supermercado mediano en Barcelona. Gestiona semanalmente excedentes de frutas, verduras y panadería.</a:t>
            </a:r>
            <a:endParaRPr lang="en-US" sz="900" dirty="0"/>
          </a:p>
        </p:txBody>
      </p:sp>
      <p:sp>
        <p:nvSpPr>
          <p:cNvPr id="13" name="Text 11"/>
          <p:cNvSpPr/>
          <p:nvPr/>
        </p:nvSpPr>
        <p:spPr>
          <a:xfrm>
            <a:off x="411480" y="2944368"/>
            <a:ext cx="3931920" cy="182880"/>
          </a:xfrm>
          <a:prstGeom prst="rect">
            <a:avLst/>
          </a:prstGeom>
          <a:noFill/>
          <a:ln/>
        </p:spPr>
        <p:txBody>
          <a:bodyPr wrap="square" lIns="0" tIns="0" rIns="0" bIns="0" rtlCol="0" anchor="ctr"/>
          <a:lstStyle/>
          <a:p>
            <a:pPr marL="0" indent="0">
              <a:buNone/>
            </a:pPr>
            <a:r>
              <a:rPr lang="en-US" sz="950" b="1" dirty="0">
                <a:solidFill>
                  <a:srgbClr val="6C63A8"/>
                </a:solidFill>
                <a:latin typeface="Calibri" pitchFamily="34" charset="0"/>
                <a:ea typeface="Calibri" pitchFamily="34" charset="-122"/>
                <a:cs typeface="Calibri" pitchFamily="34" charset="-120"/>
              </a:rPr>
              <a:t>Motivación:</a:t>
            </a:r>
            <a:endParaRPr lang="en-US" sz="950" dirty="0"/>
          </a:p>
        </p:txBody>
      </p:sp>
      <p:sp>
        <p:nvSpPr>
          <p:cNvPr id="14" name="Text 12"/>
          <p:cNvSpPr/>
          <p:nvPr/>
        </p:nvSpPr>
        <p:spPr>
          <a:xfrm>
            <a:off x="411480" y="3127248"/>
            <a:ext cx="3931920" cy="45720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Reducir el desperdicio donando excedentes antes de que caduquen. Familiar con formularios web, sin experiencia técnica.</a:t>
            </a:r>
            <a:endParaRPr lang="en-US" sz="900" dirty="0"/>
          </a:p>
        </p:txBody>
      </p:sp>
      <p:sp>
        <p:nvSpPr>
          <p:cNvPr id="15" name="Text 13"/>
          <p:cNvSpPr/>
          <p:nvPr/>
        </p:nvSpPr>
        <p:spPr>
          <a:xfrm>
            <a:off x="411480" y="3584448"/>
            <a:ext cx="3931920" cy="182880"/>
          </a:xfrm>
          <a:prstGeom prst="rect">
            <a:avLst/>
          </a:prstGeom>
          <a:noFill/>
          <a:ln/>
        </p:spPr>
        <p:txBody>
          <a:bodyPr wrap="square" lIns="0" tIns="0" rIns="0" bIns="0" rtlCol="0" anchor="ctr"/>
          <a:lstStyle/>
          <a:p>
            <a:pPr marL="0" indent="0">
              <a:buNone/>
            </a:pPr>
            <a:r>
              <a:rPr lang="en-US" sz="950" b="1" dirty="0">
                <a:solidFill>
                  <a:srgbClr val="6C63A8"/>
                </a:solidFill>
                <a:latin typeface="Calibri" pitchFamily="34" charset="0"/>
                <a:ea typeface="Calibri" pitchFamily="34" charset="-122"/>
                <a:cs typeface="Calibri" pitchFamily="34" charset="-120"/>
              </a:rPr>
              <a:t>Objetivo en el test:</a:t>
            </a:r>
            <a:endParaRPr lang="en-US" sz="950" dirty="0"/>
          </a:p>
        </p:txBody>
      </p:sp>
      <p:sp>
        <p:nvSpPr>
          <p:cNvPr id="16" name="Text 14"/>
          <p:cNvSpPr/>
          <p:nvPr/>
        </p:nvSpPr>
        <p:spPr>
          <a:xfrm>
            <a:off x="411480" y="3767328"/>
            <a:ext cx="3931920" cy="45720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Publicar donación nueva, revisar solicitudes recibidas y aprobar/rechazar alguna.</a:t>
            </a:r>
            <a:endParaRPr lang="en-US" sz="900" dirty="0"/>
          </a:p>
        </p:txBody>
      </p:sp>
      <p:sp>
        <p:nvSpPr>
          <p:cNvPr id="17" name="Text 15"/>
          <p:cNvSpPr/>
          <p:nvPr/>
        </p:nvSpPr>
        <p:spPr>
          <a:xfrm>
            <a:off x="411480" y="4224528"/>
            <a:ext cx="3931920" cy="182880"/>
          </a:xfrm>
          <a:prstGeom prst="rect">
            <a:avLst/>
          </a:prstGeom>
          <a:noFill/>
          <a:ln/>
        </p:spPr>
        <p:txBody>
          <a:bodyPr wrap="square" lIns="0" tIns="0" rIns="0" bIns="0" rtlCol="0" anchor="ctr"/>
          <a:lstStyle/>
          <a:p>
            <a:pPr marL="0" indent="0">
              <a:buNone/>
            </a:pPr>
            <a:r>
              <a:rPr lang="en-US" sz="950" b="1" dirty="0">
                <a:solidFill>
                  <a:srgbClr val="6C63A8"/>
                </a:solidFill>
                <a:latin typeface="Calibri" pitchFamily="34" charset="0"/>
                <a:ea typeface="Calibri" pitchFamily="34" charset="-122"/>
                <a:cs typeface="Calibri" pitchFamily="34" charset="-120"/>
              </a:rPr>
              <a:t>Perfil de la muestra:</a:t>
            </a:r>
            <a:endParaRPr lang="en-US" sz="950" dirty="0"/>
          </a:p>
        </p:txBody>
      </p:sp>
      <p:sp>
        <p:nvSpPr>
          <p:cNvPr id="18" name="Text 16"/>
          <p:cNvSpPr/>
          <p:nvPr/>
        </p:nvSpPr>
        <p:spPr>
          <a:xfrm>
            <a:off x="411480" y="4407408"/>
            <a:ext cx="3931920" cy="45720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Edad 27–38 · Interés dominio 4–7/7 · Experiencia 2–4/7 · Interés app móvil 4/7</a:t>
            </a:r>
            <a:endParaRPr lang="en-US" sz="900" dirty="0"/>
          </a:p>
        </p:txBody>
      </p:sp>
      <p:sp>
        <p:nvSpPr>
          <p:cNvPr id="19" name="Shape 17"/>
          <p:cNvSpPr/>
          <p:nvPr/>
        </p:nvSpPr>
        <p:spPr>
          <a:xfrm>
            <a:off x="4754880" y="822960"/>
            <a:ext cx="4206240" cy="4160520"/>
          </a:xfrm>
          <a:prstGeom prst="roundRect">
            <a:avLst>
              <a:gd name="adj" fmla="val 2637"/>
            </a:avLst>
          </a:prstGeom>
          <a:solidFill>
            <a:srgbClr val="FFFFFF"/>
          </a:solidFill>
          <a:ln/>
          <a:effectLst>
            <a:outerShdw blurRad="101600" dist="38100" dir="2700000" algn="bl" rotWithShape="0">
              <a:srgbClr val="000000">
                <a:alpha val="12000"/>
              </a:srgbClr>
            </a:outerShdw>
          </a:effectLst>
        </p:spPr>
      </p:sp>
      <p:sp>
        <p:nvSpPr>
          <p:cNvPr id="20" name="Shape 18"/>
          <p:cNvSpPr/>
          <p:nvPr/>
        </p:nvSpPr>
        <p:spPr>
          <a:xfrm>
            <a:off x="4754880" y="822960"/>
            <a:ext cx="4206240" cy="731520"/>
          </a:xfrm>
          <a:prstGeom prst="roundRect">
            <a:avLst>
              <a:gd name="adj" fmla="val 15000"/>
            </a:avLst>
          </a:prstGeom>
          <a:solidFill>
            <a:srgbClr val="F4A261"/>
          </a:solidFill>
          <a:ln/>
        </p:spPr>
      </p:sp>
      <p:sp>
        <p:nvSpPr>
          <p:cNvPr id="21" name="Shape 19"/>
          <p:cNvSpPr/>
          <p:nvPr/>
        </p:nvSpPr>
        <p:spPr>
          <a:xfrm>
            <a:off x="4754880" y="1188720"/>
            <a:ext cx="4206240" cy="365760"/>
          </a:xfrm>
          <a:prstGeom prst="rect">
            <a:avLst/>
          </a:prstGeom>
          <a:solidFill>
            <a:srgbClr val="F4A261"/>
          </a:solidFill>
          <a:ln/>
        </p:spPr>
      </p:sp>
      <p:sp>
        <p:nvSpPr>
          <p:cNvPr id="22" name="Text 20"/>
          <p:cNvSpPr/>
          <p:nvPr/>
        </p:nvSpPr>
        <p:spPr>
          <a:xfrm>
            <a:off x="4892040" y="859536"/>
            <a:ext cx="3931920" cy="347472"/>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Carla Romero</a:t>
            </a:r>
            <a:endParaRPr lang="en-US" sz="1500" dirty="0"/>
          </a:p>
        </p:txBody>
      </p:sp>
      <p:sp>
        <p:nvSpPr>
          <p:cNvPr id="23" name="Text 21"/>
          <p:cNvSpPr/>
          <p:nvPr/>
        </p:nvSpPr>
        <p:spPr>
          <a:xfrm>
            <a:off x="4892040" y="1207008"/>
            <a:ext cx="3931920" cy="27432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ONG / RECEPTOR · Mobile Android</a:t>
            </a:r>
            <a:endParaRPr lang="en-US" sz="1000" dirty="0"/>
          </a:p>
        </p:txBody>
      </p:sp>
      <p:sp>
        <p:nvSpPr>
          <p:cNvPr id="24" name="Text 22"/>
          <p:cNvSpPr/>
          <p:nvPr/>
        </p:nvSpPr>
        <p:spPr>
          <a:xfrm>
            <a:off x="4892040" y="1664208"/>
            <a:ext cx="3931920" cy="182880"/>
          </a:xfrm>
          <a:prstGeom prst="rect">
            <a:avLst/>
          </a:prstGeom>
          <a:noFill/>
          <a:ln/>
        </p:spPr>
        <p:txBody>
          <a:bodyPr wrap="square" lIns="0" tIns="0" rIns="0" bIns="0" rtlCol="0" anchor="ctr"/>
          <a:lstStyle/>
          <a:p>
            <a:pPr marL="0" indent="0">
              <a:buNone/>
            </a:pPr>
            <a:r>
              <a:rPr lang="en-US" sz="950" b="1" dirty="0">
                <a:solidFill>
                  <a:srgbClr val="F4A261"/>
                </a:solidFill>
                <a:latin typeface="Calibri" pitchFamily="34" charset="0"/>
                <a:ea typeface="Calibri" pitchFamily="34" charset="-122"/>
                <a:cs typeface="Calibri" pitchFamily="34" charset="-120"/>
              </a:rPr>
              <a:t>Edad / Género:</a:t>
            </a:r>
            <a:endParaRPr lang="en-US" sz="950" dirty="0"/>
          </a:p>
        </p:txBody>
      </p:sp>
      <p:sp>
        <p:nvSpPr>
          <p:cNvPr id="25" name="Text 23"/>
          <p:cNvSpPr/>
          <p:nvPr/>
        </p:nvSpPr>
        <p:spPr>
          <a:xfrm>
            <a:off x="4892040" y="1847088"/>
            <a:ext cx="3931920" cy="45720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41 años · Femenino</a:t>
            </a:r>
            <a:endParaRPr lang="en-US" sz="900" dirty="0"/>
          </a:p>
        </p:txBody>
      </p:sp>
      <p:sp>
        <p:nvSpPr>
          <p:cNvPr id="26" name="Text 24"/>
          <p:cNvSpPr/>
          <p:nvPr/>
        </p:nvSpPr>
        <p:spPr>
          <a:xfrm>
            <a:off x="4892040" y="2304288"/>
            <a:ext cx="3931920" cy="182880"/>
          </a:xfrm>
          <a:prstGeom prst="rect">
            <a:avLst/>
          </a:prstGeom>
          <a:noFill/>
          <a:ln/>
        </p:spPr>
        <p:txBody>
          <a:bodyPr wrap="square" lIns="0" tIns="0" rIns="0" bIns="0" rtlCol="0" anchor="ctr"/>
          <a:lstStyle/>
          <a:p>
            <a:pPr marL="0" indent="0">
              <a:buNone/>
            </a:pPr>
            <a:r>
              <a:rPr lang="en-US" sz="950" b="1" dirty="0">
                <a:solidFill>
                  <a:srgbClr val="F4A261"/>
                </a:solidFill>
                <a:latin typeface="Calibri" pitchFamily="34" charset="0"/>
                <a:ea typeface="Calibri" pitchFamily="34" charset="-122"/>
                <a:cs typeface="Calibri" pitchFamily="34" charset="-120"/>
              </a:rPr>
              <a:t>Ocupación:</a:t>
            </a:r>
            <a:endParaRPr lang="en-US" sz="950" dirty="0"/>
          </a:p>
        </p:txBody>
      </p:sp>
      <p:sp>
        <p:nvSpPr>
          <p:cNvPr id="27" name="Text 25"/>
          <p:cNvSpPr/>
          <p:nvPr/>
        </p:nvSpPr>
        <p:spPr>
          <a:xfrm>
            <a:off x="4892040" y="2487168"/>
            <a:ext cx="3931920" cy="45720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Coordinadora de captación de recursos en banco de alimentos. Gestiona múltiples contactos con donantes a diario.</a:t>
            </a:r>
            <a:endParaRPr lang="en-US" sz="900" dirty="0"/>
          </a:p>
        </p:txBody>
      </p:sp>
      <p:sp>
        <p:nvSpPr>
          <p:cNvPr id="28" name="Text 26"/>
          <p:cNvSpPr/>
          <p:nvPr/>
        </p:nvSpPr>
        <p:spPr>
          <a:xfrm>
            <a:off x="4892040" y="2944368"/>
            <a:ext cx="3931920" cy="182880"/>
          </a:xfrm>
          <a:prstGeom prst="rect">
            <a:avLst/>
          </a:prstGeom>
          <a:noFill/>
          <a:ln/>
        </p:spPr>
        <p:txBody>
          <a:bodyPr wrap="square" lIns="0" tIns="0" rIns="0" bIns="0" rtlCol="0" anchor="ctr"/>
          <a:lstStyle/>
          <a:p>
            <a:pPr marL="0" indent="0">
              <a:buNone/>
            </a:pPr>
            <a:r>
              <a:rPr lang="en-US" sz="950" b="1" dirty="0">
                <a:solidFill>
                  <a:srgbClr val="F4A261"/>
                </a:solidFill>
                <a:latin typeface="Calibri" pitchFamily="34" charset="0"/>
                <a:ea typeface="Calibri" pitchFamily="34" charset="-122"/>
                <a:cs typeface="Calibri" pitchFamily="34" charset="-120"/>
              </a:rPr>
              <a:t>Motivación:</a:t>
            </a:r>
            <a:endParaRPr lang="en-US" sz="950" dirty="0"/>
          </a:p>
        </p:txBody>
      </p:sp>
      <p:sp>
        <p:nvSpPr>
          <p:cNvPr id="29" name="Text 27"/>
          <p:cNvSpPr/>
          <p:nvPr/>
        </p:nvSpPr>
        <p:spPr>
          <a:xfrm>
            <a:off x="4892040" y="3127248"/>
            <a:ext cx="3931920" cy="45720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Ver donaciones disponibles cerca, crear solicitud y recibir confirmación sin llamadas. Usa el móvil en movimiento.</a:t>
            </a:r>
            <a:endParaRPr lang="en-US" sz="900" dirty="0"/>
          </a:p>
        </p:txBody>
      </p:sp>
      <p:sp>
        <p:nvSpPr>
          <p:cNvPr id="30" name="Text 28"/>
          <p:cNvSpPr/>
          <p:nvPr/>
        </p:nvSpPr>
        <p:spPr>
          <a:xfrm>
            <a:off x="4892040" y="3584448"/>
            <a:ext cx="3931920" cy="182880"/>
          </a:xfrm>
          <a:prstGeom prst="rect">
            <a:avLst/>
          </a:prstGeom>
          <a:noFill/>
          <a:ln/>
        </p:spPr>
        <p:txBody>
          <a:bodyPr wrap="square" lIns="0" tIns="0" rIns="0" bIns="0" rtlCol="0" anchor="ctr"/>
          <a:lstStyle/>
          <a:p>
            <a:pPr marL="0" indent="0">
              <a:buNone/>
            </a:pPr>
            <a:r>
              <a:rPr lang="en-US" sz="950" b="1" dirty="0">
                <a:solidFill>
                  <a:srgbClr val="F4A261"/>
                </a:solidFill>
                <a:latin typeface="Calibri" pitchFamily="34" charset="0"/>
                <a:ea typeface="Calibri" pitchFamily="34" charset="-122"/>
                <a:cs typeface="Calibri" pitchFamily="34" charset="-120"/>
              </a:rPr>
              <a:t>Objetivo en el test:</a:t>
            </a:r>
            <a:endParaRPr lang="en-US" sz="950" dirty="0"/>
          </a:p>
        </p:txBody>
      </p:sp>
      <p:sp>
        <p:nvSpPr>
          <p:cNvPr id="31" name="Text 29"/>
          <p:cNvSpPr/>
          <p:nvPr/>
        </p:nvSpPr>
        <p:spPr>
          <a:xfrm>
            <a:off x="4892040" y="3767328"/>
            <a:ext cx="3931920" cy="45720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Navegar donaciones, crear nueva solicitud, consultar su estado y entender cómo publicar donación propia.</a:t>
            </a:r>
            <a:endParaRPr lang="en-US" sz="900" dirty="0"/>
          </a:p>
        </p:txBody>
      </p:sp>
      <p:sp>
        <p:nvSpPr>
          <p:cNvPr id="32" name="Text 30"/>
          <p:cNvSpPr/>
          <p:nvPr/>
        </p:nvSpPr>
        <p:spPr>
          <a:xfrm>
            <a:off x="4892040" y="4224528"/>
            <a:ext cx="3931920" cy="182880"/>
          </a:xfrm>
          <a:prstGeom prst="rect">
            <a:avLst/>
          </a:prstGeom>
          <a:noFill/>
          <a:ln/>
        </p:spPr>
        <p:txBody>
          <a:bodyPr wrap="square" lIns="0" tIns="0" rIns="0" bIns="0" rtlCol="0" anchor="ctr"/>
          <a:lstStyle/>
          <a:p>
            <a:pPr marL="0" indent="0">
              <a:buNone/>
            </a:pPr>
            <a:r>
              <a:rPr lang="en-US" sz="950" b="1" dirty="0">
                <a:solidFill>
                  <a:srgbClr val="F4A261"/>
                </a:solidFill>
                <a:latin typeface="Calibri" pitchFamily="34" charset="0"/>
                <a:ea typeface="Calibri" pitchFamily="34" charset="-122"/>
                <a:cs typeface="Calibri" pitchFamily="34" charset="-120"/>
              </a:rPr>
              <a:t>Perfil de la muestra:</a:t>
            </a:r>
            <a:endParaRPr lang="en-US" sz="950" dirty="0"/>
          </a:p>
        </p:txBody>
      </p:sp>
      <p:sp>
        <p:nvSpPr>
          <p:cNvPr id="33" name="Text 31"/>
          <p:cNvSpPr/>
          <p:nvPr/>
        </p:nvSpPr>
        <p:spPr>
          <a:xfrm>
            <a:off x="4892040" y="4407408"/>
            <a:ext cx="3931920" cy="45720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Edad 38–49 · Interés dominio 4–7/7 · Experiencia 3–6/7 · Interés app móvil 4–7/7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p:spPr>
      </p:sp>
      <p:sp>
        <p:nvSpPr>
          <p:cNvPr id="3" name="Text 1"/>
          <p:cNvSpPr/>
          <p:nvPr/>
        </p:nvSpPr>
        <p:spPr>
          <a:xfrm>
            <a:off x="365760" y="109728"/>
            <a:ext cx="8412480" cy="475488"/>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5. Rendimiento: T2 — Aceptar Solicitud (Mayor Divergencia de Tiempo)</a:t>
            </a:r>
            <a:endParaRPr lang="en-US" sz="1800" dirty="0"/>
          </a:p>
        </p:txBody>
      </p:sp>
      <p:sp>
        <p:nvSpPr>
          <p:cNvPr id="4" name="Shape 2"/>
          <p:cNvSpPr/>
          <p:nvPr/>
        </p:nvSpPr>
        <p:spPr>
          <a:xfrm>
            <a:off x="274320" y="777240"/>
            <a:ext cx="8595360" cy="594360"/>
          </a:xfrm>
          <a:prstGeom prst="roundRect">
            <a:avLst>
              <a:gd name="adj" fmla="val 12308"/>
            </a:avLst>
          </a:prstGeom>
          <a:solidFill>
            <a:srgbClr val="E9F5EE"/>
          </a:solidFill>
          <a:ln/>
        </p:spPr>
      </p:sp>
      <p:sp>
        <p:nvSpPr>
          <p:cNvPr id="5" name="Text 3"/>
          <p:cNvSpPr/>
          <p:nvPr/>
        </p:nvSpPr>
        <p:spPr>
          <a:xfrm>
            <a:off x="457200" y="804672"/>
            <a:ext cx="8229600" cy="530352"/>
          </a:xfrm>
          <a:prstGeom prst="rect">
            <a:avLst/>
          </a:prstGeom>
          <a:noFill/>
          <a:ln/>
        </p:spPr>
        <p:txBody>
          <a:bodyPr wrap="square" rtlCol="0" anchor="ctr"/>
          <a:lstStyle/>
          <a:p>
            <a:pPr marL="0" indent="0">
              <a:buNone/>
            </a:pPr>
            <a:r>
              <a:rPr lang="en-US" sz="950" i="1" dirty="0">
                <a:solidFill>
                  <a:srgbClr val="1B4332"/>
                </a:solidFill>
                <a:latin typeface="Calibri" pitchFamily="34" charset="0"/>
                <a:ea typeface="Calibri" pitchFamily="34" charset="-122"/>
                <a:cs typeface="Calibri" pitchFamily="34" charset="-120"/>
              </a:rPr>
              <a:t>Escenario T2: "Eres el responsable de una organización benéfica que acaba de recibir una notificación de nueva solicitud de donación. Accede a la plataforma, localiza esa solicitud pendiente y apruébala para que el donante pueda proceder a preparar la entrega."</a:t>
            </a:r>
            <a:endParaRPr lang="en-US" sz="950" dirty="0"/>
          </a:p>
        </p:txBody>
      </p:sp>
      <p:sp>
        <p:nvSpPr>
          <p:cNvPr id="6" name="Shape 4"/>
          <p:cNvSpPr/>
          <p:nvPr/>
        </p:nvSpPr>
        <p:spPr>
          <a:xfrm>
            <a:off x="274320" y="1463040"/>
            <a:ext cx="5212080" cy="329184"/>
          </a:xfrm>
          <a:prstGeom prst="rect">
            <a:avLst/>
          </a:prstGeom>
          <a:solidFill>
            <a:srgbClr val="1B4332"/>
          </a:solidFill>
          <a:ln/>
        </p:spPr>
      </p:sp>
      <p:sp>
        <p:nvSpPr>
          <p:cNvPr id="7" name="Text 5"/>
          <p:cNvSpPr/>
          <p:nvPr/>
        </p:nvSpPr>
        <p:spPr>
          <a:xfrm>
            <a:off x="329184" y="1508760"/>
            <a:ext cx="2194560" cy="2468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Métrica</a:t>
            </a:r>
            <a:endParaRPr lang="en-US" sz="1000" dirty="0"/>
          </a:p>
        </p:txBody>
      </p:sp>
      <p:sp>
        <p:nvSpPr>
          <p:cNvPr id="8" name="Text 6"/>
          <p:cNvSpPr/>
          <p:nvPr/>
        </p:nvSpPr>
        <p:spPr>
          <a:xfrm>
            <a:off x="2615184" y="1508760"/>
            <a:ext cx="1280160" cy="2468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Prototipo A</a:t>
            </a:r>
            <a:endParaRPr lang="en-US" sz="1000" dirty="0"/>
          </a:p>
        </p:txBody>
      </p:sp>
      <p:sp>
        <p:nvSpPr>
          <p:cNvPr id="9" name="Text 7"/>
          <p:cNvSpPr/>
          <p:nvPr/>
        </p:nvSpPr>
        <p:spPr>
          <a:xfrm>
            <a:off x="3986784" y="1508760"/>
            <a:ext cx="1371600" cy="2468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Prototipo B</a:t>
            </a:r>
            <a:endParaRPr lang="en-US" sz="1000" dirty="0"/>
          </a:p>
        </p:txBody>
      </p:sp>
      <p:sp>
        <p:nvSpPr>
          <p:cNvPr id="10" name="Shape 8"/>
          <p:cNvSpPr/>
          <p:nvPr/>
        </p:nvSpPr>
        <p:spPr>
          <a:xfrm>
            <a:off x="274320" y="1810512"/>
            <a:ext cx="5212080" cy="329184"/>
          </a:xfrm>
          <a:prstGeom prst="rect">
            <a:avLst/>
          </a:prstGeom>
          <a:solidFill>
            <a:srgbClr val="FFFFFF"/>
          </a:solidFill>
          <a:ln/>
        </p:spPr>
      </p:sp>
      <p:sp>
        <p:nvSpPr>
          <p:cNvPr id="11" name="Text 9"/>
          <p:cNvSpPr/>
          <p:nvPr/>
        </p:nvSpPr>
        <p:spPr>
          <a:xfrm>
            <a:off x="329184" y="1856232"/>
            <a:ext cx="2194560" cy="246888"/>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Tiempo medio</a:t>
            </a:r>
            <a:endParaRPr lang="en-US" sz="950" dirty="0"/>
          </a:p>
        </p:txBody>
      </p:sp>
      <p:sp>
        <p:nvSpPr>
          <p:cNvPr id="12" name="Text 10"/>
          <p:cNvSpPr/>
          <p:nvPr/>
        </p:nvSpPr>
        <p:spPr>
          <a:xfrm>
            <a:off x="2615184" y="1856232"/>
            <a:ext cx="1280160" cy="246888"/>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66 s  ✓</a:t>
            </a:r>
            <a:endParaRPr lang="en-US" sz="950" dirty="0"/>
          </a:p>
        </p:txBody>
      </p:sp>
      <p:sp>
        <p:nvSpPr>
          <p:cNvPr id="13" name="Text 11"/>
          <p:cNvSpPr/>
          <p:nvPr/>
        </p:nvSpPr>
        <p:spPr>
          <a:xfrm>
            <a:off x="3986784" y="1856232"/>
            <a:ext cx="1371600" cy="246888"/>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91 s  ✗  (+38%)</a:t>
            </a:r>
            <a:endParaRPr lang="en-US" sz="950" dirty="0"/>
          </a:p>
        </p:txBody>
      </p:sp>
      <p:sp>
        <p:nvSpPr>
          <p:cNvPr id="14" name="Shape 12"/>
          <p:cNvSpPr/>
          <p:nvPr/>
        </p:nvSpPr>
        <p:spPr>
          <a:xfrm>
            <a:off x="274320" y="2157984"/>
            <a:ext cx="5212080" cy="329184"/>
          </a:xfrm>
          <a:prstGeom prst="rect">
            <a:avLst/>
          </a:prstGeom>
          <a:solidFill>
            <a:srgbClr val="E9F5EE"/>
          </a:solidFill>
          <a:ln/>
        </p:spPr>
      </p:sp>
      <p:sp>
        <p:nvSpPr>
          <p:cNvPr id="15" name="Text 13"/>
          <p:cNvSpPr/>
          <p:nvPr/>
        </p:nvSpPr>
        <p:spPr>
          <a:xfrm>
            <a:off x="329184" y="2203704"/>
            <a:ext cx="2194560" cy="246888"/>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Nº mínimo de pasos</a:t>
            </a:r>
            <a:endParaRPr lang="en-US" sz="950" dirty="0"/>
          </a:p>
        </p:txBody>
      </p:sp>
      <p:sp>
        <p:nvSpPr>
          <p:cNvPr id="16" name="Text 14"/>
          <p:cNvSpPr/>
          <p:nvPr/>
        </p:nvSpPr>
        <p:spPr>
          <a:xfrm>
            <a:off x="2615184" y="2203704"/>
            <a:ext cx="1280160" cy="246888"/>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3</a:t>
            </a:r>
            <a:endParaRPr lang="en-US" sz="950" dirty="0"/>
          </a:p>
        </p:txBody>
      </p:sp>
      <p:sp>
        <p:nvSpPr>
          <p:cNvPr id="17" name="Text 15"/>
          <p:cNvSpPr/>
          <p:nvPr/>
        </p:nvSpPr>
        <p:spPr>
          <a:xfrm>
            <a:off x="3986784" y="2203704"/>
            <a:ext cx="1371600" cy="246888"/>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3</a:t>
            </a:r>
            <a:endParaRPr lang="en-US" sz="950" dirty="0"/>
          </a:p>
        </p:txBody>
      </p:sp>
      <p:sp>
        <p:nvSpPr>
          <p:cNvPr id="18" name="Shape 16"/>
          <p:cNvSpPr/>
          <p:nvPr/>
        </p:nvSpPr>
        <p:spPr>
          <a:xfrm>
            <a:off x="274320" y="2505456"/>
            <a:ext cx="5212080" cy="329184"/>
          </a:xfrm>
          <a:prstGeom prst="rect">
            <a:avLst/>
          </a:prstGeom>
          <a:solidFill>
            <a:srgbClr val="FFFFFF"/>
          </a:solidFill>
          <a:ln/>
        </p:spPr>
      </p:sp>
      <p:sp>
        <p:nvSpPr>
          <p:cNvPr id="19" name="Text 17"/>
          <p:cNvSpPr/>
          <p:nvPr/>
        </p:nvSpPr>
        <p:spPr>
          <a:xfrm>
            <a:off x="329184" y="2551176"/>
            <a:ext cx="2194560" cy="246888"/>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Nº medio de pasos visitados</a:t>
            </a:r>
            <a:endParaRPr lang="en-US" sz="950" dirty="0"/>
          </a:p>
        </p:txBody>
      </p:sp>
      <p:sp>
        <p:nvSpPr>
          <p:cNvPr id="20" name="Text 18"/>
          <p:cNvSpPr/>
          <p:nvPr/>
        </p:nvSpPr>
        <p:spPr>
          <a:xfrm>
            <a:off x="2615184" y="2551176"/>
            <a:ext cx="1280160" cy="246888"/>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4,6</a:t>
            </a:r>
            <a:endParaRPr lang="en-US" sz="950" dirty="0"/>
          </a:p>
        </p:txBody>
      </p:sp>
      <p:sp>
        <p:nvSpPr>
          <p:cNvPr id="21" name="Text 19"/>
          <p:cNvSpPr/>
          <p:nvPr/>
        </p:nvSpPr>
        <p:spPr>
          <a:xfrm>
            <a:off x="3986784" y="2551176"/>
            <a:ext cx="1371600" cy="246888"/>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4,9</a:t>
            </a:r>
            <a:endParaRPr lang="en-US" sz="950" dirty="0"/>
          </a:p>
        </p:txBody>
      </p:sp>
      <p:sp>
        <p:nvSpPr>
          <p:cNvPr id="22" name="Shape 20"/>
          <p:cNvSpPr/>
          <p:nvPr/>
        </p:nvSpPr>
        <p:spPr>
          <a:xfrm>
            <a:off x="274320" y="2852928"/>
            <a:ext cx="5212080" cy="329184"/>
          </a:xfrm>
          <a:prstGeom prst="rect">
            <a:avLst/>
          </a:prstGeom>
          <a:solidFill>
            <a:srgbClr val="E9F5EE"/>
          </a:solidFill>
          <a:ln/>
        </p:spPr>
      </p:sp>
      <p:sp>
        <p:nvSpPr>
          <p:cNvPr id="23" name="Text 21"/>
          <p:cNvSpPr/>
          <p:nvPr/>
        </p:nvSpPr>
        <p:spPr>
          <a:xfrm>
            <a:off x="329184" y="2898648"/>
            <a:ext cx="2194560" cy="246888"/>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 Completion (éxito)</a:t>
            </a:r>
            <a:endParaRPr lang="en-US" sz="950" dirty="0"/>
          </a:p>
        </p:txBody>
      </p:sp>
      <p:sp>
        <p:nvSpPr>
          <p:cNvPr id="24" name="Text 22"/>
          <p:cNvSpPr/>
          <p:nvPr/>
        </p:nvSpPr>
        <p:spPr>
          <a:xfrm>
            <a:off x="2615184" y="2898648"/>
            <a:ext cx="1280160" cy="246888"/>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92,9 %</a:t>
            </a:r>
            <a:endParaRPr lang="en-US" sz="950" dirty="0"/>
          </a:p>
        </p:txBody>
      </p:sp>
      <p:sp>
        <p:nvSpPr>
          <p:cNvPr id="25" name="Text 23"/>
          <p:cNvSpPr/>
          <p:nvPr/>
        </p:nvSpPr>
        <p:spPr>
          <a:xfrm>
            <a:off x="3986784" y="2898648"/>
            <a:ext cx="1371600" cy="246888"/>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78,6 %</a:t>
            </a:r>
            <a:endParaRPr lang="en-US" sz="950" dirty="0"/>
          </a:p>
        </p:txBody>
      </p:sp>
      <p:sp>
        <p:nvSpPr>
          <p:cNvPr id="26" name="Shape 24"/>
          <p:cNvSpPr/>
          <p:nvPr/>
        </p:nvSpPr>
        <p:spPr>
          <a:xfrm>
            <a:off x="274320" y="3200400"/>
            <a:ext cx="5212080" cy="329184"/>
          </a:xfrm>
          <a:prstGeom prst="rect">
            <a:avLst/>
          </a:prstGeom>
          <a:solidFill>
            <a:srgbClr val="FFFFFF"/>
          </a:solidFill>
          <a:ln/>
        </p:spPr>
      </p:sp>
      <p:sp>
        <p:nvSpPr>
          <p:cNvPr id="27" name="Text 25"/>
          <p:cNvSpPr/>
          <p:nvPr/>
        </p:nvSpPr>
        <p:spPr>
          <a:xfrm>
            <a:off x="329184" y="3246120"/>
            <a:ext cx="2194560" cy="246888"/>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EE (Experiencia − Expectativa)</a:t>
            </a:r>
            <a:endParaRPr lang="en-US" sz="950" dirty="0"/>
          </a:p>
        </p:txBody>
      </p:sp>
      <p:sp>
        <p:nvSpPr>
          <p:cNvPr id="28" name="Text 26"/>
          <p:cNvSpPr/>
          <p:nvPr/>
        </p:nvSpPr>
        <p:spPr>
          <a:xfrm>
            <a:off x="2615184" y="3246120"/>
            <a:ext cx="1280160" cy="246888"/>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+0,71  ✓</a:t>
            </a:r>
            <a:endParaRPr lang="en-US" sz="950" dirty="0"/>
          </a:p>
        </p:txBody>
      </p:sp>
      <p:sp>
        <p:nvSpPr>
          <p:cNvPr id="29" name="Text 27"/>
          <p:cNvSpPr/>
          <p:nvPr/>
        </p:nvSpPr>
        <p:spPr>
          <a:xfrm>
            <a:off x="3986784" y="3246120"/>
            <a:ext cx="1371600" cy="246888"/>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−0,07  ✗</a:t>
            </a:r>
            <a:endParaRPr lang="en-US" sz="950" dirty="0"/>
          </a:p>
        </p:txBody>
      </p:sp>
      <p:sp>
        <p:nvSpPr>
          <p:cNvPr id="30" name="Shape 28"/>
          <p:cNvSpPr/>
          <p:nvPr/>
        </p:nvSpPr>
        <p:spPr>
          <a:xfrm>
            <a:off x="274320" y="3547872"/>
            <a:ext cx="5212080" cy="329184"/>
          </a:xfrm>
          <a:prstGeom prst="rect">
            <a:avLst/>
          </a:prstGeom>
          <a:solidFill>
            <a:srgbClr val="E9F5EE"/>
          </a:solidFill>
          <a:ln/>
        </p:spPr>
      </p:sp>
      <p:sp>
        <p:nvSpPr>
          <p:cNvPr id="31" name="Text 29"/>
          <p:cNvSpPr/>
          <p:nvPr/>
        </p:nvSpPr>
        <p:spPr>
          <a:xfrm>
            <a:off x="329184" y="3593592"/>
            <a:ext cx="2194560" cy="246888"/>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Índice de Lostness</a:t>
            </a:r>
            <a:endParaRPr lang="en-US" sz="950" dirty="0"/>
          </a:p>
        </p:txBody>
      </p:sp>
      <p:sp>
        <p:nvSpPr>
          <p:cNvPr id="32" name="Text 30"/>
          <p:cNvSpPr/>
          <p:nvPr/>
        </p:nvSpPr>
        <p:spPr>
          <a:xfrm>
            <a:off x="2615184" y="3593592"/>
            <a:ext cx="1280160" cy="246888"/>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0,38</a:t>
            </a:r>
            <a:endParaRPr lang="en-US" sz="950" dirty="0"/>
          </a:p>
        </p:txBody>
      </p:sp>
      <p:sp>
        <p:nvSpPr>
          <p:cNvPr id="33" name="Text 31"/>
          <p:cNvSpPr/>
          <p:nvPr/>
        </p:nvSpPr>
        <p:spPr>
          <a:xfrm>
            <a:off x="3986784" y="3593592"/>
            <a:ext cx="1371600" cy="246888"/>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0,44</a:t>
            </a:r>
            <a:endParaRPr lang="en-US" sz="950" dirty="0"/>
          </a:p>
        </p:txBody>
      </p:sp>
      <p:graphicFrame>
        <p:nvGraphicFramePr>
          <p:cNvPr id="34" name="Chart 0"/>
          <p:cNvGraphicFramePr/>
          <p:nvPr/>
        </p:nvGraphicFramePr>
        <p:xfrm>
          <a:off x="5669280" y="1463040"/>
          <a:ext cx="3200400" cy="2560320"/>
        </p:xfrm>
        <a:graphic>
          <a:graphicData uri="http://schemas.openxmlformats.org/drawingml/2006/chart">
            <c:chart xmlns:c="http://schemas.openxmlformats.org/drawingml/2006/chart" xmlns:r="http://schemas.openxmlformats.org/officeDocument/2006/relationships" r:id="rId3"/>
          </a:graphicData>
        </a:graphic>
      </p:graphicFrame>
      <p:sp>
        <p:nvSpPr>
          <p:cNvPr id="35" name="Shape 32"/>
          <p:cNvSpPr/>
          <p:nvPr/>
        </p:nvSpPr>
        <p:spPr>
          <a:xfrm>
            <a:off x="274320" y="4160520"/>
            <a:ext cx="8595360" cy="713232"/>
          </a:xfrm>
          <a:prstGeom prst="roundRect">
            <a:avLst>
              <a:gd name="adj" fmla="val 7692"/>
            </a:avLst>
          </a:prstGeom>
          <a:solidFill>
            <a:srgbClr val="FFF3CD"/>
          </a:solidFill>
          <a:ln/>
        </p:spPr>
      </p:sp>
      <p:sp>
        <p:nvSpPr>
          <p:cNvPr id="36" name="Text 33"/>
          <p:cNvSpPr/>
          <p:nvPr/>
        </p:nvSpPr>
        <p:spPr>
          <a:xfrm>
            <a:off x="411480" y="4206240"/>
            <a:ext cx="8321040" cy="621792"/>
          </a:xfrm>
          <a:prstGeom prst="rect">
            <a:avLst/>
          </a:prstGeom>
          <a:noFill/>
          <a:ln/>
        </p:spPr>
        <p:txBody>
          <a:bodyPr wrap="square" rtlCol="0" anchor="ctr"/>
          <a:lstStyle/>
          <a:p>
            <a:pPr marL="0" indent="0">
              <a:buNone/>
            </a:pPr>
            <a:r>
              <a:rPr lang="en-US" sz="950" dirty="0">
                <a:solidFill>
                  <a:srgbClr val="212529"/>
                </a:solidFill>
                <a:latin typeface="Calibri" pitchFamily="34" charset="0"/>
                <a:ea typeface="Calibri" pitchFamily="34" charset="-122"/>
                <a:cs typeface="Calibri" pitchFamily="34" charset="-120"/>
              </a:rPr>
              <a:t>Explicación: En A, los chips de color permiten identificar de un vistazo la solicitud PENDING sin abrir el detalle. En B, la ausencia de chip diferenciado obliga a leer cada tarjeta antes de actuar, generando mayor desorientación (lostness 0,44 vs 0,38) y más abandonos. El diferencial EE confirma la percepción subjetiva: A supera expectativas (+0,71) mientras B queda prácticamente en neutro (−0,07).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p:spPr>
      </p:sp>
      <p:sp>
        <p:nvSpPr>
          <p:cNvPr id="3" name="Text 1"/>
          <p:cNvSpPr/>
          <p:nvPr/>
        </p:nvSpPr>
        <p:spPr>
          <a:xfrm>
            <a:off x="365760" y="109728"/>
            <a:ext cx="8412480" cy="475488"/>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5b. Expectativa vs Experiencia — T2 y T5 · Tiempo Global por Tarea</a:t>
            </a:r>
            <a:endParaRPr lang="en-US" sz="1800" dirty="0"/>
          </a:p>
        </p:txBody>
      </p:sp>
      <p:sp>
        <p:nvSpPr>
          <p:cNvPr id="4" name="Text 2"/>
          <p:cNvSpPr/>
          <p:nvPr/>
        </p:nvSpPr>
        <p:spPr>
          <a:xfrm>
            <a:off x="274320" y="777240"/>
            <a:ext cx="4114800" cy="274320"/>
          </a:xfrm>
          <a:prstGeom prst="rect">
            <a:avLst/>
          </a:prstGeom>
          <a:noFill/>
          <a:ln/>
        </p:spPr>
        <p:txBody>
          <a:bodyPr wrap="square" rtlCol="0" anchor="ctr"/>
          <a:lstStyle/>
          <a:p>
            <a:pPr marL="0" indent="0">
              <a:buNone/>
            </a:pPr>
            <a:r>
              <a:rPr lang="en-US" sz="1100" b="1" dirty="0">
                <a:solidFill>
                  <a:srgbClr val="6C63A8"/>
                </a:solidFill>
                <a:latin typeface="Calibri" pitchFamily="34" charset="0"/>
                <a:ea typeface="Calibri" pitchFamily="34" charset="-122"/>
                <a:cs typeface="Calibri" pitchFamily="34" charset="-120"/>
              </a:rPr>
              <a:t>T2 — Aceptar Solicitud</a:t>
            </a:r>
            <a:endParaRPr lang="en-US" sz="1100" dirty="0"/>
          </a:p>
        </p:txBody>
      </p:sp>
      <p:graphicFrame>
        <p:nvGraphicFramePr>
          <p:cNvPr id="5" name="Chart 0"/>
          <p:cNvGraphicFramePr/>
          <p:nvPr/>
        </p:nvGraphicFramePr>
        <p:xfrm>
          <a:off x="274320" y="1051560"/>
          <a:ext cx="411480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4754880" y="777240"/>
            <a:ext cx="4114800" cy="274320"/>
          </a:xfrm>
          <a:prstGeom prst="rect">
            <a:avLst/>
          </a:prstGeom>
          <a:noFill/>
          <a:ln/>
        </p:spPr>
        <p:txBody>
          <a:bodyPr wrap="square" rtlCol="0" anchor="ctr"/>
          <a:lstStyle/>
          <a:p>
            <a:pPr marL="0" indent="0">
              <a:buNone/>
            </a:pPr>
            <a:r>
              <a:rPr lang="en-US" sz="1100" b="1" dirty="0">
                <a:solidFill>
                  <a:srgbClr val="F4A261"/>
                </a:solidFill>
                <a:latin typeface="Calibri" pitchFamily="34" charset="0"/>
                <a:ea typeface="Calibri" pitchFamily="34" charset="-122"/>
                <a:cs typeface="Calibri" pitchFamily="34" charset="-120"/>
              </a:rPr>
              <a:t>T5 — Compartir Donación</a:t>
            </a:r>
            <a:endParaRPr lang="en-US" sz="1100" dirty="0"/>
          </a:p>
        </p:txBody>
      </p:sp>
      <p:graphicFrame>
        <p:nvGraphicFramePr>
          <p:cNvPr id="7" name="Chart 1"/>
          <p:cNvGraphicFramePr/>
          <p:nvPr/>
        </p:nvGraphicFramePr>
        <p:xfrm>
          <a:off x="4754880" y="1051560"/>
          <a:ext cx="4114800" cy="2286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2"/>
          <p:cNvGraphicFramePr/>
          <p:nvPr/>
        </p:nvGraphicFramePr>
        <p:xfrm>
          <a:off x="274320" y="3429000"/>
          <a:ext cx="8595360" cy="1554480"/>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p:spPr>
      </p:sp>
      <p:sp>
        <p:nvSpPr>
          <p:cNvPr id="3" name="Text 1"/>
          <p:cNvSpPr/>
          <p:nvPr/>
        </p:nvSpPr>
        <p:spPr>
          <a:xfrm>
            <a:off x="365760" y="109728"/>
            <a:ext cx="8412480" cy="475488"/>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6. Rendimiento por Género: T1 — Nueva Solicitud (Prototipo B)</a:t>
            </a:r>
            <a:endParaRPr lang="en-US" sz="1800" dirty="0"/>
          </a:p>
        </p:txBody>
      </p:sp>
      <p:sp>
        <p:nvSpPr>
          <p:cNvPr id="4" name="Shape 2"/>
          <p:cNvSpPr/>
          <p:nvPr/>
        </p:nvSpPr>
        <p:spPr>
          <a:xfrm>
            <a:off x="274320" y="777240"/>
            <a:ext cx="8595360" cy="548640"/>
          </a:xfrm>
          <a:prstGeom prst="roundRect">
            <a:avLst>
              <a:gd name="adj" fmla="val 13333"/>
            </a:avLst>
          </a:prstGeom>
          <a:solidFill>
            <a:srgbClr val="E9F5EE"/>
          </a:solidFill>
          <a:ln/>
        </p:spPr>
      </p:sp>
      <p:sp>
        <p:nvSpPr>
          <p:cNvPr id="5" name="Text 3"/>
          <p:cNvSpPr/>
          <p:nvPr/>
        </p:nvSpPr>
        <p:spPr>
          <a:xfrm>
            <a:off x="457200" y="804672"/>
            <a:ext cx="8229600" cy="475488"/>
          </a:xfrm>
          <a:prstGeom prst="rect">
            <a:avLst/>
          </a:prstGeom>
          <a:noFill/>
          <a:ln/>
        </p:spPr>
        <p:txBody>
          <a:bodyPr wrap="square" rtlCol="0" anchor="ctr"/>
          <a:lstStyle/>
          <a:p>
            <a:pPr marL="0" indent="0">
              <a:buNone/>
            </a:pPr>
            <a:r>
              <a:rPr lang="en-US" sz="950" i="1" dirty="0">
                <a:solidFill>
                  <a:srgbClr val="1B4332"/>
                </a:solidFill>
                <a:latin typeface="Calibri" pitchFamily="34" charset="0"/>
                <a:ea typeface="Calibri" pitchFamily="34" charset="-122"/>
                <a:cs typeface="Calibri" pitchFamily="34" charset="-120"/>
              </a:rPr>
              <a:t>Escenario T1: "Imagina que representas a un banco de alimentos y acabas de ver que hay un lote de frutas frescas disponible cerca de vuestra sede. Localiza esa donación en la plataforma y crea una nueva solicitud para recibirla."</a:t>
            </a:r>
            <a:endParaRPr lang="en-US" sz="950" dirty="0"/>
          </a:p>
        </p:txBody>
      </p:sp>
      <p:sp>
        <p:nvSpPr>
          <p:cNvPr id="6" name="Shape 4"/>
          <p:cNvSpPr/>
          <p:nvPr/>
        </p:nvSpPr>
        <p:spPr>
          <a:xfrm>
            <a:off x="274320" y="1417320"/>
            <a:ext cx="2468880" cy="1280160"/>
          </a:xfrm>
          <a:prstGeom prst="roundRect">
            <a:avLst>
              <a:gd name="adj" fmla="val 7143"/>
            </a:avLst>
          </a:prstGeom>
          <a:solidFill>
            <a:srgbClr val="D62828"/>
          </a:solidFill>
          <a:ln/>
        </p:spPr>
      </p:sp>
      <p:sp>
        <p:nvSpPr>
          <p:cNvPr id="7" name="Text 5"/>
          <p:cNvSpPr/>
          <p:nvPr/>
        </p:nvSpPr>
        <p:spPr>
          <a:xfrm>
            <a:off x="274320" y="1463040"/>
            <a:ext cx="2468880" cy="640080"/>
          </a:xfrm>
          <a:prstGeom prst="rect">
            <a:avLst/>
          </a:prstGeom>
          <a:noFill/>
          <a:ln/>
        </p:spPr>
        <p:txBody>
          <a:bodyPr wrap="square" rtlCol="0" anchor="ctr"/>
          <a:lstStyle/>
          <a:p>
            <a:pPr marL="0" indent="0" algn="ctr">
              <a:buNone/>
            </a:pPr>
            <a:r>
              <a:rPr lang="en-US" sz="3800" b="1" dirty="0">
                <a:solidFill>
                  <a:srgbClr val="FFFFFF"/>
                </a:solidFill>
                <a:latin typeface="Calibri" pitchFamily="34" charset="0"/>
                <a:ea typeface="Calibri" pitchFamily="34" charset="-122"/>
                <a:cs typeface="Calibri" pitchFamily="34" charset="-120"/>
              </a:rPr>
              <a:t>43 pp</a:t>
            </a:r>
            <a:endParaRPr lang="en-US" sz="3800" dirty="0"/>
          </a:p>
        </p:txBody>
      </p:sp>
      <p:sp>
        <p:nvSpPr>
          <p:cNvPr id="8" name="Text 6"/>
          <p:cNvSpPr/>
          <p:nvPr/>
        </p:nvSpPr>
        <p:spPr>
          <a:xfrm>
            <a:off x="274320" y="2103120"/>
            <a:ext cx="2468880" cy="50292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brecha de éxito</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 57%  vs  ♂ 100%</a:t>
            </a:r>
            <a:endParaRPr lang="en-US" sz="1000" dirty="0"/>
          </a:p>
        </p:txBody>
      </p:sp>
      <p:sp>
        <p:nvSpPr>
          <p:cNvPr id="9" name="Shape 7"/>
          <p:cNvSpPr/>
          <p:nvPr/>
        </p:nvSpPr>
        <p:spPr>
          <a:xfrm>
            <a:off x="2926080" y="1417320"/>
            <a:ext cx="5394960" cy="329184"/>
          </a:xfrm>
          <a:prstGeom prst="rect">
            <a:avLst/>
          </a:prstGeom>
          <a:solidFill>
            <a:srgbClr val="1B4332"/>
          </a:solidFill>
          <a:ln/>
        </p:spPr>
      </p:sp>
      <p:sp>
        <p:nvSpPr>
          <p:cNvPr id="10" name="Text 8"/>
          <p:cNvSpPr/>
          <p:nvPr/>
        </p:nvSpPr>
        <p:spPr>
          <a:xfrm>
            <a:off x="2980944" y="1463040"/>
            <a:ext cx="2194560" cy="2468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Métrica T1</a:t>
            </a:r>
            <a:endParaRPr lang="en-US" sz="1000" dirty="0"/>
          </a:p>
        </p:txBody>
      </p:sp>
      <p:sp>
        <p:nvSpPr>
          <p:cNvPr id="11" name="Text 9"/>
          <p:cNvSpPr/>
          <p:nvPr/>
        </p:nvSpPr>
        <p:spPr>
          <a:xfrm>
            <a:off x="5266944" y="1463040"/>
            <a:ext cx="1463040" cy="2468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Femenino — B</a:t>
            </a:r>
            <a:endParaRPr lang="en-US" sz="1000" dirty="0"/>
          </a:p>
        </p:txBody>
      </p:sp>
      <p:sp>
        <p:nvSpPr>
          <p:cNvPr id="12" name="Text 10"/>
          <p:cNvSpPr/>
          <p:nvPr/>
        </p:nvSpPr>
        <p:spPr>
          <a:xfrm>
            <a:off x="6821424" y="1463040"/>
            <a:ext cx="1463040" cy="2468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Masculino — B</a:t>
            </a:r>
            <a:endParaRPr lang="en-US" sz="1000" dirty="0"/>
          </a:p>
        </p:txBody>
      </p:sp>
      <p:sp>
        <p:nvSpPr>
          <p:cNvPr id="13" name="Shape 11"/>
          <p:cNvSpPr/>
          <p:nvPr/>
        </p:nvSpPr>
        <p:spPr>
          <a:xfrm>
            <a:off x="2926080" y="1764792"/>
            <a:ext cx="5394960" cy="329184"/>
          </a:xfrm>
          <a:prstGeom prst="rect">
            <a:avLst/>
          </a:prstGeom>
          <a:solidFill>
            <a:srgbClr val="FFFFFF"/>
          </a:solidFill>
          <a:ln/>
        </p:spPr>
      </p:sp>
      <p:sp>
        <p:nvSpPr>
          <p:cNvPr id="14" name="Text 12"/>
          <p:cNvSpPr/>
          <p:nvPr/>
        </p:nvSpPr>
        <p:spPr>
          <a:xfrm>
            <a:off x="2980944" y="1810512"/>
            <a:ext cx="2194560" cy="246888"/>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Tiempo medio</a:t>
            </a:r>
            <a:endParaRPr lang="en-US" sz="950" dirty="0"/>
          </a:p>
        </p:txBody>
      </p:sp>
      <p:sp>
        <p:nvSpPr>
          <p:cNvPr id="15" name="Text 13"/>
          <p:cNvSpPr/>
          <p:nvPr/>
        </p:nvSpPr>
        <p:spPr>
          <a:xfrm>
            <a:off x="5266944" y="1810512"/>
            <a:ext cx="1463040" cy="246888"/>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90,7 s</a:t>
            </a:r>
            <a:endParaRPr lang="en-US" sz="950" dirty="0"/>
          </a:p>
        </p:txBody>
      </p:sp>
      <p:sp>
        <p:nvSpPr>
          <p:cNvPr id="16" name="Text 14"/>
          <p:cNvSpPr/>
          <p:nvPr/>
        </p:nvSpPr>
        <p:spPr>
          <a:xfrm>
            <a:off x="6821424" y="1810512"/>
            <a:ext cx="1463040" cy="246888"/>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93,0 s</a:t>
            </a:r>
            <a:endParaRPr lang="en-US" sz="950" dirty="0"/>
          </a:p>
        </p:txBody>
      </p:sp>
      <p:sp>
        <p:nvSpPr>
          <p:cNvPr id="17" name="Shape 15"/>
          <p:cNvSpPr/>
          <p:nvPr/>
        </p:nvSpPr>
        <p:spPr>
          <a:xfrm>
            <a:off x="2926080" y="2112264"/>
            <a:ext cx="5394960" cy="329184"/>
          </a:xfrm>
          <a:prstGeom prst="rect">
            <a:avLst/>
          </a:prstGeom>
          <a:solidFill>
            <a:srgbClr val="E9F5EE"/>
          </a:solidFill>
          <a:ln/>
        </p:spPr>
      </p:sp>
      <p:sp>
        <p:nvSpPr>
          <p:cNvPr id="18" name="Text 16"/>
          <p:cNvSpPr/>
          <p:nvPr/>
        </p:nvSpPr>
        <p:spPr>
          <a:xfrm>
            <a:off x="2980944" y="2157984"/>
            <a:ext cx="2194560" cy="246888"/>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Nº mínimo de pasos</a:t>
            </a:r>
            <a:endParaRPr lang="en-US" sz="950" dirty="0"/>
          </a:p>
        </p:txBody>
      </p:sp>
      <p:sp>
        <p:nvSpPr>
          <p:cNvPr id="19" name="Text 17"/>
          <p:cNvSpPr/>
          <p:nvPr/>
        </p:nvSpPr>
        <p:spPr>
          <a:xfrm>
            <a:off x="5266944" y="2157984"/>
            <a:ext cx="1463040" cy="246888"/>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3</a:t>
            </a:r>
            <a:endParaRPr lang="en-US" sz="950" dirty="0"/>
          </a:p>
        </p:txBody>
      </p:sp>
      <p:sp>
        <p:nvSpPr>
          <p:cNvPr id="20" name="Text 18"/>
          <p:cNvSpPr/>
          <p:nvPr/>
        </p:nvSpPr>
        <p:spPr>
          <a:xfrm>
            <a:off x="6821424" y="2157984"/>
            <a:ext cx="1463040" cy="246888"/>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3</a:t>
            </a:r>
            <a:endParaRPr lang="en-US" sz="950" dirty="0"/>
          </a:p>
        </p:txBody>
      </p:sp>
      <p:sp>
        <p:nvSpPr>
          <p:cNvPr id="21" name="Shape 19"/>
          <p:cNvSpPr/>
          <p:nvPr/>
        </p:nvSpPr>
        <p:spPr>
          <a:xfrm>
            <a:off x="2926080" y="2459736"/>
            <a:ext cx="5394960" cy="329184"/>
          </a:xfrm>
          <a:prstGeom prst="rect">
            <a:avLst/>
          </a:prstGeom>
          <a:solidFill>
            <a:srgbClr val="FFFFFF"/>
          </a:solidFill>
          <a:ln/>
        </p:spPr>
      </p:sp>
      <p:sp>
        <p:nvSpPr>
          <p:cNvPr id="22" name="Text 20"/>
          <p:cNvSpPr/>
          <p:nvPr/>
        </p:nvSpPr>
        <p:spPr>
          <a:xfrm>
            <a:off x="2980944" y="2505456"/>
            <a:ext cx="2194560" cy="246888"/>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Nº medio de pasos</a:t>
            </a:r>
            <a:endParaRPr lang="en-US" sz="950" dirty="0"/>
          </a:p>
        </p:txBody>
      </p:sp>
      <p:sp>
        <p:nvSpPr>
          <p:cNvPr id="23" name="Text 21"/>
          <p:cNvSpPr/>
          <p:nvPr/>
        </p:nvSpPr>
        <p:spPr>
          <a:xfrm>
            <a:off x="5266944" y="2505456"/>
            <a:ext cx="1463040" cy="246888"/>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5,3  ✗</a:t>
            </a:r>
            <a:endParaRPr lang="en-US" sz="950" dirty="0"/>
          </a:p>
        </p:txBody>
      </p:sp>
      <p:sp>
        <p:nvSpPr>
          <p:cNvPr id="24" name="Text 22"/>
          <p:cNvSpPr/>
          <p:nvPr/>
        </p:nvSpPr>
        <p:spPr>
          <a:xfrm>
            <a:off x="6821424" y="2505456"/>
            <a:ext cx="1463040" cy="246888"/>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4,0  ✓</a:t>
            </a:r>
            <a:endParaRPr lang="en-US" sz="950" dirty="0"/>
          </a:p>
        </p:txBody>
      </p:sp>
      <p:sp>
        <p:nvSpPr>
          <p:cNvPr id="25" name="Shape 23"/>
          <p:cNvSpPr/>
          <p:nvPr/>
        </p:nvSpPr>
        <p:spPr>
          <a:xfrm>
            <a:off x="2926080" y="2807208"/>
            <a:ext cx="5394960" cy="329184"/>
          </a:xfrm>
          <a:prstGeom prst="rect">
            <a:avLst/>
          </a:prstGeom>
          <a:solidFill>
            <a:srgbClr val="E9F5EE"/>
          </a:solidFill>
          <a:ln/>
        </p:spPr>
      </p:sp>
      <p:sp>
        <p:nvSpPr>
          <p:cNvPr id="26" name="Text 24"/>
          <p:cNvSpPr/>
          <p:nvPr/>
        </p:nvSpPr>
        <p:spPr>
          <a:xfrm>
            <a:off x="2980944" y="2852928"/>
            <a:ext cx="2194560" cy="246888"/>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 Completion</a:t>
            </a:r>
            <a:endParaRPr lang="en-US" sz="950" dirty="0"/>
          </a:p>
        </p:txBody>
      </p:sp>
      <p:sp>
        <p:nvSpPr>
          <p:cNvPr id="27" name="Text 25"/>
          <p:cNvSpPr/>
          <p:nvPr/>
        </p:nvSpPr>
        <p:spPr>
          <a:xfrm>
            <a:off x="5266944" y="2852928"/>
            <a:ext cx="1463040" cy="246888"/>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57 %  ✗</a:t>
            </a:r>
            <a:endParaRPr lang="en-US" sz="950" dirty="0"/>
          </a:p>
        </p:txBody>
      </p:sp>
      <p:sp>
        <p:nvSpPr>
          <p:cNvPr id="28" name="Text 26"/>
          <p:cNvSpPr/>
          <p:nvPr/>
        </p:nvSpPr>
        <p:spPr>
          <a:xfrm>
            <a:off x="6821424" y="2852928"/>
            <a:ext cx="1463040" cy="246888"/>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100 %  ✓</a:t>
            </a:r>
            <a:endParaRPr lang="en-US" sz="950" dirty="0"/>
          </a:p>
        </p:txBody>
      </p:sp>
      <p:sp>
        <p:nvSpPr>
          <p:cNvPr id="29" name="Shape 27"/>
          <p:cNvSpPr/>
          <p:nvPr/>
        </p:nvSpPr>
        <p:spPr>
          <a:xfrm>
            <a:off x="2926080" y="3154680"/>
            <a:ext cx="5394960" cy="329184"/>
          </a:xfrm>
          <a:prstGeom prst="rect">
            <a:avLst/>
          </a:prstGeom>
          <a:solidFill>
            <a:srgbClr val="FFFFFF"/>
          </a:solidFill>
          <a:ln/>
        </p:spPr>
      </p:sp>
      <p:sp>
        <p:nvSpPr>
          <p:cNvPr id="30" name="Text 28"/>
          <p:cNvSpPr/>
          <p:nvPr/>
        </p:nvSpPr>
        <p:spPr>
          <a:xfrm>
            <a:off x="2980944" y="3200400"/>
            <a:ext cx="2194560" cy="246888"/>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EE T1</a:t>
            </a:r>
            <a:endParaRPr lang="en-US" sz="950" dirty="0"/>
          </a:p>
        </p:txBody>
      </p:sp>
      <p:sp>
        <p:nvSpPr>
          <p:cNvPr id="31" name="Text 29"/>
          <p:cNvSpPr/>
          <p:nvPr/>
        </p:nvSpPr>
        <p:spPr>
          <a:xfrm>
            <a:off x="5266944" y="3200400"/>
            <a:ext cx="1463040" cy="246888"/>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−0,43  ✗</a:t>
            </a:r>
            <a:endParaRPr lang="en-US" sz="950" dirty="0"/>
          </a:p>
        </p:txBody>
      </p:sp>
      <p:sp>
        <p:nvSpPr>
          <p:cNvPr id="32" name="Text 30"/>
          <p:cNvSpPr/>
          <p:nvPr/>
        </p:nvSpPr>
        <p:spPr>
          <a:xfrm>
            <a:off x="6821424" y="3200400"/>
            <a:ext cx="1463040" cy="246888"/>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+0,14  ✓</a:t>
            </a:r>
            <a:endParaRPr lang="en-US" sz="950" dirty="0"/>
          </a:p>
        </p:txBody>
      </p:sp>
      <p:graphicFrame>
        <p:nvGraphicFramePr>
          <p:cNvPr id="33" name="Chart 0"/>
          <p:cNvGraphicFramePr/>
          <p:nvPr/>
        </p:nvGraphicFramePr>
        <p:xfrm>
          <a:off x="2926080" y="3547872"/>
          <a:ext cx="5394960" cy="1417320"/>
        </p:xfrm>
        <a:graphic>
          <a:graphicData uri="http://schemas.openxmlformats.org/drawingml/2006/chart">
            <c:chart xmlns:c="http://schemas.openxmlformats.org/drawingml/2006/chart" xmlns:r="http://schemas.openxmlformats.org/officeDocument/2006/relationships" r:id="rId3"/>
          </a:graphicData>
        </a:graphic>
      </p:graphicFrame>
      <p:sp>
        <p:nvSpPr>
          <p:cNvPr id="34" name="Shape 31"/>
          <p:cNvSpPr/>
          <p:nvPr/>
        </p:nvSpPr>
        <p:spPr>
          <a:xfrm>
            <a:off x="274320" y="2788920"/>
            <a:ext cx="2468880" cy="2194560"/>
          </a:xfrm>
          <a:prstGeom prst="roundRect">
            <a:avLst>
              <a:gd name="adj" fmla="val 3333"/>
            </a:avLst>
          </a:prstGeom>
          <a:solidFill>
            <a:srgbClr val="FFF3CD"/>
          </a:solidFill>
          <a:ln/>
        </p:spPr>
      </p:sp>
      <p:sp>
        <p:nvSpPr>
          <p:cNvPr id="35" name="Text 32"/>
          <p:cNvSpPr/>
          <p:nvPr/>
        </p:nvSpPr>
        <p:spPr>
          <a:xfrm>
            <a:off x="365760" y="2834640"/>
            <a:ext cx="2286000" cy="228600"/>
          </a:xfrm>
          <a:prstGeom prst="rect">
            <a:avLst/>
          </a:prstGeom>
          <a:noFill/>
          <a:ln/>
        </p:spPr>
        <p:txBody>
          <a:bodyPr wrap="square" lIns="0" tIns="0" rIns="0" bIns="0" rtlCol="0" anchor="ctr"/>
          <a:lstStyle/>
          <a:p>
            <a:pPr marL="0" indent="0">
              <a:buNone/>
            </a:pPr>
            <a:r>
              <a:rPr lang="en-US" sz="1000" b="1" dirty="0">
                <a:solidFill>
                  <a:srgbClr val="212529"/>
                </a:solidFill>
                <a:latin typeface="Calibri" pitchFamily="34" charset="0"/>
                <a:ea typeface="Calibri" pitchFamily="34" charset="-122"/>
                <a:cs typeface="Calibri" pitchFamily="34" charset="-120"/>
              </a:rPr>
              <a:t>Causa probable:</a:t>
            </a:r>
            <a:endParaRPr lang="en-US" sz="1000" dirty="0"/>
          </a:p>
        </p:txBody>
      </p:sp>
      <p:sp>
        <p:nvSpPr>
          <p:cNvPr id="36" name="Text 33"/>
          <p:cNvSpPr/>
          <p:nvPr/>
        </p:nvSpPr>
        <p:spPr>
          <a:xfrm>
            <a:off x="365760" y="3081528"/>
            <a:ext cx="2286000" cy="182880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El botón 'Compartir' junto a 'Donaciones Disponibles' en B puede ser interpretado como publicar un excedente propio, no como solicitar (viola H2 y H3).</a:t>
            </a:r>
            <a:endParaRPr lang="en-US" sz="900" dirty="0"/>
          </a:p>
          <a:p>
            <a:pPr marL="0" indent="0">
              <a:buNone/>
            </a:pPr>
            <a:endParaRPr lang="en-US" sz="900" dirty="0"/>
          </a:p>
          <a:p>
            <a:pPr marL="0" indent="0">
              <a:buNone/>
            </a:pPr>
            <a:r>
              <a:rPr lang="en-US" sz="900" dirty="0">
                <a:solidFill>
                  <a:srgbClr val="212529"/>
                </a:solidFill>
                <a:latin typeface="Calibri" pitchFamily="34" charset="0"/>
                <a:ea typeface="Calibri" pitchFamily="34" charset="-122"/>
                <a:cs typeface="Calibri" pitchFamily="34" charset="-120"/>
              </a:rPr>
              <a:t>Las mujeres navegaron más páginas (5,3 vs 4,0) buscando la acción en la sección 'Solicitudes' de la navbar, sugiriendo que esperaban encontrar 'Solicitar' agrupado junto a sus solicitudes existentes.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p:spPr>
      </p:sp>
      <p:sp>
        <p:nvSpPr>
          <p:cNvPr id="3" name="Text 1"/>
          <p:cNvSpPr/>
          <p:nvPr/>
        </p:nvSpPr>
        <p:spPr>
          <a:xfrm>
            <a:off x="365760" y="109728"/>
            <a:ext cx="8412480" cy="47548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7. Medidas Globales: UMUX y NPS</a:t>
            </a:r>
            <a:endParaRPr lang="en-US" sz="2200" dirty="0"/>
          </a:p>
        </p:txBody>
      </p:sp>
      <p:graphicFrame>
        <p:nvGraphicFramePr>
          <p:cNvPr id="4" name="Chart 0"/>
          <p:cNvGraphicFramePr/>
          <p:nvPr/>
        </p:nvGraphicFramePr>
        <p:xfrm>
          <a:off x="274320" y="777240"/>
          <a:ext cx="530352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274320" y="3593592"/>
            <a:ext cx="5303520" cy="457200"/>
          </a:xfrm>
          <a:prstGeom prst="roundRect">
            <a:avLst>
              <a:gd name="adj" fmla="val 12000"/>
            </a:avLst>
          </a:prstGeom>
          <a:solidFill>
            <a:srgbClr val="E9F5EE"/>
          </a:solidFill>
          <a:ln/>
        </p:spPr>
      </p:sp>
      <p:sp>
        <p:nvSpPr>
          <p:cNvPr id="6" name="Text 3"/>
          <p:cNvSpPr/>
          <p:nvPr/>
        </p:nvSpPr>
        <p:spPr>
          <a:xfrm>
            <a:off x="411480" y="3630168"/>
            <a:ext cx="5029200" cy="384048"/>
          </a:xfrm>
          <a:prstGeom prst="rect">
            <a:avLst/>
          </a:prstGeom>
          <a:noFill/>
          <a:ln/>
        </p:spPr>
        <p:txBody>
          <a:bodyPr wrap="square" rtlCol="0" anchor="ctr"/>
          <a:lstStyle/>
          <a:p>
            <a:pPr marL="0" indent="0">
              <a:buNone/>
            </a:pPr>
            <a:r>
              <a:rPr lang="en-US" sz="950" dirty="0">
                <a:solidFill>
                  <a:srgbClr val="212529"/>
                </a:solidFill>
                <a:latin typeface="Calibri" pitchFamily="34" charset="0"/>
                <a:ea typeface="Calibri" pitchFamily="34" charset="-122"/>
                <a:cs typeface="Calibri" pitchFamily="34" charset="-120"/>
              </a:rPr>
              <a:t>UMUX global: A = 69,0/100  B = 68,2/100 → Ambos en zona 'Aceptable'. Diferencia clave: UMUX2 facilidad de uso (A: 3,93 vs B: 3,21). Los formularios complejos y las etiquetas ambiguas de B generan mayor percepción de dificultad.</a:t>
            </a:r>
            <a:endParaRPr lang="en-US" sz="950" dirty="0"/>
          </a:p>
        </p:txBody>
      </p:sp>
      <p:sp>
        <p:nvSpPr>
          <p:cNvPr id="7" name="Text 4"/>
          <p:cNvSpPr/>
          <p:nvPr/>
        </p:nvSpPr>
        <p:spPr>
          <a:xfrm>
            <a:off x="5760720" y="777240"/>
            <a:ext cx="3108960" cy="27432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NPS — Net Promoter Score</a:t>
            </a:r>
            <a:endParaRPr lang="en-US" sz="1200" dirty="0"/>
          </a:p>
        </p:txBody>
      </p:sp>
      <p:sp>
        <p:nvSpPr>
          <p:cNvPr id="8" name="Shape 5"/>
          <p:cNvSpPr/>
          <p:nvPr/>
        </p:nvSpPr>
        <p:spPr>
          <a:xfrm>
            <a:off x="5760720" y="1197864"/>
            <a:ext cx="91440" cy="310896"/>
          </a:xfrm>
          <a:prstGeom prst="rect">
            <a:avLst/>
          </a:prstGeom>
          <a:solidFill>
            <a:srgbClr val="2D6A4F"/>
          </a:solidFill>
          <a:ln/>
        </p:spPr>
      </p:sp>
      <p:sp>
        <p:nvSpPr>
          <p:cNvPr id="9" name="Text 6"/>
          <p:cNvSpPr/>
          <p:nvPr/>
        </p:nvSpPr>
        <p:spPr>
          <a:xfrm>
            <a:off x="5925312" y="1207008"/>
            <a:ext cx="1737360" cy="256032"/>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Promotores (9–10)</a:t>
            </a:r>
            <a:endParaRPr lang="en-US" sz="950" dirty="0"/>
          </a:p>
        </p:txBody>
      </p:sp>
      <p:sp>
        <p:nvSpPr>
          <p:cNvPr id="10" name="Text 7"/>
          <p:cNvSpPr/>
          <p:nvPr/>
        </p:nvSpPr>
        <p:spPr>
          <a:xfrm>
            <a:off x="7699248" y="1207008"/>
            <a:ext cx="640080" cy="256032"/>
          </a:xfrm>
          <a:prstGeom prst="rect">
            <a:avLst/>
          </a:prstGeom>
          <a:noFill/>
          <a:ln/>
        </p:spPr>
        <p:txBody>
          <a:bodyPr wrap="square" lIns="0" tIns="0" rIns="0" bIns="0" rtlCol="0" anchor="ctr"/>
          <a:lstStyle/>
          <a:p>
            <a:pPr marL="0" indent="0">
              <a:buNone/>
            </a:pPr>
            <a:r>
              <a:rPr lang="en-US" sz="1000" b="1" dirty="0">
                <a:solidFill>
                  <a:srgbClr val="6C63A8"/>
                </a:solidFill>
                <a:latin typeface="Calibri" pitchFamily="34" charset="0"/>
                <a:ea typeface="Calibri" pitchFamily="34" charset="-122"/>
                <a:cs typeface="Calibri" pitchFamily="34" charset="-120"/>
              </a:rPr>
              <a:t>A: 6 (43%)</a:t>
            </a:r>
            <a:endParaRPr lang="en-US" sz="1000" dirty="0"/>
          </a:p>
        </p:txBody>
      </p:sp>
      <p:sp>
        <p:nvSpPr>
          <p:cNvPr id="11" name="Text 8"/>
          <p:cNvSpPr/>
          <p:nvPr/>
        </p:nvSpPr>
        <p:spPr>
          <a:xfrm>
            <a:off x="8366760" y="1207008"/>
            <a:ext cx="640080" cy="256032"/>
          </a:xfrm>
          <a:prstGeom prst="rect">
            <a:avLst/>
          </a:prstGeom>
          <a:noFill/>
          <a:ln/>
        </p:spPr>
        <p:txBody>
          <a:bodyPr wrap="square" lIns="0" tIns="0" rIns="0" bIns="0" rtlCol="0" anchor="ctr"/>
          <a:lstStyle/>
          <a:p>
            <a:pPr marL="0" indent="0">
              <a:buNone/>
            </a:pPr>
            <a:r>
              <a:rPr lang="en-US" sz="1000" b="1" dirty="0">
                <a:solidFill>
                  <a:srgbClr val="F4A261"/>
                </a:solidFill>
                <a:latin typeface="Calibri" pitchFamily="34" charset="0"/>
                <a:ea typeface="Calibri" pitchFamily="34" charset="-122"/>
                <a:cs typeface="Calibri" pitchFamily="34" charset="-120"/>
              </a:rPr>
              <a:t>B: 8 (57%)</a:t>
            </a:r>
            <a:endParaRPr lang="en-US" sz="1000" dirty="0"/>
          </a:p>
        </p:txBody>
      </p:sp>
      <p:sp>
        <p:nvSpPr>
          <p:cNvPr id="12" name="Shape 9"/>
          <p:cNvSpPr/>
          <p:nvPr/>
        </p:nvSpPr>
        <p:spPr>
          <a:xfrm>
            <a:off x="5760720" y="1636776"/>
            <a:ext cx="91440" cy="310896"/>
          </a:xfrm>
          <a:prstGeom prst="rect">
            <a:avLst/>
          </a:prstGeom>
          <a:solidFill>
            <a:srgbClr val="95D5B2"/>
          </a:solidFill>
          <a:ln/>
        </p:spPr>
      </p:sp>
      <p:sp>
        <p:nvSpPr>
          <p:cNvPr id="13" name="Text 10"/>
          <p:cNvSpPr/>
          <p:nvPr/>
        </p:nvSpPr>
        <p:spPr>
          <a:xfrm>
            <a:off x="5925312" y="1645920"/>
            <a:ext cx="1737360" cy="256032"/>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Pasivos (7–8)</a:t>
            </a:r>
            <a:endParaRPr lang="en-US" sz="950" dirty="0"/>
          </a:p>
        </p:txBody>
      </p:sp>
      <p:sp>
        <p:nvSpPr>
          <p:cNvPr id="14" name="Text 11"/>
          <p:cNvSpPr/>
          <p:nvPr/>
        </p:nvSpPr>
        <p:spPr>
          <a:xfrm>
            <a:off x="7699248" y="1645920"/>
            <a:ext cx="640080" cy="256032"/>
          </a:xfrm>
          <a:prstGeom prst="rect">
            <a:avLst/>
          </a:prstGeom>
          <a:noFill/>
          <a:ln/>
        </p:spPr>
        <p:txBody>
          <a:bodyPr wrap="square" lIns="0" tIns="0" rIns="0" bIns="0" rtlCol="0" anchor="ctr"/>
          <a:lstStyle/>
          <a:p>
            <a:pPr marL="0" indent="0">
              <a:buNone/>
            </a:pPr>
            <a:r>
              <a:rPr lang="en-US" sz="1000" b="1" dirty="0">
                <a:solidFill>
                  <a:srgbClr val="6C63A8"/>
                </a:solidFill>
                <a:latin typeface="Calibri" pitchFamily="34" charset="0"/>
                <a:ea typeface="Calibri" pitchFamily="34" charset="-122"/>
                <a:cs typeface="Calibri" pitchFamily="34" charset="-120"/>
              </a:rPr>
              <a:t>A: 2 (14%)</a:t>
            </a:r>
            <a:endParaRPr lang="en-US" sz="1000" dirty="0"/>
          </a:p>
        </p:txBody>
      </p:sp>
      <p:sp>
        <p:nvSpPr>
          <p:cNvPr id="15" name="Text 12"/>
          <p:cNvSpPr/>
          <p:nvPr/>
        </p:nvSpPr>
        <p:spPr>
          <a:xfrm>
            <a:off x="8366760" y="1645920"/>
            <a:ext cx="640080" cy="256032"/>
          </a:xfrm>
          <a:prstGeom prst="rect">
            <a:avLst/>
          </a:prstGeom>
          <a:noFill/>
          <a:ln/>
        </p:spPr>
        <p:txBody>
          <a:bodyPr wrap="square" lIns="0" tIns="0" rIns="0" bIns="0" rtlCol="0" anchor="ctr"/>
          <a:lstStyle/>
          <a:p>
            <a:pPr marL="0" indent="0">
              <a:buNone/>
            </a:pPr>
            <a:r>
              <a:rPr lang="en-US" sz="1000" b="1" dirty="0">
                <a:solidFill>
                  <a:srgbClr val="F4A261"/>
                </a:solidFill>
                <a:latin typeface="Calibri" pitchFamily="34" charset="0"/>
                <a:ea typeface="Calibri" pitchFamily="34" charset="-122"/>
                <a:cs typeface="Calibri" pitchFamily="34" charset="-120"/>
              </a:rPr>
              <a:t>B: 3 (21%)</a:t>
            </a:r>
            <a:endParaRPr lang="en-US" sz="1000" dirty="0"/>
          </a:p>
        </p:txBody>
      </p:sp>
      <p:sp>
        <p:nvSpPr>
          <p:cNvPr id="16" name="Shape 13"/>
          <p:cNvSpPr/>
          <p:nvPr/>
        </p:nvSpPr>
        <p:spPr>
          <a:xfrm>
            <a:off x="5760720" y="2075688"/>
            <a:ext cx="91440" cy="310896"/>
          </a:xfrm>
          <a:prstGeom prst="rect">
            <a:avLst/>
          </a:prstGeom>
          <a:solidFill>
            <a:srgbClr val="D62828"/>
          </a:solidFill>
          <a:ln/>
        </p:spPr>
      </p:sp>
      <p:sp>
        <p:nvSpPr>
          <p:cNvPr id="17" name="Text 14"/>
          <p:cNvSpPr/>
          <p:nvPr/>
        </p:nvSpPr>
        <p:spPr>
          <a:xfrm>
            <a:off x="5925312" y="2084832"/>
            <a:ext cx="1737360" cy="256032"/>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Detractores (0–6)</a:t>
            </a:r>
            <a:endParaRPr lang="en-US" sz="950" dirty="0"/>
          </a:p>
        </p:txBody>
      </p:sp>
      <p:sp>
        <p:nvSpPr>
          <p:cNvPr id="18" name="Text 15"/>
          <p:cNvSpPr/>
          <p:nvPr/>
        </p:nvSpPr>
        <p:spPr>
          <a:xfrm>
            <a:off x="7699248" y="2084832"/>
            <a:ext cx="640080" cy="256032"/>
          </a:xfrm>
          <a:prstGeom prst="rect">
            <a:avLst/>
          </a:prstGeom>
          <a:noFill/>
          <a:ln/>
        </p:spPr>
        <p:txBody>
          <a:bodyPr wrap="square" lIns="0" tIns="0" rIns="0" bIns="0" rtlCol="0" anchor="ctr"/>
          <a:lstStyle/>
          <a:p>
            <a:pPr marL="0" indent="0">
              <a:buNone/>
            </a:pPr>
            <a:r>
              <a:rPr lang="en-US" sz="1000" b="1" dirty="0">
                <a:solidFill>
                  <a:srgbClr val="6C63A8"/>
                </a:solidFill>
                <a:latin typeface="Calibri" pitchFamily="34" charset="0"/>
                <a:ea typeface="Calibri" pitchFamily="34" charset="-122"/>
                <a:cs typeface="Calibri" pitchFamily="34" charset="-120"/>
              </a:rPr>
              <a:t>A: 6 (43%)</a:t>
            </a:r>
            <a:endParaRPr lang="en-US" sz="1000" dirty="0"/>
          </a:p>
        </p:txBody>
      </p:sp>
      <p:sp>
        <p:nvSpPr>
          <p:cNvPr id="19" name="Text 16"/>
          <p:cNvSpPr/>
          <p:nvPr/>
        </p:nvSpPr>
        <p:spPr>
          <a:xfrm>
            <a:off x="8366760" y="2084832"/>
            <a:ext cx="640080" cy="256032"/>
          </a:xfrm>
          <a:prstGeom prst="rect">
            <a:avLst/>
          </a:prstGeom>
          <a:noFill/>
          <a:ln/>
        </p:spPr>
        <p:txBody>
          <a:bodyPr wrap="square" lIns="0" tIns="0" rIns="0" bIns="0" rtlCol="0" anchor="ctr"/>
          <a:lstStyle/>
          <a:p>
            <a:pPr marL="0" indent="0">
              <a:buNone/>
            </a:pPr>
            <a:r>
              <a:rPr lang="en-US" sz="1000" b="1" dirty="0">
                <a:solidFill>
                  <a:srgbClr val="F4A261"/>
                </a:solidFill>
                <a:latin typeface="Calibri" pitchFamily="34" charset="0"/>
                <a:ea typeface="Calibri" pitchFamily="34" charset="-122"/>
                <a:cs typeface="Calibri" pitchFamily="34" charset="-120"/>
              </a:rPr>
              <a:t>B: 3 (21%)</a:t>
            </a:r>
            <a:endParaRPr lang="en-US" sz="1000" dirty="0"/>
          </a:p>
        </p:txBody>
      </p:sp>
      <p:sp>
        <p:nvSpPr>
          <p:cNvPr id="20" name="Shape 17"/>
          <p:cNvSpPr/>
          <p:nvPr/>
        </p:nvSpPr>
        <p:spPr>
          <a:xfrm>
            <a:off x="5760720" y="2514600"/>
            <a:ext cx="1463040" cy="1280160"/>
          </a:xfrm>
          <a:prstGeom prst="roundRect">
            <a:avLst>
              <a:gd name="adj" fmla="val 7143"/>
            </a:avLst>
          </a:prstGeom>
          <a:solidFill>
            <a:srgbClr val="6C63A8"/>
          </a:solidFill>
          <a:ln/>
        </p:spPr>
      </p:sp>
      <p:sp>
        <p:nvSpPr>
          <p:cNvPr id="21" name="Text 18"/>
          <p:cNvSpPr/>
          <p:nvPr/>
        </p:nvSpPr>
        <p:spPr>
          <a:xfrm>
            <a:off x="5760720" y="2514600"/>
            <a:ext cx="1463040" cy="128016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NPS A</a:t>
            </a:r>
            <a:endParaRPr lang="en-US" sz="2600" dirty="0"/>
          </a:p>
          <a:p>
            <a:pPr marL="0" indent="0" algn="ctr">
              <a:buNone/>
            </a:pPr>
            <a:r>
              <a:rPr lang="en-US" sz="2600" b="1" dirty="0">
                <a:solidFill>
                  <a:srgbClr val="FFFFFF"/>
                </a:solidFill>
                <a:latin typeface="Calibri" pitchFamily="34" charset="0"/>
                <a:ea typeface="Calibri" pitchFamily="34" charset="-122"/>
                <a:cs typeface="Calibri" pitchFamily="34" charset="-120"/>
              </a:rPr>
              <a:t>0</a:t>
            </a:r>
            <a:endParaRPr lang="en-US" sz="2600" dirty="0"/>
          </a:p>
        </p:txBody>
      </p:sp>
      <p:sp>
        <p:nvSpPr>
          <p:cNvPr id="22" name="Shape 19"/>
          <p:cNvSpPr/>
          <p:nvPr/>
        </p:nvSpPr>
        <p:spPr>
          <a:xfrm>
            <a:off x="7406640" y="2514600"/>
            <a:ext cx="1463040" cy="1280160"/>
          </a:xfrm>
          <a:prstGeom prst="roundRect">
            <a:avLst>
              <a:gd name="adj" fmla="val 7143"/>
            </a:avLst>
          </a:prstGeom>
          <a:solidFill>
            <a:srgbClr val="F4A261"/>
          </a:solidFill>
          <a:ln/>
        </p:spPr>
      </p:sp>
      <p:sp>
        <p:nvSpPr>
          <p:cNvPr id="23" name="Text 20"/>
          <p:cNvSpPr/>
          <p:nvPr/>
        </p:nvSpPr>
        <p:spPr>
          <a:xfrm>
            <a:off x="7406640" y="2514600"/>
            <a:ext cx="1463040" cy="128016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NPS B</a:t>
            </a:r>
            <a:endParaRPr lang="en-US" sz="2600" dirty="0"/>
          </a:p>
          <a:p>
            <a:pPr marL="0" indent="0" algn="ctr">
              <a:buNone/>
            </a:pPr>
            <a:r>
              <a:rPr lang="en-US" sz="2600" b="1" dirty="0">
                <a:solidFill>
                  <a:srgbClr val="FFFFFF"/>
                </a:solidFill>
                <a:latin typeface="Calibri" pitchFamily="34" charset="0"/>
                <a:ea typeface="Calibri" pitchFamily="34" charset="-122"/>
                <a:cs typeface="Calibri" pitchFamily="34" charset="-120"/>
              </a:rPr>
              <a:t>+43</a:t>
            </a:r>
            <a:endParaRPr lang="en-US" sz="2600" dirty="0"/>
          </a:p>
        </p:txBody>
      </p:sp>
      <p:sp>
        <p:nvSpPr>
          <p:cNvPr id="24" name="Shape 21"/>
          <p:cNvSpPr/>
          <p:nvPr/>
        </p:nvSpPr>
        <p:spPr>
          <a:xfrm>
            <a:off x="5760720" y="3886200"/>
            <a:ext cx="3108960" cy="1097280"/>
          </a:xfrm>
          <a:prstGeom prst="roundRect">
            <a:avLst>
              <a:gd name="adj" fmla="val 5000"/>
            </a:avLst>
          </a:prstGeom>
          <a:solidFill>
            <a:srgbClr val="FFF3CD"/>
          </a:solidFill>
          <a:ln/>
        </p:spPr>
      </p:sp>
      <p:sp>
        <p:nvSpPr>
          <p:cNvPr id="25" name="Text 22"/>
          <p:cNvSpPr/>
          <p:nvPr/>
        </p:nvSpPr>
        <p:spPr>
          <a:xfrm>
            <a:off x="5852160" y="3931920"/>
            <a:ext cx="2926080" cy="228600"/>
          </a:xfrm>
          <a:prstGeom prst="rect">
            <a:avLst/>
          </a:prstGeom>
          <a:noFill/>
          <a:ln/>
        </p:spPr>
        <p:txBody>
          <a:bodyPr wrap="square" lIns="0" tIns="0" rIns="0" bIns="0" rtlCol="0" anchor="ctr"/>
          <a:lstStyle/>
          <a:p>
            <a:pPr marL="0" indent="0">
              <a:buNone/>
            </a:pPr>
            <a:r>
              <a:rPr lang="en-US" sz="1000" b="1" dirty="0">
                <a:solidFill>
                  <a:srgbClr val="212529"/>
                </a:solidFill>
                <a:latin typeface="Calibri" pitchFamily="34" charset="0"/>
                <a:ea typeface="Calibri" pitchFamily="34" charset="-122"/>
                <a:cs typeface="Calibri" pitchFamily="34" charset="-120"/>
              </a:rPr>
              <a:t>¿Por qué NPS tan diferente con UMUX casi igual?</a:t>
            </a:r>
            <a:endParaRPr lang="en-US" sz="1000" dirty="0"/>
          </a:p>
        </p:txBody>
      </p:sp>
      <p:sp>
        <p:nvSpPr>
          <p:cNvPr id="26" name="Text 23"/>
          <p:cNvSpPr/>
          <p:nvPr/>
        </p:nvSpPr>
        <p:spPr>
          <a:xfrm>
            <a:off x="5852160" y="4178808"/>
            <a:ext cx="2926080" cy="758952"/>
          </a:xfrm>
          <a:prstGeom prst="rect">
            <a:avLst/>
          </a:prstGeom>
          <a:noFill/>
          <a:ln/>
        </p:spPr>
        <p:txBody>
          <a:bodyPr wrap="square" lIns="0" tIns="0" rIns="0" bIns="0" rtlCol="0" anchor="ctr"/>
          <a:lstStyle/>
          <a:p>
            <a:pPr marL="0" indent="0">
              <a:buNone/>
            </a:pPr>
            <a:r>
              <a:rPr lang="en-US" sz="880" dirty="0">
                <a:solidFill>
                  <a:srgbClr val="212529"/>
                </a:solidFill>
                <a:latin typeface="Calibri" pitchFamily="34" charset="0"/>
                <a:ea typeface="Calibri" pitchFamily="34" charset="-122"/>
                <a:cs typeface="Calibri" pitchFamily="34" charset="-120"/>
              </a:rPr>
              <a:t>La paleta cálida de B, las estadísticas de impacto social visibles y el lenguaje empático ('Rescatar comida. Nutrir comunidades.') generan mayor vínculo emocional e intención de recomendar. En plataformas de impacto social, la experiencia emocional importa tanto como la eficiencia operativa.</a:t>
            </a:r>
            <a:endParaRPr lang="en-US" sz="8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p:spPr>
      </p:sp>
      <p:sp>
        <p:nvSpPr>
          <p:cNvPr id="3" name="Text 1"/>
          <p:cNvSpPr/>
          <p:nvPr/>
        </p:nvSpPr>
        <p:spPr>
          <a:xfrm>
            <a:off x="365760" y="109728"/>
            <a:ext cx="841248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8. Tabla Resumen del Análisis Comparativo</a:t>
            </a:r>
            <a:endParaRPr lang="en-US" sz="2000" dirty="0"/>
          </a:p>
        </p:txBody>
      </p:sp>
      <p:sp>
        <p:nvSpPr>
          <p:cNvPr id="4" name="Shape 2"/>
          <p:cNvSpPr/>
          <p:nvPr/>
        </p:nvSpPr>
        <p:spPr>
          <a:xfrm>
            <a:off x="274320" y="777240"/>
            <a:ext cx="8595360" cy="365760"/>
          </a:xfrm>
          <a:prstGeom prst="rect">
            <a:avLst/>
          </a:prstGeom>
          <a:solidFill>
            <a:srgbClr val="1B4332"/>
          </a:solidFill>
          <a:ln/>
        </p:spPr>
      </p:sp>
      <p:sp>
        <p:nvSpPr>
          <p:cNvPr id="5" name="Text 3"/>
          <p:cNvSpPr/>
          <p:nvPr/>
        </p:nvSpPr>
        <p:spPr>
          <a:xfrm>
            <a:off x="329184" y="832104"/>
            <a:ext cx="2926080" cy="265176"/>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Indicador</a:t>
            </a:r>
            <a:endParaRPr lang="en-US" sz="1000" dirty="0"/>
          </a:p>
        </p:txBody>
      </p:sp>
      <p:sp>
        <p:nvSpPr>
          <p:cNvPr id="6" name="Text 4"/>
          <p:cNvSpPr/>
          <p:nvPr/>
        </p:nvSpPr>
        <p:spPr>
          <a:xfrm>
            <a:off x="3346704" y="832104"/>
            <a:ext cx="1828800" cy="265176"/>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Prototipo A</a:t>
            </a:r>
            <a:endParaRPr lang="en-US" sz="1000" dirty="0"/>
          </a:p>
        </p:txBody>
      </p:sp>
      <p:sp>
        <p:nvSpPr>
          <p:cNvPr id="7" name="Text 5"/>
          <p:cNvSpPr/>
          <p:nvPr/>
        </p:nvSpPr>
        <p:spPr>
          <a:xfrm>
            <a:off x="5266944" y="832104"/>
            <a:ext cx="2194560" cy="265176"/>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Prototipo B</a:t>
            </a:r>
            <a:endParaRPr lang="en-US" sz="1000" dirty="0"/>
          </a:p>
        </p:txBody>
      </p:sp>
      <p:sp>
        <p:nvSpPr>
          <p:cNvPr id="8" name="Text 6"/>
          <p:cNvSpPr/>
          <p:nvPr/>
        </p:nvSpPr>
        <p:spPr>
          <a:xfrm>
            <a:off x="7552944" y="832104"/>
            <a:ext cx="1280160" cy="265176"/>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Mejor</a:t>
            </a:r>
            <a:endParaRPr lang="en-US" sz="1000" dirty="0"/>
          </a:p>
        </p:txBody>
      </p:sp>
      <p:sp>
        <p:nvSpPr>
          <p:cNvPr id="9" name="Shape 7"/>
          <p:cNvSpPr/>
          <p:nvPr/>
        </p:nvSpPr>
        <p:spPr>
          <a:xfrm>
            <a:off x="274320" y="1152144"/>
            <a:ext cx="8595360" cy="365760"/>
          </a:xfrm>
          <a:prstGeom prst="rect">
            <a:avLst/>
          </a:prstGeom>
          <a:solidFill>
            <a:srgbClr val="FFFFFF"/>
          </a:solidFill>
          <a:ln/>
        </p:spPr>
      </p:sp>
      <p:sp>
        <p:nvSpPr>
          <p:cNvPr id="10" name="Text 8"/>
          <p:cNvSpPr/>
          <p:nvPr/>
        </p:nvSpPr>
        <p:spPr>
          <a:xfrm>
            <a:off x="329184" y="1207008"/>
            <a:ext cx="2926080" cy="265176"/>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Tiempo medio global</a:t>
            </a:r>
            <a:endParaRPr lang="en-US" sz="950" dirty="0"/>
          </a:p>
        </p:txBody>
      </p:sp>
      <p:sp>
        <p:nvSpPr>
          <p:cNvPr id="11" name="Text 9"/>
          <p:cNvSpPr/>
          <p:nvPr/>
        </p:nvSpPr>
        <p:spPr>
          <a:xfrm>
            <a:off x="3346704" y="1207008"/>
            <a:ext cx="1828800" cy="265176"/>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74,4 s</a:t>
            </a:r>
            <a:endParaRPr lang="en-US" sz="950" dirty="0"/>
          </a:p>
        </p:txBody>
      </p:sp>
      <p:sp>
        <p:nvSpPr>
          <p:cNvPr id="12" name="Text 10"/>
          <p:cNvSpPr/>
          <p:nvPr/>
        </p:nvSpPr>
        <p:spPr>
          <a:xfrm>
            <a:off x="5266944" y="1207008"/>
            <a:ext cx="2194560" cy="265176"/>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83,5 s</a:t>
            </a:r>
            <a:endParaRPr lang="en-US" sz="950" dirty="0"/>
          </a:p>
        </p:txBody>
      </p:sp>
      <p:sp>
        <p:nvSpPr>
          <p:cNvPr id="13" name="Text 11"/>
          <p:cNvSpPr/>
          <p:nvPr/>
        </p:nvSpPr>
        <p:spPr>
          <a:xfrm>
            <a:off x="7552944" y="1207008"/>
            <a:ext cx="1280160" cy="265176"/>
          </a:xfrm>
          <a:prstGeom prst="rect">
            <a:avLst/>
          </a:prstGeom>
          <a:noFill/>
          <a:ln/>
        </p:spPr>
        <p:txBody>
          <a:bodyPr wrap="square" lIns="0" tIns="0" rIns="0" bIns="0" rtlCol="0" anchor="ctr"/>
          <a:lstStyle/>
          <a:p>
            <a:pPr marL="0" indent="0">
              <a:buNone/>
            </a:pPr>
            <a:r>
              <a:rPr lang="en-US" sz="950" dirty="0">
                <a:solidFill>
                  <a:srgbClr val="40916C"/>
                </a:solidFill>
                <a:latin typeface="Calibri" pitchFamily="34" charset="0"/>
                <a:ea typeface="Calibri" pitchFamily="34" charset="-122"/>
                <a:cs typeface="Calibri" pitchFamily="34" charset="-120"/>
              </a:rPr>
              <a:t>■ A</a:t>
            </a:r>
            <a:endParaRPr lang="en-US" sz="950" dirty="0"/>
          </a:p>
        </p:txBody>
      </p:sp>
      <p:sp>
        <p:nvSpPr>
          <p:cNvPr id="14" name="Shape 12"/>
          <p:cNvSpPr/>
          <p:nvPr/>
        </p:nvSpPr>
        <p:spPr>
          <a:xfrm>
            <a:off x="274320" y="1527048"/>
            <a:ext cx="8595360" cy="365760"/>
          </a:xfrm>
          <a:prstGeom prst="rect">
            <a:avLst/>
          </a:prstGeom>
          <a:solidFill>
            <a:srgbClr val="E9F5EE"/>
          </a:solidFill>
          <a:ln/>
        </p:spPr>
      </p:sp>
      <p:sp>
        <p:nvSpPr>
          <p:cNvPr id="15" name="Text 13"/>
          <p:cNvSpPr/>
          <p:nvPr/>
        </p:nvSpPr>
        <p:spPr>
          <a:xfrm>
            <a:off x="329184" y="1581912"/>
            <a:ext cx="2926080" cy="265176"/>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 Éxito medio global</a:t>
            </a:r>
            <a:endParaRPr lang="en-US" sz="950" dirty="0"/>
          </a:p>
        </p:txBody>
      </p:sp>
      <p:sp>
        <p:nvSpPr>
          <p:cNvPr id="16" name="Text 14"/>
          <p:cNvSpPr/>
          <p:nvPr/>
        </p:nvSpPr>
        <p:spPr>
          <a:xfrm>
            <a:off x="3346704" y="1581912"/>
            <a:ext cx="1828800" cy="265176"/>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81,4 %</a:t>
            </a:r>
            <a:endParaRPr lang="en-US" sz="950" dirty="0"/>
          </a:p>
        </p:txBody>
      </p:sp>
      <p:sp>
        <p:nvSpPr>
          <p:cNvPr id="17" name="Text 15"/>
          <p:cNvSpPr/>
          <p:nvPr/>
        </p:nvSpPr>
        <p:spPr>
          <a:xfrm>
            <a:off x="5266944" y="1581912"/>
            <a:ext cx="2194560" cy="265176"/>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78,6 %</a:t>
            </a:r>
            <a:endParaRPr lang="en-US" sz="950" dirty="0"/>
          </a:p>
        </p:txBody>
      </p:sp>
      <p:sp>
        <p:nvSpPr>
          <p:cNvPr id="18" name="Text 16"/>
          <p:cNvSpPr/>
          <p:nvPr/>
        </p:nvSpPr>
        <p:spPr>
          <a:xfrm>
            <a:off x="7552944" y="1581912"/>
            <a:ext cx="1280160" cy="265176"/>
          </a:xfrm>
          <a:prstGeom prst="rect">
            <a:avLst/>
          </a:prstGeom>
          <a:noFill/>
          <a:ln/>
        </p:spPr>
        <p:txBody>
          <a:bodyPr wrap="square" lIns="0" tIns="0" rIns="0" bIns="0" rtlCol="0" anchor="ctr"/>
          <a:lstStyle/>
          <a:p>
            <a:pPr marL="0" indent="0">
              <a:buNone/>
            </a:pPr>
            <a:r>
              <a:rPr lang="en-US" sz="950" dirty="0">
                <a:solidFill>
                  <a:srgbClr val="40916C"/>
                </a:solidFill>
                <a:latin typeface="Calibri" pitchFamily="34" charset="0"/>
                <a:ea typeface="Calibri" pitchFamily="34" charset="-122"/>
                <a:cs typeface="Calibri" pitchFamily="34" charset="-120"/>
              </a:rPr>
              <a:t>■ A</a:t>
            </a:r>
            <a:endParaRPr lang="en-US" sz="950" dirty="0"/>
          </a:p>
        </p:txBody>
      </p:sp>
      <p:sp>
        <p:nvSpPr>
          <p:cNvPr id="19" name="Shape 17"/>
          <p:cNvSpPr/>
          <p:nvPr/>
        </p:nvSpPr>
        <p:spPr>
          <a:xfrm>
            <a:off x="274320" y="1901952"/>
            <a:ext cx="8595360" cy="365760"/>
          </a:xfrm>
          <a:prstGeom prst="rect">
            <a:avLst/>
          </a:prstGeom>
          <a:solidFill>
            <a:srgbClr val="FFFFFF"/>
          </a:solidFill>
          <a:ln/>
        </p:spPr>
      </p:sp>
      <p:sp>
        <p:nvSpPr>
          <p:cNvPr id="20" name="Text 18"/>
          <p:cNvSpPr/>
          <p:nvPr/>
        </p:nvSpPr>
        <p:spPr>
          <a:xfrm>
            <a:off x="329184" y="1956816"/>
            <a:ext cx="2926080" cy="265176"/>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Lostness medio global</a:t>
            </a:r>
            <a:endParaRPr lang="en-US" sz="950" dirty="0"/>
          </a:p>
        </p:txBody>
      </p:sp>
      <p:sp>
        <p:nvSpPr>
          <p:cNvPr id="21" name="Text 19"/>
          <p:cNvSpPr/>
          <p:nvPr/>
        </p:nvSpPr>
        <p:spPr>
          <a:xfrm>
            <a:off x="3346704" y="1956816"/>
            <a:ext cx="1828800" cy="265176"/>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0,572</a:t>
            </a:r>
            <a:endParaRPr lang="en-US" sz="950" dirty="0"/>
          </a:p>
        </p:txBody>
      </p:sp>
      <p:sp>
        <p:nvSpPr>
          <p:cNvPr id="22" name="Text 20"/>
          <p:cNvSpPr/>
          <p:nvPr/>
        </p:nvSpPr>
        <p:spPr>
          <a:xfrm>
            <a:off x="5266944" y="1956816"/>
            <a:ext cx="2194560" cy="265176"/>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0,468</a:t>
            </a:r>
            <a:endParaRPr lang="en-US" sz="950" dirty="0"/>
          </a:p>
        </p:txBody>
      </p:sp>
      <p:sp>
        <p:nvSpPr>
          <p:cNvPr id="23" name="Text 21"/>
          <p:cNvSpPr/>
          <p:nvPr/>
        </p:nvSpPr>
        <p:spPr>
          <a:xfrm>
            <a:off x="7552944" y="1956816"/>
            <a:ext cx="1280160" cy="265176"/>
          </a:xfrm>
          <a:prstGeom prst="rect">
            <a:avLst/>
          </a:prstGeom>
          <a:noFill/>
          <a:ln/>
        </p:spPr>
        <p:txBody>
          <a:bodyPr wrap="square" lIns="0" tIns="0" rIns="0" bIns="0" rtlCol="0" anchor="ctr"/>
          <a:lstStyle/>
          <a:p>
            <a:pPr marL="0" indent="0">
              <a:buNone/>
            </a:pPr>
            <a:r>
              <a:rPr lang="en-US" sz="950" dirty="0">
                <a:solidFill>
                  <a:srgbClr val="F4A261"/>
                </a:solidFill>
                <a:latin typeface="Calibri" pitchFamily="34" charset="0"/>
                <a:ea typeface="Calibri" pitchFamily="34" charset="-122"/>
                <a:cs typeface="Calibri" pitchFamily="34" charset="-120"/>
              </a:rPr>
              <a:t>■ B</a:t>
            </a:r>
            <a:endParaRPr lang="en-US" sz="950" dirty="0"/>
          </a:p>
        </p:txBody>
      </p:sp>
      <p:sp>
        <p:nvSpPr>
          <p:cNvPr id="24" name="Shape 22"/>
          <p:cNvSpPr/>
          <p:nvPr/>
        </p:nvSpPr>
        <p:spPr>
          <a:xfrm>
            <a:off x="274320" y="2276856"/>
            <a:ext cx="8595360" cy="365760"/>
          </a:xfrm>
          <a:prstGeom prst="rect">
            <a:avLst/>
          </a:prstGeom>
          <a:solidFill>
            <a:srgbClr val="E9F5EE"/>
          </a:solidFill>
          <a:ln/>
        </p:spPr>
      </p:sp>
      <p:sp>
        <p:nvSpPr>
          <p:cNvPr id="25" name="Text 23"/>
          <p:cNvSpPr/>
          <p:nvPr/>
        </p:nvSpPr>
        <p:spPr>
          <a:xfrm>
            <a:off x="329184" y="2331720"/>
            <a:ext cx="2926080" cy="265176"/>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EE total medio</a:t>
            </a:r>
            <a:endParaRPr lang="en-US" sz="950" dirty="0"/>
          </a:p>
        </p:txBody>
      </p:sp>
      <p:sp>
        <p:nvSpPr>
          <p:cNvPr id="26" name="Text 24"/>
          <p:cNvSpPr/>
          <p:nvPr/>
        </p:nvSpPr>
        <p:spPr>
          <a:xfrm>
            <a:off x="3346704" y="2331720"/>
            <a:ext cx="1828800" cy="265176"/>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+0,27</a:t>
            </a:r>
            <a:endParaRPr lang="en-US" sz="950" dirty="0"/>
          </a:p>
        </p:txBody>
      </p:sp>
      <p:sp>
        <p:nvSpPr>
          <p:cNvPr id="27" name="Text 25"/>
          <p:cNvSpPr/>
          <p:nvPr/>
        </p:nvSpPr>
        <p:spPr>
          <a:xfrm>
            <a:off x="5266944" y="2331720"/>
            <a:ext cx="2194560" cy="265176"/>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−0,40</a:t>
            </a:r>
            <a:endParaRPr lang="en-US" sz="950" dirty="0"/>
          </a:p>
        </p:txBody>
      </p:sp>
      <p:sp>
        <p:nvSpPr>
          <p:cNvPr id="28" name="Text 26"/>
          <p:cNvSpPr/>
          <p:nvPr/>
        </p:nvSpPr>
        <p:spPr>
          <a:xfrm>
            <a:off x="7552944" y="2331720"/>
            <a:ext cx="1280160" cy="265176"/>
          </a:xfrm>
          <a:prstGeom prst="rect">
            <a:avLst/>
          </a:prstGeom>
          <a:noFill/>
          <a:ln/>
        </p:spPr>
        <p:txBody>
          <a:bodyPr wrap="square" lIns="0" tIns="0" rIns="0" bIns="0" rtlCol="0" anchor="ctr"/>
          <a:lstStyle/>
          <a:p>
            <a:pPr marL="0" indent="0">
              <a:buNone/>
            </a:pPr>
            <a:r>
              <a:rPr lang="en-US" sz="950" dirty="0">
                <a:solidFill>
                  <a:srgbClr val="40916C"/>
                </a:solidFill>
                <a:latin typeface="Calibri" pitchFamily="34" charset="0"/>
                <a:ea typeface="Calibri" pitchFamily="34" charset="-122"/>
                <a:cs typeface="Calibri" pitchFamily="34" charset="-120"/>
              </a:rPr>
              <a:t>■ A</a:t>
            </a:r>
            <a:endParaRPr lang="en-US" sz="950" dirty="0"/>
          </a:p>
        </p:txBody>
      </p:sp>
      <p:sp>
        <p:nvSpPr>
          <p:cNvPr id="29" name="Shape 27"/>
          <p:cNvSpPr/>
          <p:nvPr/>
        </p:nvSpPr>
        <p:spPr>
          <a:xfrm>
            <a:off x="274320" y="2651760"/>
            <a:ext cx="8595360" cy="365760"/>
          </a:xfrm>
          <a:prstGeom prst="rect">
            <a:avLst/>
          </a:prstGeom>
          <a:solidFill>
            <a:srgbClr val="FFFFFF"/>
          </a:solidFill>
          <a:ln/>
        </p:spPr>
      </p:sp>
      <p:sp>
        <p:nvSpPr>
          <p:cNvPr id="30" name="Text 28"/>
          <p:cNvSpPr/>
          <p:nvPr/>
        </p:nvSpPr>
        <p:spPr>
          <a:xfrm>
            <a:off x="329184" y="2706624"/>
            <a:ext cx="2926080" cy="265176"/>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UMUX global (0–100)</a:t>
            </a:r>
            <a:endParaRPr lang="en-US" sz="950" dirty="0"/>
          </a:p>
        </p:txBody>
      </p:sp>
      <p:sp>
        <p:nvSpPr>
          <p:cNvPr id="31" name="Text 29"/>
          <p:cNvSpPr/>
          <p:nvPr/>
        </p:nvSpPr>
        <p:spPr>
          <a:xfrm>
            <a:off x="3346704" y="2706624"/>
            <a:ext cx="1828800" cy="265176"/>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69,0</a:t>
            </a:r>
            <a:endParaRPr lang="en-US" sz="950" dirty="0"/>
          </a:p>
        </p:txBody>
      </p:sp>
      <p:sp>
        <p:nvSpPr>
          <p:cNvPr id="32" name="Text 30"/>
          <p:cNvSpPr/>
          <p:nvPr/>
        </p:nvSpPr>
        <p:spPr>
          <a:xfrm>
            <a:off x="5266944" y="2706624"/>
            <a:ext cx="2194560" cy="265176"/>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68,2</a:t>
            </a:r>
            <a:endParaRPr lang="en-US" sz="950" dirty="0"/>
          </a:p>
        </p:txBody>
      </p:sp>
      <p:sp>
        <p:nvSpPr>
          <p:cNvPr id="33" name="Text 31"/>
          <p:cNvSpPr/>
          <p:nvPr/>
        </p:nvSpPr>
        <p:spPr>
          <a:xfrm>
            <a:off x="7552944" y="2706624"/>
            <a:ext cx="1280160" cy="265176"/>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 Empate</a:t>
            </a:r>
            <a:endParaRPr lang="en-US" sz="950" dirty="0"/>
          </a:p>
        </p:txBody>
      </p:sp>
      <p:sp>
        <p:nvSpPr>
          <p:cNvPr id="34" name="Shape 32"/>
          <p:cNvSpPr/>
          <p:nvPr/>
        </p:nvSpPr>
        <p:spPr>
          <a:xfrm>
            <a:off x="274320" y="3026664"/>
            <a:ext cx="8595360" cy="365760"/>
          </a:xfrm>
          <a:prstGeom prst="rect">
            <a:avLst/>
          </a:prstGeom>
          <a:solidFill>
            <a:srgbClr val="E9F5EE"/>
          </a:solidFill>
          <a:ln/>
        </p:spPr>
      </p:sp>
      <p:sp>
        <p:nvSpPr>
          <p:cNvPr id="35" name="Text 33"/>
          <p:cNvSpPr/>
          <p:nvPr/>
        </p:nvSpPr>
        <p:spPr>
          <a:xfrm>
            <a:off x="329184" y="3081528"/>
            <a:ext cx="2926080" cy="265176"/>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Facilidad de uso — UMUX2</a:t>
            </a:r>
            <a:endParaRPr lang="en-US" sz="950" dirty="0"/>
          </a:p>
        </p:txBody>
      </p:sp>
      <p:sp>
        <p:nvSpPr>
          <p:cNvPr id="36" name="Text 34"/>
          <p:cNvSpPr/>
          <p:nvPr/>
        </p:nvSpPr>
        <p:spPr>
          <a:xfrm>
            <a:off x="3346704" y="3081528"/>
            <a:ext cx="1828800" cy="265176"/>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3,93</a:t>
            </a:r>
            <a:endParaRPr lang="en-US" sz="950" dirty="0"/>
          </a:p>
        </p:txBody>
      </p:sp>
      <p:sp>
        <p:nvSpPr>
          <p:cNvPr id="37" name="Text 35"/>
          <p:cNvSpPr/>
          <p:nvPr/>
        </p:nvSpPr>
        <p:spPr>
          <a:xfrm>
            <a:off x="5266944" y="3081528"/>
            <a:ext cx="2194560" cy="265176"/>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3,21</a:t>
            </a:r>
            <a:endParaRPr lang="en-US" sz="950" dirty="0"/>
          </a:p>
        </p:txBody>
      </p:sp>
      <p:sp>
        <p:nvSpPr>
          <p:cNvPr id="38" name="Text 36"/>
          <p:cNvSpPr/>
          <p:nvPr/>
        </p:nvSpPr>
        <p:spPr>
          <a:xfrm>
            <a:off x="7552944" y="3081528"/>
            <a:ext cx="1280160" cy="265176"/>
          </a:xfrm>
          <a:prstGeom prst="rect">
            <a:avLst/>
          </a:prstGeom>
          <a:noFill/>
          <a:ln/>
        </p:spPr>
        <p:txBody>
          <a:bodyPr wrap="square" lIns="0" tIns="0" rIns="0" bIns="0" rtlCol="0" anchor="ctr"/>
          <a:lstStyle/>
          <a:p>
            <a:pPr marL="0" indent="0">
              <a:buNone/>
            </a:pPr>
            <a:r>
              <a:rPr lang="en-US" sz="950" dirty="0">
                <a:solidFill>
                  <a:srgbClr val="40916C"/>
                </a:solidFill>
                <a:latin typeface="Calibri" pitchFamily="34" charset="0"/>
                <a:ea typeface="Calibri" pitchFamily="34" charset="-122"/>
                <a:cs typeface="Calibri" pitchFamily="34" charset="-120"/>
              </a:rPr>
              <a:t>■ A</a:t>
            </a:r>
            <a:endParaRPr lang="en-US" sz="950" dirty="0"/>
          </a:p>
        </p:txBody>
      </p:sp>
      <p:sp>
        <p:nvSpPr>
          <p:cNvPr id="39" name="Shape 37"/>
          <p:cNvSpPr/>
          <p:nvPr/>
        </p:nvSpPr>
        <p:spPr>
          <a:xfrm>
            <a:off x="274320" y="3401568"/>
            <a:ext cx="8595360" cy="365760"/>
          </a:xfrm>
          <a:prstGeom prst="rect">
            <a:avLst/>
          </a:prstGeom>
          <a:solidFill>
            <a:srgbClr val="FFFFFF"/>
          </a:solidFill>
          <a:ln/>
        </p:spPr>
      </p:sp>
      <p:sp>
        <p:nvSpPr>
          <p:cNvPr id="40" name="Text 38"/>
          <p:cNvSpPr/>
          <p:nvPr/>
        </p:nvSpPr>
        <p:spPr>
          <a:xfrm>
            <a:off x="329184" y="3456432"/>
            <a:ext cx="2926080" cy="265176"/>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NPS</a:t>
            </a:r>
            <a:endParaRPr lang="en-US" sz="950" dirty="0"/>
          </a:p>
        </p:txBody>
      </p:sp>
      <p:sp>
        <p:nvSpPr>
          <p:cNvPr id="41" name="Text 39"/>
          <p:cNvSpPr/>
          <p:nvPr/>
        </p:nvSpPr>
        <p:spPr>
          <a:xfrm>
            <a:off x="3346704" y="3456432"/>
            <a:ext cx="1828800" cy="265176"/>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0</a:t>
            </a:r>
            <a:endParaRPr lang="en-US" sz="950" dirty="0"/>
          </a:p>
        </p:txBody>
      </p:sp>
      <p:sp>
        <p:nvSpPr>
          <p:cNvPr id="42" name="Text 40"/>
          <p:cNvSpPr/>
          <p:nvPr/>
        </p:nvSpPr>
        <p:spPr>
          <a:xfrm>
            <a:off x="5266944" y="3456432"/>
            <a:ext cx="2194560" cy="265176"/>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+43</a:t>
            </a:r>
            <a:endParaRPr lang="en-US" sz="950" dirty="0"/>
          </a:p>
        </p:txBody>
      </p:sp>
      <p:sp>
        <p:nvSpPr>
          <p:cNvPr id="43" name="Text 41"/>
          <p:cNvSpPr/>
          <p:nvPr/>
        </p:nvSpPr>
        <p:spPr>
          <a:xfrm>
            <a:off x="7552944" y="3456432"/>
            <a:ext cx="1280160" cy="265176"/>
          </a:xfrm>
          <a:prstGeom prst="rect">
            <a:avLst/>
          </a:prstGeom>
          <a:noFill/>
          <a:ln/>
        </p:spPr>
        <p:txBody>
          <a:bodyPr wrap="square" lIns="0" tIns="0" rIns="0" bIns="0" rtlCol="0" anchor="ctr"/>
          <a:lstStyle/>
          <a:p>
            <a:pPr marL="0" indent="0">
              <a:buNone/>
            </a:pPr>
            <a:r>
              <a:rPr lang="en-US" sz="950" dirty="0">
                <a:solidFill>
                  <a:srgbClr val="F4A261"/>
                </a:solidFill>
                <a:latin typeface="Calibri" pitchFamily="34" charset="0"/>
                <a:ea typeface="Calibri" pitchFamily="34" charset="-122"/>
                <a:cs typeface="Calibri" pitchFamily="34" charset="-120"/>
              </a:rPr>
              <a:t>■ B</a:t>
            </a:r>
            <a:endParaRPr lang="en-US" sz="950" dirty="0"/>
          </a:p>
        </p:txBody>
      </p:sp>
      <p:sp>
        <p:nvSpPr>
          <p:cNvPr id="44" name="Shape 42"/>
          <p:cNvSpPr/>
          <p:nvPr/>
        </p:nvSpPr>
        <p:spPr>
          <a:xfrm>
            <a:off x="274320" y="3776472"/>
            <a:ext cx="8595360" cy="365760"/>
          </a:xfrm>
          <a:prstGeom prst="rect">
            <a:avLst/>
          </a:prstGeom>
          <a:solidFill>
            <a:srgbClr val="E9F5EE"/>
          </a:solidFill>
          <a:ln/>
        </p:spPr>
      </p:sp>
      <p:sp>
        <p:nvSpPr>
          <p:cNvPr id="45" name="Text 43"/>
          <p:cNvSpPr/>
          <p:nvPr/>
        </p:nvSpPr>
        <p:spPr>
          <a:xfrm>
            <a:off x="329184" y="3831336"/>
            <a:ext cx="2926080" cy="265176"/>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Brecha de género T1 (éxito)</a:t>
            </a:r>
            <a:endParaRPr lang="en-US" sz="950" dirty="0"/>
          </a:p>
        </p:txBody>
      </p:sp>
      <p:sp>
        <p:nvSpPr>
          <p:cNvPr id="46" name="Text 44"/>
          <p:cNvSpPr/>
          <p:nvPr/>
        </p:nvSpPr>
        <p:spPr>
          <a:xfrm>
            <a:off x="3346704" y="3831336"/>
            <a:ext cx="1828800" cy="265176"/>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15 pp</a:t>
            </a:r>
            <a:endParaRPr lang="en-US" sz="950" dirty="0"/>
          </a:p>
        </p:txBody>
      </p:sp>
      <p:sp>
        <p:nvSpPr>
          <p:cNvPr id="47" name="Text 45"/>
          <p:cNvSpPr/>
          <p:nvPr/>
        </p:nvSpPr>
        <p:spPr>
          <a:xfrm>
            <a:off x="5266944" y="3831336"/>
            <a:ext cx="2194560" cy="265176"/>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43 pp</a:t>
            </a:r>
            <a:endParaRPr lang="en-US" sz="950" dirty="0"/>
          </a:p>
        </p:txBody>
      </p:sp>
      <p:sp>
        <p:nvSpPr>
          <p:cNvPr id="48" name="Text 46"/>
          <p:cNvSpPr/>
          <p:nvPr/>
        </p:nvSpPr>
        <p:spPr>
          <a:xfrm>
            <a:off x="7552944" y="3831336"/>
            <a:ext cx="1280160" cy="265176"/>
          </a:xfrm>
          <a:prstGeom prst="rect">
            <a:avLst/>
          </a:prstGeom>
          <a:noFill/>
          <a:ln/>
        </p:spPr>
        <p:txBody>
          <a:bodyPr wrap="square" lIns="0" tIns="0" rIns="0" bIns="0" rtlCol="0" anchor="ctr"/>
          <a:lstStyle/>
          <a:p>
            <a:pPr marL="0" indent="0">
              <a:buNone/>
            </a:pPr>
            <a:r>
              <a:rPr lang="en-US" sz="950" dirty="0">
                <a:solidFill>
                  <a:srgbClr val="40916C"/>
                </a:solidFill>
                <a:latin typeface="Calibri" pitchFamily="34" charset="0"/>
                <a:ea typeface="Calibri" pitchFamily="34" charset="-122"/>
                <a:cs typeface="Calibri" pitchFamily="34" charset="-120"/>
              </a:rPr>
              <a:t>■ A</a:t>
            </a:r>
            <a:endParaRPr lang="en-US" sz="950" dirty="0"/>
          </a:p>
        </p:txBody>
      </p:sp>
      <p:sp>
        <p:nvSpPr>
          <p:cNvPr id="49" name="Shape 47"/>
          <p:cNvSpPr/>
          <p:nvPr/>
        </p:nvSpPr>
        <p:spPr>
          <a:xfrm>
            <a:off x="274320" y="4151376"/>
            <a:ext cx="8595360" cy="365760"/>
          </a:xfrm>
          <a:prstGeom prst="rect">
            <a:avLst/>
          </a:prstGeom>
          <a:solidFill>
            <a:srgbClr val="FFFFFF"/>
          </a:solidFill>
          <a:ln/>
        </p:spPr>
      </p:sp>
      <p:sp>
        <p:nvSpPr>
          <p:cNvPr id="50" name="Text 48"/>
          <p:cNvSpPr/>
          <p:nvPr/>
        </p:nvSpPr>
        <p:spPr>
          <a:xfrm>
            <a:off x="329184" y="4206240"/>
            <a:ext cx="2926080" cy="265176"/>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Bug crítico visible</a:t>
            </a:r>
            <a:endParaRPr lang="en-US" sz="950" dirty="0"/>
          </a:p>
        </p:txBody>
      </p:sp>
      <p:sp>
        <p:nvSpPr>
          <p:cNvPr id="51" name="Text 49"/>
          <p:cNvSpPr/>
          <p:nvPr/>
        </p:nvSpPr>
        <p:spPr>
          <a:xfrm>
            <a:off x="3346704" y="4206240"/>
            <a:ext cx="1828800" cy="265176"/>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No detectado</a:t>
            </a:r>
            <a:endParaRPr lang="en-US" sz="950" dirty="0"/>
          </a:p>
        </p:txBody>
      </p:sp>
      <p:sp>
        <p:nvSpPr>
          <p:cNvPr id="52" name="Text 50"/>
          <p:cNvSpPr/>
          <p:nvPr/>
        </p:nvSpPr>
        <p:spPr>
          <a:xfrm>
            <a:off x="5266944" y="4206240"/>
            <a:ext cx="2194560" cy="265176"/>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"Invalid Date"</a:t>
            </a:r>
            <a:endParaRPr lang="en-US" sz="950" dirty="0"/>
          </a:p>
        </p:txBody>
      </p:sp>
      <p:sp>
        <p:nvSpPr>
          <p:cNvPr id="53" name="Text 51"/>
          <p:cNvSpPr/>
          <p:nvPr/>
        </p:nvSpPr>
        <p:spPr>
          <a:xfrm>
            <a:off x="7552944" y="4206240"/>
            <a:ext cx="1280160" cy="265176"/>
          </a:xfrm>
          <a:prstGeom prst="rect">
            <a:avLst/>
          </a:prstGeom>
          <a:noFill/>
          <a:ln/>
        </p:spPr>
        <p:txBody>
          <a:bodyPr wrap="square" lIns="0" tIns="0" rIns="0" bIns="0" rtlCol="0" anchor="ctr"/>
          <a:lstStyle/>
          <a:p>
            <a:pPr marL="0" indent="0">
              <a:buNone/>
            </a:pPr>
            <a:r>
              <a:rPr lang="en-US" sz="950" dirty="0">
                <a:solidFill>
                  <a:srgbClr val="40916C"/>
                </a:solidFill>
                <a:latin typeface="Calibri" pitchFamily="34" charset="0"/>
                <a:ea typeface="Calibri" pitchFamily="34" charset="-122"/>
                <a:cs typeface="Calibri" pitchFamily="34" charset="-120"/>
              </a:rPr>
              <a:t>■ A</a:t>
            </a:r>
            <a:endParaRPr lang="en-US" sz="950" dirty="0"/>
          </a:p>
        </p:txBody>
      </p:sp>
      <p:sp>
        <p:nvSpPr>
          <p:cNvPr id="54" name="Shape 52"/>
          <p:cNvSpPr/>
          <p:nvPr/>
        </p:nvSpPr>
        <p:spPr>
          <a:xfrm>
            <a:off x="274320" y="4526280"/>
            <a:ext cx="8595360" cy="365760"/>
          </a:xfrm>
          <a:prstGeom prst="rect">
            <a:avLst/>
          </a:prstGeom>
          <a:solidFill>
            <a:srgbClr val="E9F5EE"/>
          </a:solidFill>
          <a:ln/>
        </p:spPr>
      </p:sp>
      <p:sp>
        <p:nvSpPr>
          <p:cNvPr id="55" name="Text 53"/>
          <p:cNvSpPr/>
          <p:nvPr/>
        </p:nvSpPr>
        <p:spPr>
          <a:xfrm>
            <a:off x="329184" y="4581144"/>
            <a:ext cx="2926080" cy="265176"/>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Consistencia de idioma</a:t>
            </a:r>
            <a:endParaRPr lang="en-US" sz="950" dirty="0"/>
          </a:p>
        </p:txBody>
      </p:sp>
      <p:sp>
        <p:nvSpPr>
          <p:cNvPr id="56" name="Text 54"/>
          <p:cNvSpPr/>
          <p:nvPr/>
        </p:nvSpPr>
        <p:spPr>
          <a:xfrm>
            <a:off x="3346704" y="4581144"/>
            <a:ext cx="1828800" cy="265176"/>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Uniforme castellano</a:t>
            </a:r>
            <a:endParaRPr lang="en-US" sz="950" dirty="0"/>
          </a:p>
        </p:txBody>
      </p:sp>
      <p:sp>
        <p:nvSpPr>
          <p:cNvPr id="57" name="Text 55"/>
          <p:cNvSpPr/>
          <p:nvPr/>
        </p:nvSpPr>
        <p:spPr>
          <a:xfrm>
            <a:off x="5266944" y="4581144"/>
            <a:ext cx="2194560" cy="265176"/>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Filtros en inglés</a:t>
            </a:r>
            <a:endParaRPr lang="en-US" sz="950" dirty="0"/>
          </a:p>
        </p:txBody>
      </p:sp>
      <p:sp>
        <p:nvSpPr>
          <p:cNvPr id="58" name="Text 56"/>
          <p:cNvSpPr/>
          <p:nvPr/>
        </p:nvSpPr>
        <p:spPr>
          <a:xfrm>
            <a:off x="7552944" y="4581144"/>
            <a:ext cx="1280160" cy="265176"/>
          </a:xfrm>
          <a:prstGeom prst="rect">
            <a:avLst/>
          </a:prstGeom>
          <a:noFill/>
          <a:ln/>
        </p:spPr>
        <p:txBody>
          <a:bodyPr wrap="square" lIns="0" tIns="0" rIns="0" bIns="0" rtlCol="0" anchor="ctr"/>
          <a:lstStyle/>
          <a:p>
            <a:pPr marL="0" indent="0">
              <a:buNone/>
            </a:pPr>
            <a:r>
              <a:rPr lang="en-US" sz="950" dirty="0">
                <a:solidFill>
                  <a:srgbClr val="40916C"/>
                </a:solidFill>
                <a:latin typeface="Calibri" pitchFamily="34" charset="0"/>
                <a:ea typeface="Calibri" pitchFamily="34" charset="-122"/>
                <a:cs typeface="Calibri" pitchFamily="34" charset="-120"/>
              </a:rPr>
              <a:t>■ A</a:t>
            </a:r>
            <a:endParaRPr lang="en-US" sz="950" dirty="0"/>
          </a:p>
        </p:txBody>
      </p:sp>
      <p:sp>
        <p:nvSpPr>
          <p:cNvPr id="59" name="Shape 57"/>
          <p:cNvSpPr/>
          <p:nvPr/>
        </p:nvSpPr>
        <p:spPr>
          <a:xfrm>
            <a:off x="274320" y="4974336"/>
            <a:ext cx="8595360" cy="713232"/>
          </a:xfrm>
          <a:prstGeom prst="roundRect">
            <a:avLst>
              <a:gd name="adj" fmla="val 7692"/>
            </a:avLst>
          </a:prstGeom>
          <a:solidFill>
            <a:srgbClr val="E9F5EE"/>
          </a:solidFill>
          <a:ln/>
        </p:spPr>
      </p:sp>
      <p:sp>
        <p:nvSpPr>
          <p:cNvPr id="60" name="Text 58"/>
          <p:cNvSpPr/>
          <p:nvPr/>
        </p:nvSpPr>
        <p:spPr>
          <a:xfrm>
            <a:off x="411480" y="5020056"/>
            <a:ext cx="8321040" cy="621792"/>
          </a:xfrm>
          <a:prstGeom prst="rect">
            <a:avLst/>
          </a:prstGeom>
          <a:noFill/>
          <a:ln/>
        </p:spPr>
        <p:txBody>
          <a:bodyPr wrap="square" rtlCol="0" anchor="ctr"/>
          <a:lstStyle/>
          <a:p>
            <a:pPr marL="0" indent="0">
              <a:buNone/>
            </a:pPr>
            <a:r>
              <a:rPr lang="en-US" sz="950" dirty="0">
                <a:solidFill>
                  <a:srgbClr val="212529"/>
                </a:solidFill>
                <a:latin typeface="Calibri" pitchFamily="34" charset="0"/>
                <a:ea typeface="Calibri" pitchFamily="34" charset="-122"/>
                <a:cs typeface="Calibri" pitchFamily="34" charset="-120"/>
              </a:rPr>
              <a:t>Destacamos: T3 (Ver solicitud) es la única tarea donde B supera ampliamente a A (85,7% vs 64,3%) — las tarjetas con datos visibles permiten identificar sin abrir el detalle (H6). El lostness de B es globalmente menor (0,468 vs 0,572): cuando los usuarios tienen éxito en B lo hacen con rutas más directas, pero más usuarios no completan la tarea. El bug 'Invalid Date' en B viola H1 y H9 de forma severa y debe ser la primera corrección antes de cualquier iteración de diseño.</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p:spPr>
      </p:sp>
      <p:sp>
        <p:nvSpPr>
          <p:cNvPr id="3" name="Text 1"/>
          <p:cNvSpPr/>
          <p:nvPr/>
        </p:nvSpPr>
        <p:spPr>
          <a:xfrm>
            <a:off x="365760" y="109728"/>
            <a:ext cx="8412480" cy="475488"/>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9. Problemas Detectados, Gravedad y Soluciones Propuestas</a:t>
            </a:r>
            <a:endParaRPr lang="en-US" sz="1900" dirty="0"/>
          </a:p>
        </p:txBody>
      </p:sp>
      <p:sp>
        <p:nvSpPr>
          <p:cNvPr id="4" name="Shape 2"/>
          <p:cNvSpPr/>
          <p:nvPr/>
        </p:nvSpPr>
        <p:spPr>
          <a:xfrm>
            <a:off x="182880" y="768096"/>
            <a:ext cx="8778240" cy="274320"/>
          </a:xfrm>
          <a:prstGeom prst="rect">
            <a:avLst/>
          </a:prstGeom>
          <a:solidFill>
            <a:srgbClr val="1B4332"/>
          </a:solidFill>
          <a:ln/>
        </p:spPr>
      </p:sp>
      <p:sp>
        <p:nvSpPr>
          <p:cNvPr id="5" name="Text 3"/>
          <p:cNvSpPr/>
          <p:nvPr/>
        </p:nvSpPr>
        <p:spPr>
          <a:xfrm>
            <a:off x="219456" y="795528"/>
            <a:ext cx="484632"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Proto</a:t>
            </a:r>
            <a:endParaRPr lang="en-US" sz="950" dirty="0"/>
          </a:p>
        </p:txBody>
      </p:sp>
      <p:sp>
        <p:nvSpPr>
          <p:cNvPr id="6" name="Text 4"/>
          <p:cNvSpPr/>
          <p:nvPr/>
        </p:nvSpPr>
        <p:spPr>
          <a:xfrm>
            <a:off x="749808" y="795528"/>
            <a:ext cx="2697480"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Problema detectado</a:t>
            </a:r>
            <a:endParaRPr lang="en-US" sz="950" dirty="0"/>
          </a:p>
        </p:txBody>
      </p:sp>
      <p:sp>
        <p:nvSpPr>
          <p:cNvPr id="7" name="Text 5"/>
          <p:cNvSpPr/>
          <p:nvPr/>
        </p:nvSpPr>
        <p:spPr>
          <a:xfrm>
            <a:off x="3493008" y="795528"/>
            <a:ext cx="594360"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Heur.</a:t>
            </a:r>
            <a:endParaRPr lang="en-US" sz="950" dirty="0"/>
          </a:p>
        </p:txBody>
      </p:sp>
      <p:sp>
        <p:nvSpPr>
          <p:cNvPr id="8" name="Text 6"/>
          <p:cNvSpPr/>
          <p:nvPr/>
        </p:nvSpPr>
        <p:spPr>
          <a:xfrm>
            <a:off x="4133088" y="795528"/>
            <a:ext cx="521208"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Grav.</a:t>
            </a:r>
            <a:endParaRPr lang="en-US" sz="950" dirty="0"/>
          </a:p>
        </p:txBody>
      </p:sp>
      <p:sp>
        <p:nvSpPr>
          <p:cNvPr id="9" name="Text 7"/>
          <p:cNvSpPr/>
          <p:nvPr/>
        </p:nvSpPr>
        <p:spPr>
          <a:xfrm>
            <a:off x="4700016" y="795528"/>
            <a:ext cx="3886200"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Solución propuesta</a:t>
            </a:r>
            <a:endParaRPr lang="en-US" sz="950" dirty="0"/>
          </a:p>
        </p:txBody>
      </p:sp>
      <p:sp>
        <p:nvSpPr>
          <p:cNvPr id="10" name="Shape 8"/>
          <p:cNvSpPr/>
          <p:nvPr/>
        </p:nvSpPr>
        <p:spPr>
          <a:xfrm>
            <a:off x="182880" y="1060704"/>
            <a:ext cx="8778240" cy="402336"/>
          </a:xfrm>
          <a:prstGeom prst="rect">
            <a:avLst/>
          </a:prstGeom>
          <a:solidFill>
            <a:srgbClr val="FFFFFF"/>
          </a:solidFill>
          <a:ln/>
        </p:spPr>
      </p:sp>
      <p:sp>
        <p:nvSpPr>
          <p:cNvPr id="11" name="Text 9"/>
          <p:cNvSpPr/>
          <p:nvPr/>
        </p:nvSpPr>
        <p:spPr>
          <a:xfrm>
            <a:off x="219456" y="1097280"/>
            <a:ext cx="475488" cy="338328"/>
          </a:xfrm>
          <a:prstGeom prst="rect">
            <a:avLst/>
          </a:prstGeom>
          <a:noFill/>
          <a:ln/>
        </p:spPr>
        <p:txBody>
          <a:bodyPr wrap="square" lIns="0" tIns="0" rIns="0" bIns="0" rtlCol="0" anchor="ctr"/>
          <a:lstStyle/>
          <a:p>
            <a:pPr marL="0" indent="0">
              <a:buNone/>
            </a:pPr>
            <a:r>
              <a:rPr lang="en-US" sz="850" b="1" dirty="0">
                <a:solidFill>
                  <a:srgbClr val="212529"/>
                </a:solidFill>
                <a:latin typeface="Calibri" pitchFamily="34" charset="0"/>
                <a:ea typeface="Calibri" pitchFamily="34" charset="-122"/>
                <a:cs typeface="Calibri" pitchFamily="34" charset="-120"/>
              </a:rPr>
              <a:t>B</a:t>
            </a:r>
            <a:endParaRPr lang="en-US" sz="850" dirty="0"/>
          </a:p>
        </p:txBody>
      </p:sp>
      <p:sp>
        <p:nvSpPr>
          <p:cNvPr id="12" name="Text 10"/>
          <p:cNvSpPr/>
          <p:nvPr/>
        </p:nvSpPr>
        <p:spPr>
          <a:xfrm>
            <a:off x="749808" y="1097280"/>
            <a:ext cx="268833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"Invalid Date" en fecha de caducidad en el listado</a:t>
            </a:r>
            <a:endParaRPr lang="en-US" sz="850" dirty="0"/>
          </a:p>
        </p:txBody>
      </p:sp>
      <p:sp>
        <p:nvSpPr>
          <p:cNvPr id="13" name="Text 11"/>
          <p:cNvSpPr/>
          <p:nvPr/>
        </p:nvSpPr>
        <p:spPr>
          <a:xfrm>
            <a:off x="3493008" y="1097280"/>
            <a:ext cx="58521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H1, H9</a:t>
            </a:r>
            <a:endParaRPr lang="en-US" sz="850" dirty="0"/>
          </a:p>
        </p:txBody>
      </p:sp>
      <p:sp>
        <p:nvSpPr>
          <p:cNvPr id="14" name="Text 12"/>
          <p:cNvSpPr/>
          <p:nvPr/>
        </p:nvSpPr>
        <p:spPr>
          <a:xfrm>
            <a:off x="4133088" y="1097280"/>
            <a:ext cx="512064" cy="338328"/>
          </a:xfrm>
          <a:prstGeom prst="rect">
            <a:avLst/>
          </a:prstGeom>
          <a:noFill/>
          <a:ln/>
        </p:spPr>
        <p:txBody>
          <a:bodyPr wrap="square" lIns="0" tIns="0" rIns="0" bIns="0" rtlCol="0" anchor="ctr"/>
          <a:lstStyle/>
          <a:p>
            <a:pPr marL="0" indent="0">
              <a:buNone/>
            </a:pPr>
            <a:r>
              <a:rPr lang="en-US" sz="850" b="1" dirty="0">
                <a:solidFill>
                  <a:srgbClr val="D62828"/>
                </a:solidFill>
                <a:latin typeface="Calibri" pitchFamily="34" charset="0"/>
                <a:ea typeface="Calibri" pitchFamily="34" charset="-122"/>
                <a:cs typeface="Calibri" pitchFamily="34" charset="-120"/>
              </a:rPr>
              <a:t>Alta</a:t>
            </a:r>
            <a:endParaRPr lang="en-US" sz="850" dirty="0"/>
          </a:p>
        </p:txBody>
      </p:sp>
      <p:sp>
        <p:nvSpPr>
          <p:cNvPr id="15" name="Text 13"/>
          <p:cNvSpPr/>
          <p:nvPr/>
        </p:nvSpPr>
        <p:spPr>
          <a:xfrm>
            <a:off x="4700016" y="1097280"/>
            <a:ext cx="387705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Date.toLocaleDateString('es-ES') + fallback 'Sin fecha'</a:t>
            </a:r>
            <a:endParaRPr lang="en-US" sz="850" dirty="0"/>
          </a:p>
        </p:txBody>
      </p:sp>
      <p:sp>
        <p:nvSpPr>
          <p:cNvPr id="16" name="Shape 14"/>
          <p:cNvSpPr/>
          <p:nvPr/>
        </p:nvSpPr>
        <p:spPr>
          <a:xfrm>
            <a:off x="182880" y="1481328"/>
            <a:ext cx="8778240" cy="402336"/>
          </a:xfrm>
          <a:prstGeom prst="rect">
            <a:avLst/>
          </a:prstGeom>
          <a:solidFill>
            <a:srgbClr val="E9F5EE"/>
          </a:solidFill>
          <a:ln/>
        </p:spPr>
      </p:sp>
      <p:sp>
        <p:nvSpPr>
          <p:cNvPr id="17" name="Text 15"/>
          <p:cNvSpPr/>
          <p:nvPr/>
        </p:nvSpPr>
        <p:spPr>
          <a:xfrm>
            <a:off x="219456" y="1517904"/>
            <a:ext cx="475488" cy="338328"/>
          </a:xfrm>
          <a:prstGeom prst="rect">
            <a:avLst/>
          </a:prstGeom>
          <a:noFill/>
          <a:ln/>
        </p:spPr>
        <p:txBody>
          <a:bodyPr wrap="square" lIns="0" tIns="0" rIns="0" bIns="0" rtlCol="0" anchor="ctr"/>
          <a:lstStyle/>
          <a:p>
            <a:pPr marL="0" indent="0">
              <a:buNone/>
            </a:pPr>
            <a:r>
              <a:rPr lang="en-US" sz="850" b="1" dirty="0">
                <a:solidFill>
                  <a:srgbClr val="212529"/>
                </a:solidFill>
                <a:latin typeface="Calibri" pitchFamily="34" charset="0"/>
                <a:ea typeface="Calibri" pitchFamily="34" charset="-122"/>
                <a:cs typeface="Calibri" pitchFamily="34" charset="-120"/>
              </a:rPr>
              <a:t>B</a:t>
            </a:r>
            <a:endParaRPr lang="en-US" sz="850" dirty="0"/>
          </a:p>
        </p:txBody>
      </p:sp>
      <p:sp>
        <p:nvSpPr>
          <p:cNvPr id="18" name="Text 16"/>
          <p:cNvSpPr/>
          <p:nvPr/>
        </p:nvSpPr>
        <p:spPr>
          <a:xfrm>
            <a:off x="749808" y="1517904"/>
            <a:ext cx="268833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Botón 'Compartir' confunde solicitar con publicar donación</a:t>
            </a:r>
            <a:endParaRPr lang="en-US" sz="850" dirty="0"/>
          </a:p>
        </p:txBody>
      </p:sp>
      <p:sp>
        <p:nvSpPr>
          <p:cNvPr id="19" name="Text 17"/>
          <p:cNvSpPr/>
          <p:nvPr/>
        </p:nvSpPr>
        <p:spPr>
          <a:xfrm>
            <a:off x="3493008" y="1517904"/>
            <a:ext cx="58521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H2, H3</a:t>
            </a:r>
            <a:endParaRPr lang="en-US" sz="850" dirty="0"/>
          </a:p>
        </p:txBody>
      </p:sp>
      <p:sp>
        <p:nvSpPr>
          <p:cNvPr id="20" name="Text 18"/>
          <p:cNvSpPr/>
          <p:nvPr/>
        </p:nvSpPr>
        <p:spPr>
          <a:xfrm>
            <a:off x="4133088" y="1517904"/>
            <a:ext cx="512064" cy="338328"/>
          </a:xfrm>
          <a:prstGeom prst="rect">
            <a:avLst/>
          </a:prstGeom>
          <a:noFill/>
          <a:ln/>
        </p:spPr>
        <p:txBody>
          <a:bodyPr wrap="square" lIns="0" tIns="0" rIns="0" bIns="0" rtlCol="0" anchor="ctr"/>
          <a:lstStyle/>
          <a:p>
            <a:pPr marL="0" indent="0">
              <a:buNone/>
            </a:pPr>
            <a:r>
              <a:rPr lang="en-US" sz="850" b="1" dirty="0">
                <a:solidFill>
                  <a:srgbClr val="D62828"/>
                </a:solidFill>
                <a:latin typeface="Calibri" pitchFamily="34" charset="0"/>
                <a:ea typeface="Calibri" pitchFamily="34" charset="-122"/>
                <a:cs typeface="Calibri" pitchFamily="34" charset="-120"/>
              </a:rPr>
              <a:t>Alta</a:t>
            </a:r>
            <a:endParaRPr lang="en-US" sz="850" dirty="0"/>
          </a:p>
        </p:txBody>
      </p:sp>
      <p:sp>
        <p:nvSpPr>
          <p:cNvPr id="21" name="Text 19"/>
          <p:cNvSpPr/>
          <p:nvPr/>
        </p:nvSpPr>
        <p:spPr>
          <a:xfrm>
            <a:off x="4700016" y="1517904"/>
            <a:ext cx="387705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Renombrar a 'Publicar donación' y añadir tooltip explicativo</a:t>
            </a:r>
            <a:endParaRPr lang="en-US" sz="850" dirty="0"/>
          </a:p>
        </p:txBody>
      </p:sp>
      <p:sp>
        <p:nvSpPr>
          <p:cNvPr id="22" name="Shape 20"/>
          <p:cNvSpPr/>
          <p:nvPr/>
        </p:nvSpPr>
        <p:spPr>
          <a:xfrm>
            <a:off x="182880" y="1901952"/>
            <a:ext cx="8778240" cy="402336"/>
          </a:xfrm>
          <a:prstGeom prst="rect">
            <a:avLst/>
          </a:prstGeom>
          <a:solidFill>
            <a:srgbClr val="FFFFFF"/>
          </a:solidFill>
          <a:ln/>
        </p:spPr>
      </p:sp>
      <p:sp>
        <p:nvSpPr>
          <p:cNvPr id="23" name="Text 21"/>
          <p:cNvSpPr/>
          <p:nvPr/>
        </p:nvSpPr>
        <p:spPr>
          <a:xfrm>
            <a:off x="219456" y="1938528"/>
            <a:ext cx="475488" cy="338328"/>
          </a:xfrm>
          <a:prstGeom prst="rect">
            <a:avLst/>
          </a:prstGeom>
          <a:noFill/>
          <a:ln/>
        </p:spPr>
        <p:txBody>
          <a:bodyPr wrap="square" lIns="0" tIns="0" rIns="0" bIns="0" rtlCol="0" anchor="ctr"/>
          <a:lstStyle/>
          <a:p>
            <a:pPr marL="0" indent="0">
              <a:buNone/>
            </a:pPr>
            <a:r>
              <a:rPr lang="en-US" sz="850" b="1" dirty="0">
                <a:solidFill>
                  <a:srgbClr val="212529"/>
                </a:solidFill>
                <a:latin typeface="Calibri" pitchFamily="34" charset="0"/>
                <a:ea typeface="Calibri" pitchFamily="34" charset="-122"/>
                <a:cs typeface="Calibri" pitchFamily="34" charset="-120"/>
              </a:rPr>
              <a:t>A</a:t>
            </a:r>
            <a:endParaRPr lang="en-US" sz="850" dirty="0"/>
          </a:p>
        </p:txBody>
      </p:sp>
      <p:sp>
        <p:nvSpPr>
          <p:cNvPr id="24" name="Text 22"/>
          <p:cNvSpPr/>
          <p:nvPr/>
        </p:nvSpPr>
        <p:spPr>
          <a:xfrm>
            <a:off x="749808" y="1938528"/>
            <a:ext cx="268833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T3: tarjetas sin chip de estado en el listado</a:t>
            </a:r>
            <a:endParaRPr lang="en-US" sz="850" dirty="0"/>
          </a:p>
        </p:txBody>
      </p:sp>
      <p:sp>
        <p:nvSpPr>
          <p:cNvPr id="25" name="Text 23"/>
          <p:cNvSpPr/>
          <p:nvPr/>
        </p:nvSpPr>
        <p:spPr>
          <a:xfrm>
            <a:off x="3493008" y="1938528"/>
            <a:ext cx="58521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H6, H1</a:t>
            </a:r>
            <a:endParaRPr lang="en-US" sz="850" dirty="0"/>
          </a:p>
        </p:txBody>
      </p:sp>
      <p:sp>
        <p:nvSpPr>
          <p:cNvPr id="26" name="Text 24"/>
          <p:cNvSpPr/>
          <p:nvPr/>
        </p:nvSpPr>
        <p:spPr>
          <a:xfrm>
            <a:off x="4133088" y="1938528"/>
            <a:ext cx="512064" cy="338328"/>
          </a:xfrm>
          <a:prstGeom prst="rect">
            <a:avLst/>
          </a:prstGeom>
          <a:noFill/>
          <a:ln/>
        </p:spPr>
        <p:txBody>
          <a:bodyPr wrap="square" lIns="0" tIns="0" rIns="0" bIns="0" rtlCol="0" anchor="ctr"/>
          <a:lstStyle/>
          <a:p>
            <a:pPr marL="0" indent="0">
              <a:buNone/>
            </a:pPr>
            <a:r>
              <a:rPr lang="en-US" sz="850" b="1" dirty="0">
                <a:solidFill>
                  <a:srgbClr val="D62828"/>
                </a:solidFill>
                <a:latin typeface="Calibri" pitchFamily="34" charset="0"/>
                <a:ea typeface="Calibri" pitchFamily="34" charset="-122"/>
                <a:cs typeface="Calibri" pitchFamily="34" charset="-120"/>
              </a:rPr>
              <a:t>Alta</a:t>
            </a:r>
            <a:endParaRPr lang="en-US" sz="850" dirty="0"/>
          </a:p>
        </p:txBody>
      </p:sp>
      <p:sp>
        <p:nvSpPr>
          <p:cNvPr id="27" name="Text 25"/>
          <p:cNvSpPr/>
          <p:nvPr/>
        </p:nvSpPr>
        <p:spPr>
          <a:xfrm>
            <a:off x="4700016" y="1938528"/>
            <a:ext cx="387705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Mostrar chip estado (Pendiente/Aprobada/Rechazada) en cada tarjeta</a:t>
            </a:r>
            <a:endParaRPr lang="en-US" sz="850" dirty="0"/>
          </a:p>
        </p:txBody>
      </p:sp>
      <p:sp>
        <p:nvSpPr>
          <p:cNvPr id="28" name="Shape 26"/>
          <p:cNvSpPr/>
          <p:nvPr/>
        </p:nvSpPr>
        <p:spPr>
          <a:xfrm>
            <a:off x="182880" y="2322576"/>
            <a:ext cx="8778240" cy="402336"/>
          </a:xfrm>
          <a:prstGeom prst="rect">
            <a:avLst/>
          </a:prstGeom>
          <a:solidFill>
            <a:srgbClr val="E9F5EE"/>
          </a:solidFill>
          <a:ln/>
        </p:spPr>
      </p:sp>
      <p:sp>
        <p:nvSpPr>
          <p:cNvPr id="29" name="Text 27"/>
          <p:cNvSpPr/>
          <p:nvPr/>
        </p:nvSpPr>
        <p:spPr>
          <a:xfrm>
            <a:off x="219456" y="2359152"/>
            <a:ext cx="475488" cy="338328"/>
          </a:xfrm>
          <a:prstGeom prst="rect">
            <a:avLst/>
          </a:prstGeom>
          <a:noFill/>
          <a:ln/>
        </p:spPr>
        <p:txBody>
          <a:bodyPr wrap="square" lIns="0" tIns="0" rIns="0" bIns="0" rtlCol="0" anchor="ctr"/>
          <a:lstStyle/>
          <a:p>
            <a:pPr marL="0" indent="0">
              <a:buNone/>
            </a:pPr>
            <a:r>
              <a:rPr lang="en-US" sz="850" b="1" dirty="0">
                <a:solidFill>
                  <a:srgbClr val="212529"/>
                </a:solidFill>
                <a:latin typeface="Calibri" pitchFamily="34" charset="0"/>
                <a:ea typeface="Calibri" pitchFamily="34" charset="-122"/>
                <a:cs typeface="Calibri" pitchFamily="34" charset="-120"/>
              </a:rPr>
              <a:t>B</a:t>
            </a:r>
            <a:endParaRPr lang="en-US" sz="850" dirty="0"/>
          </a:p>
        </p:txBody>
      </p:sp>
      <p:sp>
        <p:nvSpPr>
          <p:cNvPr id="30" name="Text 28"/>
          <p:cNvSpPr/>
          <p:nvPr/>
        </p:nvSpPr>
        <p:spPr>
          <a:xfrm>
            <a:off x="749808" y="2359152"/>
            <a:ext cx="268833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Filtros de estado en inglés en UI en castellano</a:t>
            </a:r>
            <a:endParaRPr lang="en-US" sz="850" dirty="0"/>
          </a:p>
        </p:txBody>
      </p:sp>
      <p:sp>
        <p:nvSpPr>
          <p:cNvPr id="31" name="Text 29"/>
          <p:cNvSpPr/>
          <p:nvPr/>
        </p:nvSpPr>
        <p:spPr>
          <a:xfrm>
            <a:off x="3493008" y="2359152"/>
            <a:ext cx="58521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H2, H4</a:t>
            </a:r>
            <a:endParaRPr lang="en-US" sz="850" dirty="0"/>
          </a:p>
        </p:txBody>
      </p:sp>
      <p:sp>
        <p:nvSpPr>
          <p:cNvPr id="32" name="Text 30"/>
          <p:cNvSpPr/>
          <p:nvPr/>
        </p:nvSpPr>
        <p:spPr>
          <a:xfrm>
            <a:off x="4133088" y="2359152"/>
            <a:ext cx="512064" cy="338328"/>
          </a:xfrm>
          <a:prstGeom prst="rect">
            <a:avLst/>
          </a:prstGeom>
          <a:noFill/>
          <a:ln/>
        </p:spPr>
        <p:txBody>
          <a:bodyPr wrap="square" lIns="0" tIns="0" rIns="0" bIns="0" rtlCol="0" anchor="ctr"/>
          <a:lstStyle/>
          <a:p>
            <a:pPr marL="0" indent="0">
              <a:buNone/>
            </a:pPr>
            <a:r>
              <a:rPr lang="en-US" sz="850" b="1" dirty="0">
                <a:solidFill>
                  <a:srgbClr val="E76F51"/>
                </a:solidFill>
                <a:latin typeface="Calibri" pitchFamily="34" charset="0"/>
                <a:ea typeface="Calibri" pitchFamily="34" charset="-122"/>
                <a:cs typeface="Calibri" pitchFamily="34" charset="-120"/>
              </a:rPr>
              <a:t>Media</a:t>
            </a:r>
            <a:endParaRPr lang="en-US" sz="850" dirty="0"/>
          </a:p>
        </p:txBody>
      </p:sp>
      <p:sp>
        <p:nvSpPr>
          <p:cNvPr id="33" name="Text 31"/>
          <p:cNvSpPr/>
          <p:nvPr/>
        </p:nvSpPr>
        <p:spPr>
          <a:xfrm>
            <a:off x="4700016" y="2359152"/>
            <a:ext cx="387705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Mapear valores del enum a etiquetas en castellano en la vista</a:t>
            </a:r>
            <a:endParaRPr lang="en-US" sz="850" dirty="0"/>
          </a:p>
        </p:txBody>
      </p:sp>
      <p:sp>
        <p:nvSpPr>
          <p:cNvPr id="34" name="Shape 32"/>
          <p:cNvSpPr/>
          <p:nvPr/>
        </p:nvSpPr>
        <p:spPr>
          <a:xfrm>
            <a:off x="182880" y="2743200"/>
            <a:ext cx="8778240" cy="402336"/>
          </a:xfrm>
          <a:prstGeom prst="rect">
            <a:avLst/>
          </a:prstGeom>
          <a:solidFill>
            <a:srgbClr val="FFFFFF"/>
          </a:solidFill>
          <a:ln/>
        </p:spPr>
      </p:sp>
      <p:sp>
        <p:nvSpPr>
          <p:cNvPr id="35" name="Text 33"/>
          <p:cNvSpPr/>
          <p:nvPr/>
        </p:nvSpPr>
        <p:spPr>
          <a:xfrm>
            <a:off x="219456" y="2779776"/>
            <a:ext cx="475488" cy="338328"/>
          </a:xfrm>
          <a:prstGeom prst="rect">
            <a:avLst/>
          </a:prstGeom>
          <a:noFill/>
          <a:ln/>
        </p:spPr>
        <p:txBody>
          <a:bodyPr wrap="square" lIns="0" tIns="0" rIns="0" bIns="0" rtlCol="0" anchor="ctr"/>
          <a:lstStyle/>
          <a:p>
            <a:pPr marL="0" indent="0">
              <a:buNone/>
            </a:pPr>
            <a:r>
              <a:rPr lang="en-US" sz="850" b="1" dirty="0">
                <a:solidFill>
                  <a:srgbClr val="212529"/>
                </a:solidFill>
                <a:latin typeface="Calibri" pitchFamily="34" charset="0"/>
                <a:ea typeface="Calibri" pitchFamily="34" charset="-122"/>
                <a:cs typeface="Calibri" pitchFamily="34" charset="-120"/>
              </a:rPr>
              <a:t>B</a:t>
            </a:r>
            <a:endParaRPr lang="en-US" sz="850" dirty="0"/>
          </a:p>
        </p:txBody>
      </p:sp>
      <p:sp>
        <p:nvSpPr>
          <p:cNvPr id="36" name="Text 34"/>
          <p:cNvSpPr/>
          <p:nvPr/>
        </p:nvSpPr>
        <p:spPr>
          <a:xfrm>
            <a:off x="749808" y="2779776"/>
            <a:ext cx="268833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Botones Aprobar/Rechazar sin confirmación previa</a:t>
            </a:r>
            <a:endParaRPr lang="en-US" sz="850" dirty="0"/>
          </a:p>
        </p:txBody>
      </p:sp>
      <p:sp>
        <p:nvSpPr>
          <p:cNvPr id="37" name="Text 35"/>
          <p:cNvSpPr/>
          <p:nvPr/>
        </p:nvSpPr>
        <p:spPr>
          <a:xfrm>
            <a:off x="3493008" y="2779776"/>
            <a:ext cx="58521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H5, H3</a:t>
            </a:r>
            <a:endParaRPr lang="en-US" sz="850" dirty="0"/>
          </a:p>
        </p:txBody>
      </p:sp>
      <p:sp>
        <p:nvSpPr>
          <p:cNvPr id="38" name="Text 36"/>
          <p:cNvSpPr/>
          <p:nvPr/>
        </p:nvSpPr>
        <p:spPr>
          <a:xfrm>
            <a:off x="4133088" y="2779776"/>
            <a:ext cx="512064" cy="338328"/>
          </a:xfrm>
          <a:prstGeom prst="rect">
            <a:avLst/>
          </a:prstGeom>
          <a:noFill/>
          <a:ln/>
        </p:spPr>
        <p:txBody>
          <a:bodyPr wrap="square" lIns="0" tIns="0" rIns="0" bIns="0" rtlCol="0" anchor="ctr"/>
          <a:lstStyle/>
          <a:p>
            <a:pPr marL="0" indent="0">
              <a:buNone/>
            </a:pPr>
            <a:r>
              <a:rPr lang="en-US" sz="850" b="1" dirty="0">
                <a:solidFill>
                  <a:srgbClr val="E76F51"/>
                </a:solidFill>
                <a:latin typeface="Calibri" pitchFamily="34" charset="0"/>
                <a:ea typeface="Calibri" pitchFamily="34" charset="-122"/>
                <a:cs typeface="Calibri" pitchFamily="34" charset="-120"/>
              </a:rPr>
              <a:t>Media</a:t>
            </a:r>
            <a:endParaRPr lang="en-US" sz="850" dirty="0"/>
          </a:p>
        </p:txBody>
      </p:sp>
      <p:sp>
        <p:nvSpPr>
          <p:cNvPr id="39" name="Text 37"/>
          <p:cNvSpPr/>
          <p:nvPr/>
        </p:nvSpPr>
        <p:spPr>
          <a:xfrm>
            <a:off x="4700016" y="2779776"/>
            <a:ext cx="387705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Modal de confirmación + opción de deshacer con ventana de 5s</a:t>
            </a:r>
            <a:endParaRPr lang="en-US" sz="850" dirty="0"/>
          </a:p>
        </p:txBody>
      </p:sp>
      <p:sp>
        <p:nvSpPr>
          <p:cNvPr id="40" name="Shape 38"/>
          <p:cNvSpPr/>
          <p:nvPr/>
        </p:nvSpPr>
        <p:spPr>
          <a:xfrm>
            <a:off x="182880" y="3163824"/>
            <a:ext cx="8778240" cy="402336"/>
          </a:xfrm>
          <a:prstGeom prst="rect">
            <a:avLst/>
          </a:prstGeom>
          <a:solidFill>
            <a:srgbClr val="E9F5EE"/>
          </a:solidFill>
          <a:ln/>
        </p:spPr>
      </p:sp>
      <p:sp>
        <p:nvSpPr>
          <p:cNvPr id="41" name="Text 39"/>
          <p:cNvSpPr/>
          <p:nvPr/>
        </p:nvSpPr>
        <p:spPr>
          <a:xfrm>
            <a:off x="219456" y="3200400"/>
            <a:ext cx="475488" cy="338328"/>
          </a:xfrm>
          <a:prstGeom prst="rect">
            <a:avLst/>
          </a:prstGeom>
          <a:noFill/>
          <a:ln/>
        </p:spPr>
        <p:txBody>
          <a:bodyPr wrap="square" lIns="0" tIns="0" rIns="0" bIns="0" rtlCol="0" anchor="ctr"/>
          <a:lstStyle/>
          <a:p>
            <a:pPr marL="0" indent="0">
              <a:buNone/>
            </a:pPr>
            <a:r>
              <a:rPr lang="en-US" sz="850" b="1" dirty="0">
                <a:solidFill>
                  <a:srgbClr val="212529"/>
                </a:solidFill>
                <a:latin typeface="Calibri" pitchFamily="34" charset="0"/>
                <a:ea typeface="Calibri" pitchFamily="34" charset="-122"/>
                <a:cs typeface="Calibri" pitchFamily="34" charset="-120"/>
              </a:rPr>
              <a:t>A</a:t>
            </a:r>
            <a:endParaRPr lang="en-US" sz="850" dirty="0"/>
          </a:p>
        </p:txBody>
      </p:sp>
      <p:sp>
        <p:nvSpPr>
          <p:cNvPr id="42" name="Text 40"/>
          <p:cNvSpPr/>
          <p:nvPr/>
        </p:nvSpPr>
        <p:spPr>
          <a:xfrm>
            <a:off x="749808" y="3200400"/>
            <a:ext cx="268833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Campo cantidad sin selector de unidad (texto libre ambiguo)</a:t>
            </a:r>
            <a:endParaRPr lang="en-US" sz="850" dirty="0"/>
          </a:p>
        </p:txBody>
      </p:sp>
      <p:sp>
        <p:nvSpPr>
          <p:cNvPr id="43" name="Text 41"/>
          <p:cNvSpPr/>
          <p:nvPr/>
        </p:nvSpPr>
        <p:spPr>
          <a:xfrm>
            <a:off x="3493008" y="3200400"/>
            <a:ext cx="58521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H5</a:t>
            </a:r>
            <a:endParaRPr lang="en-US" sz="850" dirty="0"/>
          </a:p>
        </p:txBody>
      </p:sp>
      <p:sp>
        <p:nvSpPr>
          <p:cNvPr id="44" name="Text 42"/>
          <p:cNvSpPr/>
          <p:nvPr/>
        </p:nvSpPr>
        <p:spPr>
          <a:xfrm>
            <a:off x="4133088" y="3200400"/>
            <a:ext cx="512064" cy="338328"/>
          </a:xfrm>
          <a:prstGeom prst="rect">
            <a:avLst/>
          </a:prstGeom>
          <a:noFill/>
          <a:ln/>
        </p:spPr>
        <p:txBody>
          <a:bodyPr wrap="square" lIns="0" tIns="0" rIns="0" bIns="0" rtlCol="0" anchor="ctr"/>
          <a:lstStyle/>
          <a:p>
            <a:pPr marL="0" indent="0">
              <a:buNone/>
            </a:pPr>
            <a:r>
              <a:rPr lang="en-US" sz="850" b="1" dirty="0">
                <a:solidFill>
                  <a:srgbClr val="E76F51"/>
                </a:solidFill>
                <a:latin typeface="Calibri" pitchFamily="34" charset="0"/>
                <a:ea typeface="Calibri" pitchFamily="34" charset="-122"/>
                <a:cs typeface="Calibri" pitchFamily="34" charset="-120"/>
              </a:rPr>
              <a:t>Media</a:t>
            </a:r>
            <a:endParaRPr lang="en-US" sz="850" dirty="0"/>
          </a:p>
        </p:txBody>
      </p:sp>
      <p:sp>
        <p:nvSpPr>
          <p:cNvPr id="45" name="Text 43"/>
          <p:cNvSpPr/>
          <p:nvPr/>
        </p:nvSpPr>
        <p:spPr>
          <a:xfrm>
            <a:off x="4700016" y="3200400"/>
            <a:ext cx="387705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Añadir selector de unidad: kg / unidades / litros</a:t>
            </a:r>
            <a:endParaRPr lang="en-US" sz="850" dirty="0"/>
          </a:p>
        </p:txBody>
      </p:sp>
      <p:sp>
        <p:nvSpPr>
          <p:cNvPr id="46" name="Shape 44"/>
          <p:cNvSpPr/>
          <p:nvPr/>
        </p:nvSpPr>
        <p:spPr>
          <a:xfrm>
            <a:off x="182880" y="3584448"/>
            <a:ext cx="8778240" cy="402336"/>
          </a:xfrm>
          <a:prstGeom prst="rect">
            <a:avLst/>
          </a:prstGeom>
          <a:solidFill>
            <a:srgbClr val="FFFFFF"/>
          </a:solidFill>
          <a:ln/>
        </p:spPr>
      </p:sp>
      <p:sp>
        <p:nvSpPr>
          <p:cNvPr id="47" name="Text 45"/>
          <p:cNvSpPr/>
          <p:nvPr/>
        </p:nvSpPr>
        <p:spPr>
          <a:xfrm>
            <a:off x="219456" y="3621024"/>
            <a:ext cx="475488" cy="338328"/>
          </a:xfrm>
          <a:prstGeom prst="rect">
            <a:avLst/>
          </a:prstGeom>
          <a:noFill/>
          <a:ln/>
        </p:spPr>
        <p:txBody>
          <a:bodyPr wrap="square" lIns="0" tIns="0" rIns="0" bIns="0" rtlCol="0" anchor="ctr"/>
          <a:lstStyle/>
          <a:p>
            <a:pPr marL="0" indent="0">
              <a:buNone/>
            </a:pPr>
            <a:r>
              <a:rPr lang="en-US" sz="850" b="1" dirty="0">
                <a:solidFill>
                  <a:srgbClr val="212529"/>
                </a:solidFill>
                <a:latin typeface="Calibri" pitchFamily="34" charset="0"/>
                <a:ea typeface="Calibri" pitchFamily="34" charset="-122"/>
                <a:cs typeface="Calibri" pitchFamily="34" charset="-120"/>
              </a:rPr>
              <a:t>A</a:t>
            </a:r>
            <a:endParaRPr lang="en-US" sz="850" dirty="0"/>
          </a:p>
        </p:txBody>
      </p:sp>
      <p:sp>
        <p:nvSpPr>
          <p:cNvPr id="48" name="Text 46"/>
          <p:cNvSpPr/>
          <p:nvPr/>
        </p:nvSpPr>
        <p:spPr>
          <a:xfrm>
            <a:off x="749808" y="3621024"/>
            <a:ext cx="268833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T1: 6,1 páginas visitadas vs 3 mínimas para crear solicitud</a:t>
            </a:r>
            <a:endParaRPr lang="en-US" sz="850" dirty="0"/>
          </a:p>
        </p:txBody>
      </p:sp>
      <p:sp>
        <p:nvSpPr>
          <p:cNvPr id="49" name="Text 47"/>
          <p:cNvSpPr/>
          <p:nvPr/>
        </p:nvSpPr>
        <p:spPr>
          <a:xfrm>
            <a:off x="3493008" y="3621024"/>
            <a:ext cx="58521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H7, H6</a:t>
            </a:r>
            <a:endParaRPr lang="en-US" sz="850" dirty="0"/>
          </a:p>
        </p:txBody>
      </p:sp>
      <p:sp>
        <p:nvSpPr>
          <p:cNvPr id="50" name="Text 48"/>
          <p:cNvSpPr/>
          <p:nvPr/>
        </p:nvSpPr>
        <p:spPr>
          <a:xfrm>
            <a:off x="4133088" y="3621024"/>
            <a:ext cx="512064" cy="338328"/>
          </a:xfrm>
          <a:prstGeom prst="rect">
            <a:avLst/>
          </a:prstGeom>
          <a:noFill/>
          <a:ln/>
        </p:spPr>
        <p:txBody>
          <a:bodyPr wrap="square" lIns="0" tIns="0" rIns="0" bIns="0" rtlCol="0" anchor="ctr"/>
          <a:lstStyle/>
          <a:p>
            <a:pPr marL="0" indent="0">
              <a:buNone/>
            </a:pPr>
            <a:r>
              <a:rPr lang="en-US" sz="850" b="1" dirty="0">
                <a:solidFill>
                  <a:srgbClr val="E76F51"/>
                </a:solidFill>
                <a:latin typeface="Calibri" pitchFamily="34" charset="0"/>
                <a:ea typeface="Calibri" pitchFamily="34" charset="-122"/>
                <a:cs typeface="Calibri" pitchFamily="34" charset="-120"/>
              </a:rPr>
              <a:t>Media</a:t>
            </a:r>
            <a:endParaRPr lang="en-US" sz="850" dirty="0"/>
          </a:p>
        </p:txBody>
      </p:sp>
      <p:sp>
        <p:nvSpPr>
          <p:cNvPr id="51" name="Text 49"/>
          <p:cNvSpPr/>
          <p:nvPr/>
        </p:nvSpPr>
        <p:spPr>
          <a:xfrm>
            <a:off x="4700016" y="3621024"/>
            <a:ext cx="387705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CTA 'Solicitar' visible en tarjeta del listado sin abrir detalle</a:t>
            </a:r>
            <a:endParaRPr lang="en-US" sz="850" dirty="0"/>
          </a:p>
        </p:txBody>
      </p:sp>
      <p:sp>
        <p:nvSpPr>
          <p:cNvPr id="52" name="Shape 50"/>
          <p:cNvSpPr/>
          <p:nvPr/>
        </p:nvSpPr>
        <p:spPr>
          <a:xfrm>
            <a:off x="182880" y="4005072"/>
            <a:ext cx="8778240" cy="402336"/>
          </a:xfrm>
          <a:prstGeom prst="rect">
            <a:avLst/>
          </a:prstGeom>
          <a:solidFill>
            <a:srgbClr val="E9F5EE"/>
          </a:solidFill>
          <a:ln/>
        </p:spPr>
      </p:sp>
      <p:sp>
        <p:nvSpPr>
          <p:cNvPr id="53" name="Text 51"/>
          <p:cNvSpPr/>
          <p:nvPr/>
        </p:nvSpPr>
        <p:spPr>
          <a:xfrm>
            <a:off x="219456" y="4041648"/>
            <a:ext cx="475488" cy="338328"/>
          </a:xfrm>
          <a:prstGeom prst="rect">
            <a:avLst/>
          </a:prstGeom>
          <a:noFill/>
          <a:ln/>
        </p:spPr>
        <p:txBody>
          <a:bodyPr wrap="square" lIns="0" tIns="0" rIns="0" bIns="0" rtlCol="0" anchor="ctr"/>
          <a:lstStyle/>
          <a:p>
            <a:pPr marL="0" indent="0">
              <a:buNone/>
            </a:pPr>
            <a:r>
              <a:rPr lang="en-US" sz="850" b="1" dirty="0">
                <a:solidFill>
                  <a:srgbClr val="212529"/>
                </a:solidFill>
                <a:latin typeface="Calibri" pitchFamily="34" charset="0"/>
                <a:ea typeface="Calibri" pitchFamily="34" charset="-122"/>
                <a:cs typeface="Calibri" pitchFamily="34" charset="-120"/>
              </a:rPr>
              <a:t>A+B</a:t>
            </a:r>
            <a:endParaRPr lang="en-US" sz="850" dirty="0"/>
          </a:p>
        </p:txBody>
      </p:sp>
      <p:sp>
        <p:nvSpPr>
          <p:cNvPr id="54" name="Text 52"/>
          <p:cNvSpPr/>
          <p:nvPr/>
        </p:nvSpPr>
        <p:spPr>
          <a:xfrm>
            <a:off x="749808" y="4041648"/>
            <a:ext cx="268833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Sin feedback de confirmación tras crear solicitud o donación</a:t>
            </a:r>
            <a:endParaRPr lang="en-US" sz="850" dirty="0"/>
          </a:p>
        </p:txBody>
      </p:sp>
      <p:sp>
        <p:nvSpPr>
          <p:cNvPr id="55" name="Text 53"/>
          <p:cNvSpPr/>
          <p:nvPr/>
        </p:nvSpPr>
        <p:spPr>
          <a:xfrm>
            <a:off x="3493008" y="4041648"/>
            <a:ext cx="58521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H1</a:t>
            </a:r>
            <a:endParaRPr lang="en-US" sz="850" dirty="0"/>
          </a:p>
        </p:txBody>
      </p:sp>
      <p:sp>
        <p:nvSpPr>
          <p:cNvPr id="56" name="Text 54"/>
          <p:cNvSpPr/>
          <p:nvPr/>
        </p:nvSpPr>
        <p:spPr>
          <a:xfrm>
            <a:off x="4133088" y="4041648"/>
            <a:ext cx="512064" cy="338328"/>
          </a:xfrm>
          <a:prstGeom prst="rect">
            <a:avLst/>
          </a:prstGeom>
          <a:noFill/>
          <a:ln/>
        </p:spPr>
        <p:txBody>
          <a:bodyPr wrap="square" lIns="0" tIns="0" rIns="0" bIns="0" rtlCol="0" anchor="ctr"/>
          <a:lstStyle/>
          <a:p>
            <a:pPr marL="0" indent="0">
              <a:buNone/>
            </a:pPr>
            <a:r>
              <a:rPr lang="en-US" sz="850" b="1" dirty="0">
                <a:solidFill>
                  <a:srgbClr val="E76F51"/>
                </a:solidFill>
                <a:latin typeface="Calibri" pitchFamily="34" charset="0"/>
                <a:ea typeface="Calibri" pitchFamily="34" charset="-122"/>
                <a:cs typeface="Calibri" pitchFamily="34" charset="-120"/>
              </a:rPr>
              <a:t>Media</a:t>
            </a:r>
            <a:endParaRPr lang="en-US" sz="850" dirty="0"/>
          </a:p>
        </p:txBody>
      </p:sp>
      <p:sp>
        <p:nvSpPr>
          <p:cNvPr id="57" name="Text 55"/>
          <p:cNvSpPr/>
          <p:nvPr/>
        </p:nvSpPr>
        <p:spPr>
          <a:xfrm>
            <a:off x="4700016" y="4041648"/>
            <a:ext cx="387705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Mostrar toast/snackbar con enlace a la solicitud creada</a:t>
            </a:r>
            <a:endParaRPr lang="en-US" sz="850" dirty="0"/>
          </a:p>
        </p:txBody>
      </p:sp>
      <p:sp>
        <p:nvSpPr>
          <p:cNvPr id="58" name="Shape 56"/>
          <p:cNvSpPr/>
          <p:nvPr/>
        </p:nvSpPr>
        <p:spPr>
          <a:xfrm>
            <a:off x="182880" y="4425696"/>
            <a:ext cx="8778240" cy="402336"/>
          </a:xfrm>
          <a:prstGeom prst="rect">
            <a:avLst/>
          </a:prstGeom>
          <a:solidFill>
            <a:srgbClr val="FFFFFF"/>
          </a:solidFill>
          <a:ln/>
        </p:spPr>
      </p:sp>
      <p:sp>
        <p:nvSpPr>
          <p:cNvPr id="59" name="Text 57"/>
          <p:cNvSpPr/>
          <p:nvPr/>
        </p:nvSpPr>
        <p:spPr>
          <a:xfrm>
            <a:off x="219456" y="4462272"/>
            <a:ext cx="475488" cy="338328"/>
          </a:xfrm>
          <a:prstGeom prst="rect">
            <a:avLst/>
          </a:prstGeom>
          <a:noFill/>
          <a:ln/>
        </p:spPr>
        <p:txBody>
          <a:bodyPr wrap="square" lIns="0" tIns="0" rIns="0" bIns="0" rtlCol="0" anchor="ctr"/>
          <a:lstStyle/>
          <a:p>
            <a:pPr marL="0" indent="0">
              <a:buNone/>
            </a:pPr>
            <a:r>
              <a:rPr lang="en-US" sz="850" b="1" dirty="0">
                <a:solidFill>
                  <a:srgbClr val="212529"/>
                </a:solidFill>
                <a:latin typeface="Calibri" pitchFamily="34" charset="0"/>
                <a:ea typeface="Calibri" pitchFamily="34" charset="-122"/>
                <a:cs typeface="Calibri" pitchFamily="34" charset="-120"/>
              </a:rPr>
              <a:t>B</a:t>
            </a:r>
            <a:endParaRPr lang="en-US" sz="850" dirty="0"/>
          </a:p>
        </p:txBody>
      </p:sp>
      <p:sp>
        <p:nvSpPr>
          <p:cNvPr id="60" name="Text 58"/>
          <p:cNvSpPr/>
          <p:nvPr/>
        </p:nvSpPr>
        <p:spPr>
          <a:xfrm>
            <a:off x="749808" y="4462272"/>
            <a:ext cx="268833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Formulario de 8 campos excesivo en móvil</a:t>
            </a:r>
            <a:endParaRPr lang="en-US" sz="850" dirty="0"/>
          </a:p>
        </p:txBody>
      </p:sp>
      <p:sp>
        <p:nvSpPr>
          <p:cNvPr id="61" name="Text 59"/>
          <p:cNvSpPr/>
          <p:nvPr/>
        </p:nvSpPr>
        <p:spPr>
          <a:xfrm>
            <a:off x="3493008" y="4462272"/>
            <a:ext cx="58521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H8</a:t>
            </a:r>
            <a:endParaRPr lang="en-US" sz="850" dirty="0"/>
          </a:p>
        </p:txBody>
      </p:sp>
      <p:sp>
        <p:nvSpPr>
          <p:cNvPr id="62" name="Text 60"/>
          <p:cNvSpPr/>
          <p:nvPr/>
        </p:nvSpPr>
        <p:spPr>
          <a:xfrm>
            <a:off x="4133088" y="4462272"/>
            <a:ext cx="512064" cy="338328"/>
          </a:xfrm>
          <a:prstGeom prst="rect">
            <a:avLst/>
          </a:prstGeom>
          <a:noFill/>
          <a:ln/>
        </p:spPr>
        <p:txBody>
          <a:bodyPr wrap="square" lIns="0" tIns="0" rIns="0" bIns="0" rtlCol="0" anchor="ctr"/>
          <a:lstStyle/>
          <a:p>
            <a:pPr marL="0" indent="0">
              <a:buNone/>
            </a:pPr>
            <a:r>
              <a:rPr lang="en-US" sz="850" b="1" dirty="0">
                <a:solidFill>
                  <a:srgbClr val="2D6A4F"/>
                </a:solidFill>
                <a:latin typeface="Calibri" pitchFamily="34" charset="0"/>
                <a:ea typeface="Calibri" pitchFamily="34" charset="-122"/>
                <a:cs typeface="Calibri" pitchFamily="34" charset="-120"/>
              </a:rPr>
              <a:t>Baja</a:t>
            </a:r>
            <a:endParaRPr lang="en-US" sz="850" dirty="0"/>
          </a:p>
        </p:txBody>
      </p:sp>
      <p:sp>
        <p:nvSpPr>
          <p:cNvPr id="63" name="Text 61"/>
          <p:cNvSpPr/>
          <p:nvPr/>
        </p:nvSpPr>
        <p:spPr>
          <a:xfrm>
            <a:off x="4700016" y="4462272"/>
            <a:ext cx="387705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Campos opcionales colapsables o dividir en pasos wizard para móvil</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p:spPr>
      </p:sp>
      <p:sp>
        <p:nvSpPr>
          <p:cNvPr id="3" name="Text 1"/>
          <p:cNvSpPr/>
          <p:nvPr/>
        </p:nvSpPr>
        <p:spPr>
          <a:xfrm>
            <a:off x="365760" y="109728"/>
            <a:ext cx="8412480" cy="47548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10. Reflexiones y Lecciones Aprendidas</a:t>
            </a:r>
            <a:endParaRPr lang="en-US" sz="2200" dirty="0"/>
          </a:p>
        </p:txBody>
      </p:sp>
      <p:sp>
        <p:nvSpPr>
          <p:cNvPr id="4" name="Shape 2"/>
          <p:cNvSpPr/>
          <p:nvPr/>
        </p:nvSpPr>
        <p:spPr>
          <a:xfrm>
            <a:off x="274320" y="804672"/>
            <a:ext cx="4206240" cy="1325880"/>
          </a:xfrm>
          <a:prstGeom prst="roundRect">
            <a:avLst>
              <a:gd name="adj" fmla="val 6897"/>
            </a:avLst>
          </a:prstGeom>
          <a:solidFill>
            <a:srgbClr val="FFFFFF"/>
          </a:solidFill>
          <a:ln/>
          <a:effectLst>
            <a:outerShdw blurRad="76200" dist="25400" dir="2700000" algn="bl" rotWithShape="0">
              <a:srgbClr val="000000">
                <a:alpha val="10000"/>
              </a:srgbClr>
            </a:outerShdw>
          </a:effectLst>
        </p:spPr>
      </p:sp>
      <p:sp>
        <p:nvSpPr>
          <p:cNvPr id="5" name="Text 3"/>
          <p:cNvSpPr/>
          <p:nvPr/>
        </p:nvSpPr>
        <p:spPr>
          <a:xfrm>
            <a:off x="411480" y="896112"/>
            <a:ext cx="3931920" cy="274320"/>
          </a:xfrm>
          <a:prstGeom prst="rect">
            <a:avLst/>
          </a:prstGeom>
          <a:noFill/>
          <a:ln/>
        </p:spPr>
        <p:txBody>
          <a:bodyPr wrap="square" lIns="0" tIns="0" rIns="0" bIns="0"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  NPS ≠ Usabilidad</a:t>
            </a:r>
            <a:endParaRPr lang="en-US" sz="1100" dirty="0"/>
          </a:p>
        </p:txBody>
      </p:sp>
      <p:sp>
        <p:nvSpPr>
          <p:cNvPr id="6" name="Text 4"/>
          <p:cNvSpPr/>
          <p:nvPr/>
        </p:nvSpPr>
        <p:spPr>
          <a:xfrm>
            <a:off x="411480" y="1207008"/>
            <a:ext cx="3931920" cy="86868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UMUX casi idénticos (69 vs 68) pero NPS radicalmente diferente (0 vs +43). El NPS captura intención de recomendar —influenciada por el diseño emocional— mientras que el UMUX mide eficiencia funcional. Para plataformas de impacto social, ambas dimensiones son necesarias e insustituibles.</a:t>
            </a:r>
            <a:endParaRPr lang="en-US" sz="900" dirty="0"/>
          </a:p>
        </p:txBody>
      </p:sp>
      <p:sp>
        <p:nvSpPr>
          <p:cNvPr id="7" name="Shape 5"/>
          <p:cNvSpPr/>
          <p:nvPr/>
        </p:nvSpPr>
        <p:spPr>
          <a:xfrm>
            <a:off x="4754880" y="804672"/>
            <a:ext cx="4206240" cy="1325880"/>
          </a:xfrm>
          <a:prstGeom prst="roundRect">
            <a:avLst>
              <a:gd name="adj" fmla="val 6897"/>
            </a:avLst>
          </a:prstGeom>
          <a:solidFill>
            <a:srgbClr val="FFFFFF"/>
          </a:solidFill>
          <a:ln/>
          <a:effectLst>
            <a:outerShdw blurRad="76200" dist="25400" dir="2700000" algn="bl" rotWithShape="0">
              <a:srgbClr val="000000">
                <a:alpha val="10000"/>
              </a:srgbClr>
            </a:outerShdw>
          </a:effectLst>
        </p:spPr>
      </p:sp>
      <p:sp>
        <p:nvSpPr>
          <p:cNvPr id="8" name="Text 6"/>
          <p:cNvSpPr/>
          <p:nvPr/>
        </p:nvSpPr>
        <p:spPr>
          <a:xfrm>
            <a:off x="4892040" y="896112"/>
            <a:ext cx="3931920" cy="274320"/>
          </a:xfrm>
          <a:prstGeom prst="rect">
            <a:avLst/>
          </a:prstGeom>
          <a:noFill/>
          <a:ln/>
        </p:spPr>
        <p:txBody>
          <a:bodyPr wrap="square" lIns="0" tIns="0" rIns="0" bIns="0"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  Riqueza visual ≠ Facilidad de tarea</a:t>
            </a:r>
            <a:endParaRPr lang="en-US" sz="1100" dirty="0"/>
          </a:p>
        </p:txBody>
      </p:sp>
      <p:sp>
        <p:nvSpPr>
          <p:cNvPr id="9" name="Text 7"/>
          <p:cNvSpPr/>
          <p:nvPr/>
        </p:nvSpPr>
        <p:spPr>
          <a:xfrm>
            <a:off x="4892040" y="1207008"/>
            <a:ext cx="3931920" cy="86868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B tiene diseño más elaborado y mayor NPS, pero peores tiempos globales y más abandonos. Cada elemento visual debe servir a la acción del usuario: añadir un botón prominente sin etiqueta precisa genera más confusión que su ausencia.</a:t>
            </a:r>
            <a:endParaRPr lang="en-US" sz="900" dirty="0"/>
          </a:p>
        </p:txBody>
      </p:sp>
      <p:sp>
        <p:nvSpPr>
          <p:cNvPr id="10" name="Shape 8"/>
          <p:cNvSpPr/>
          <p:nvPr/>
        </p:nvSpPr>
        <p:spPr>
          <a:xfrm>
            <a:off x="274320" y="2221992"/>
            <a:ext cx="4206240" cy="1325880"/>
          </a:xfrm>
          <a:prstGeom prst="roundRect">
            <a:avLst>
              <a:gd name="adj" fmla="val 6897"/>
            </a:avLst>
          </a:prstGeom>
          <a:solidFill>
            <a:srgbClr val="FFFFFF"/>
          </a:solidFill>
          <a:ln/>
          <a:effectLst>
            <a:outerShdw blurRad="76200" dist="25400" dir="2700000" algn="bl" rotWithShape="0">
              <a:srgbClr val="000000">
                <a:alpha val="10000"/>
              </a:srgbClr>
            </a:outerShdw>
          </a:effectLst>
        </p:spPr>
      </p:sp>
      <p:sp>
        <p:nvSpPr>
          <p:cNvPr id="11" name="Text 9"/>
          <p:cNvSpPr/>
          <p:nvPr/>
        </p:nvSpPr>
        <p:spPr>
          <a:xfrm>
            <a:off x="411480" y="2313432"/>
            <a:ext cx="3931920" cy="274320"/>
          </a:xfrm>
          <a:prstGeom prst="rect">
            <a:avLst/>
          </a:prstGeom>
          <a:noFill/>
          <a:ln/>
        </p:spPr>
        <p:txBody>
          <a:bodyPr wrap="square" lIns="0" tIns="0" rIns="0" bIns="0"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  Bugs de producción contaminan los datos del test</a:t>
            </a:r>
            <a:endParaRPr lang="en-US" sz="1100" dirty="0"/>
          </a:p>
        </p:txBody>
      </p:sp>
      <p:sp>
        <p:nvSpPr>
          <p:cNvPr id="12" name="Text 10"/>
          <p:cNvSpPr/>
          <p:nvPr/>
        </p:nvSpPr>
        <p:spPr>
          <a:xfrm>
            <a:off x="411480" y="2624328"/>
            <a:ext cx="3931920" cy="86868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El bug 'Invalid Date' en B sesga las métricas de la pantalla afectada. Es imprescindible realizar un smoke test del prototipo antes de distribuirlo a los participantes. Un defecto así invalida parcialmente los datos e introduce ruido en todas las métricas relacionadas.</a:t>
            </a:r>
            <a:endParaRPr lang="en-US" sz="900" dirty="0"/>
          </a:p>
        </p:txBody>
      </p:sp>
      <p:sp>
        <p:nvSpPr>
          <p:cNvPr id="13" name="Shape 11"/>
          <p:cNvSpPr/>
          <p:nvPr/>
        </p:nvSpPr>
        <p:spPr>
          <a:xfrm>
            <a:off x="4754880" y="2221992"/>
            <a:ext cx="4206240" cy="1325880"/>
          </a:xfrm>
          <a:prstGeom prst="roundRect">
            <a:avLst>
              <a:gd name="adj" fmla="val 6897"/>
            </a:avLst>
          </a:prstGeom>
          <a:solidFill>
            <a:srgbClr val="FFFFFF"/>
          </a:solidFill>
          <a:ln/>
          <a:effectLst>
            <a:outerShdw blurRad="76200" dist="25400" dir="2700000" algn="bl" rotWithShape="0">
              <a:srgbClr val="000000">
                <a:alpha val="10000"/>
              </a:srgbClr>
            </a:outerShdw>
          </a:effectLst>
        </p:spPr>
      </p:sp>
      <p:sp>
        <p:nvSpPr>
          <p:cNvPr id="14" name="Text 12"/>
          <p:cNvSpPr/>
          <p:nvPr/>
        </p:nvSpPr>
        <p:spPr>
          <a:xfrm>
            <a:off x="4892040" y="2313432"/>
            <a:ext cx="3931920" cy="274320"/>
          </a:xfrm>
          <a:prstGeom prst="rect">
            <a:avLst/>
          </a:prstGeom>
          <a:noFill/>
          <a:ln/>
        </p:spPr>
        <p:txBody>
          <a:bodyPr wrap="square" lIns="0" tIns="0" rIns="0" bIns="0"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  Consistencia de idioma es crítica para la inclusividad</a:t>
            </a:r>
            <a:endParaRPr lang="en-US" sz="1100" dirty="0"/>
          </a:p>
        </p:txBody>
      </p:sp>
      <p:sp>
        <p:nvSpPr>
          <p:cNvPr id="15" name="Text 13"/>
          <p:cNvSpPr/>
          <p:nvPr/>
        </p:nvSpPr>
        <p:spPr>
          <a:xfrm>
            <a:off x="4892040" y="2624328"/>
            <a:ext cx="3931920" cy="86868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Los filtros en inglés de B violan H4 y desorientan a usuarios no técnicos. En un dominio solidario con usuarios de variada experiencia digital, la coherencia lingüística en todos los elementos —incluyendo los valores de los desplegables— es fundamental.</a:t>
            </a:r>
            <a:endParaRPr lang="en-US" sz="900" dirty="0"/>
          </a:p>
        </p:txBody>
      </p:sp>
      <p:sp>
        <p:nvSpPr>
          <p:cNvPr id="16" name="Shape 14"/>
          <p:cNvSpPr/>
          <p:nvPr/>
        </p:nvSpPr>
        <p:spPr>
          <a:xfrm>
            <a:off x="274320" y="3639312"/>
            <a:ext cx="4206240" cy="1325880"/>
          </a:xfrm>
          <a:prstGeom prst="roundRect">
            <a:avLst>
              <a:gd name="adj" fmla="val 6897"/>
            </a:avLst>
          </a:prstGeom>
          <a:solidFill>
            <a:srgbClr val="FFFFFF"/>
          </a:solidFill>
          <a:ln/>
          <a:effectLst>
            <a:outerShdw blurRad="76200" dist="25400" dir="2700000" algn="bl" rotWithShape="0">
              <a:srgbClr val="000000">
                <a:alpha val="10000"/>
              </a:srgbClr>
            </a:outerShdw>
          </a:effectLst>
        </p:spPr>
      </p:sp>
      <p:sp>
        <p:nvSpPr>
          <p:cNvPr id="17" name="Text 15"/>
          <p:cNvSpPr/>
          <p:nvPr/>
        </p:nvSpPr>
        <p:spPr>
          <a:xfrm>
            <a:off x="411480" y="3730752"/>
            <a:ext cx="3931920" cy="274320"/>
          </a:xfrm>
          <a:prstGeom prst="rect">
            <a:avLst/>
          </a:prstGeom>
          <a:noFill/>
          <a:ln/>
        </p:spPr>
        <p:txBody>
          <a:bodyPr wrap="square" lIns="0" tIns="0" rIns="0" bIns="0"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  Tests no moderados: potentes para medir, limitados para diagnosticar</a:t>
            </a:r>
            <a:endParaRPr lang="en-US" sz="1100" dirty="0"/>
          </a:p>
        </p:txBody>
      </p:sp>
      <p:sp>
        <p:nvSpPr>
          <p:cNvPr id="18" name="Text 16"/>
          <p:cNvSpPr/>
          <p:nvPr/>
        </p:nvSpPr>
        <p:spPr>
          <a:xfrm>
            <a:off x="411480" y="4041648"/>
            <a:ext cx="3931920" cy="86868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Loop11 nos dio datos cuantitativos ricos con 28 participantes sin coste de moderación, pero no captura el razonamiento verbal. Recomendamos combinar test no moderado (cantidad) con 3–5 sesiones moderadas con think-aloud (diagnóstico cualitativo).</a:t>
            </a:r>
            <a:endParaRPr lang="en-US" sz="900" dirty="0"/>
          </a:p>
        </p:txBody>
      </p:sp>
      <p:sp>
        <p:nvSpPr>
          <p:cNvPr id="19" name="Shape 17"/>
          <p:cNvSpPr/>
          <p:nvPr/>
        </p:nvSpPr>
        <p:spPr>
          <a:xfrm>
            <a:off x="4754880" y="3639312"/>
            <a:ext cx="4206240" cy="1325880"/>
          </a:xfrm>
          <a:prstGeom prst="roundRect">
            <a:avLst>
              <a:gd name="adj" fmla="val 6897"/>
            </a:avLst>
          </a:prstGeom>
          <a:solidFill>
            <a:srgbClr val="FFFFFF"/>
          </a:solidFill>
          <a:ln/>
          <a:effectLst>
            <a:outerShdw blurRad="76200" dist="25400" dir="2700000" algn="bl" rotWithShape="0">
              <a:srgbClr val="000000">
                <a:alpha val="10000"/>
              </a:srgbClr>
            </a:outerShdw>
          </a:effectLst>
        </p:spPr>
      </p:sp>
      <p:sp>
        <p:nvSpPr>
          <p:cNvPr id="20" name="Text 18"/>
          <p:cNvSpPr/>
          <p:nvPr/>
        </p:nvSpPr>
        <p:spPr>
          <a:xfrm>
            <a:off x="4892040" y="3730752"/>
            <a:ext cx="3931920" cy="274320"/>
          </a:xfrm>
          <a:prstGeom prst="rect">
            <a:avLst/>
          </a:prstGeom>
          <a:noFill/>
          <a:ln/>
        </p:spPr>
        <p:txBody>
          <a:bodyPr wrap="square" lIns="0" tIns="0" rIns="0" bIns="0"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  Las etiquetas de acción deben ser inequívocas en su contexto</a:t>
            </a:r>
            <a:endParaRPr lang="en-US" sz="1100" dirty="0"/>
          </a:p>
        </p:txBody>
      </p:sp>
      <p:sp>
        <p:nvSpPr>
          <p:cNvPr id="21" name="Text 19"/>
          <p:cNvSpPr/>
          <p:nvPr/>
        </p:nvSpPr>
        <p:spPr>
          <a:xfrm>
            <a:off x="4892040" y="4041648"/>
            <a:ext cx="3931920" cy="86868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La brecha de género de 43 pp en T1 de B revela que 'Compartir' puede interpretarse de formas radicalmente distintas. Solicitar y publicar son acciones contrarias: la UI debe distinguirlas con claridad total. Esta lección refuerza la importancia de las pruebas con usuarios antes de cerrar cualquier CTA.</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4332"/>
        </a:solidFill>
        <a:effectLst/>
      </p:bgPr>
    </p:bg>
    <p:spTree>
      <p:nvGrpSpPr>
        <p:cNvPr id="1" name=""/>
        <p:cNvGrpSpPr/>
        <p:nvPr/>
      </p:nvGrpSpPr>
      <p:grpSpPr>
        <a:xfrm>
          <a:off x="0" y="0"/>
          <a:ext cx="0" cy="0"/>
          <a:chOff x="0" y="0"/>
          <a:chExt cx="0" cy="0"/>
        </a:xfrm>
      </p:grpSpPr>
      <p:sp>
        <p:nvSpPr>
          <p:cNvPr id="2" name="Text 0"/>
          <p:cNvSpPr/>
          <p:nvPr/>
        </p:nvSpPr>
        <p:spPr>
          <a:xfrm>
            <a:off x="640080" y="411480"/>
            <a:ext cx="7863840" cy="594360"/>
          </a:xfrm>
          <a:prstGeom prst="rect">
            <a:avLst/>
          </a:prstGeom>
          <a:noFill/>
          <a:ln/>
        </p:spPr>
        <p:txBody>
          <a:bodyPr wrap="square" rtlCol="0" anchor="ctr"/>
          <a:lstStyle/>
          <a:p>
            <a:pPr marL="0" indent="0">
              <a:buNone/>
            </a:pPr>
            <a:r>
              <a:rPr lang="en-US" sz="3400" b="1" dirty="0">
                <a:solidFill>
                  <a:srgbClr val="E9C46A"/>
                </a:solidFill>
                <a:latin typeface="Calibri" pitchFamily="34" charset="0"/>
                <a:ea typeface="Calibri" pitchFamily="34" charset="-122"/>
                <a:cs typeface="Calibri" pitchFamily="34" charset="-120"/>
              </a:rPr>
              <a:t>Conclusión</a:t>
            </a:r>
            <a:endParaRPr lang="en-US" sz="3400" dirty="0"/>
          </a:p>
        </p:txBody>
      </p:sp>
      <p:sp>
        <p:nvSpPr>
          <p:cNvPr id="3" name="Shape 1"/>
          <p:cNvSpPr/>
          <p:nvPr/>
        </p:nvSpPr>
        <p:spPr>
          <a:xfrm>
            <a:off x="640080" y="1024128"/>
            <a:ext cx="7863840" cy="36576"/>
          </a:xfrm>
          <a:prstGeom prst="rect">
            <a:avLst/>
          </a:prstGeom>
          <a:solidFill>
            <a:srgbClr val="E9C46A"/>
          </a:solidFill>
          <a:ln/>
        </p:spPr>
      </p:sp>
      <p:sp>
        <p:nvSpPr>
          <p:cNvPr id="4" name="Text 2"/>
          <p:cNvSpPr/>
          <p:nvPr/>
        </p:nvSpPr>
        <p:spPr>
          <a:xfrm>
            <a:off x="640080" y="1115568"/>
            <a:ext cx="7863840" cy="347472"/>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Ningún prototipo es superior en todas las dimensiones.</a:t>
            </a:r>
            <a:endParaRPr lang="en-US" sz="1600" dirty="0"/>
          </a:p>
        </p:txBody>
      </p:sp>
      <p:sp>
        <p:nvSpPr>
          <p:cNvPr id="5" name="Shape 3"/>
          <p:cNvSpPr/>
          <p:nvPr/>
        </p:nvSpPr>
        <p:spPr>
          <a:xfrm>
            <a:off x="640080" y="1572768"/>
            <a:ext cx="3977640" cy="2331720"/>
          </a:xfrm>
          <a:prstGeom prst="roundRect">
            <a:avLst>
              <a:gd name="adj" fmla="val 3922"/>
            </a:avLst>
          </a:prstGeom>
          <a:solidFill>
            <a:srgbClr val="6C63A8">
              <a:alpha val="25000"/>
            </a:srgbClr>
          </a:solidFill>
          <a:ln/>
        </p:spPr>
      </p:sp>
      <p:sp>
        <p:nvSpPr>
          <p:cNvPr id="6" name="Text 4"/>
          <p:cNvSpPr/>
          <p:nvPr/>
        </p:nvSpPr>
        <p:spPr>
          <a:xfrm>
            <a:off x="777240" y="1627632"/>
            <a:ext cx="3749040" cy="320040"/>
          </a:xfrm>
          <a:prstGeom prst="rect">
            <a:avLst/>
          </a:prstGeom>
          <a:noFill/>
          <a:ln/>
        </p:spPr>
        <p:txBody>
          <a:bodyPr wrap="square" lIns="0" tIns="0" rIns="0" bIns="0" rtlCol="0" anchor="ctr"/>
          <a:lstStyle/>
          <a:p>
            <a:pPr marL="0" indent="0">
              <a:buNone/>
            </a:pPr>
            <a:r>
              <a:rPr lang="en-US" sz="1400" b="1" dirty="0">
                <a:solidFill>
                  <a:srgbClr val="6C63A8"/>
                </a:solidFill>
                <a:latin typeface="Calibri" pitchFamily="34" charset="0"/>
                <a:ea typeface="Calibri" pitchFamily="34" charset="-122"/>
                <a:cs typeface="Calibri" pitchFamily="34" charset="-120"/>
              </a:rPr>
              <a:t>Prototipo A  ✓</a:t>
            </a:r>
            <a:endParaRPr lang="en-US" sz="1400" dirty="0"/>
          </a:p>
        </p:txBody>
      </p:sp>
      <p:sp>
        <p:nvSpPr>
          <p:cNvPr id="7" name="Text 5"/>
          <p:cNvSpPr/>
          <p:nvPr/>
        </p:nvSpPr>
        <p:spPr>
          <a:xfrm>
            <a:off x="777240" y="1993392"/>
            <a:ext cx="3749040" cy="18288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Más eficiente: 74,4s vs 83,5s</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Mejor EE global: +0,27 vs −0,40</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Menor brecha de género (15 pp vs 43 pp)</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Más consistencia lingüística</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Sin bugs críticos visibles</a:t>
            </a:r>
            <a:endParaRPr lang="en-US" sz="1100" dirty="0"/>
          </a:p>
        </p:txBody>
      </p:sp>
      <p:sp>
        <p:nvSpPr>
          <p:cNvPr id="8" name="Shape 6"/>
          <p:cNvSpPr/>
          <p:nvPr/>
        </p:nvSpPr>
        <p:spPr>
          <a:xfrm>
            <a:off x="4937760" y="1572768"/>
            <a:ext cx="3977640" cy="2331720"/>
          </a:xfrm>
          <a:prstGeom prst="roundRect">
            <a:avLst>
              <a:gd name="adj" fmla="val 3922"/>
            </a:avLst>
          </a:prstGeom>
          <a:solidFill>
            <a:srgbClr val="F4A261">
              <a:alpha val="25000"/>
            </a:srgbClr>
          </a:solidFill>
          <a:ln/>
        </p:spPr>
      </p:sp>
      <p:sp>
        <p:nvSpPr>
          <p:cNvPr id="9" name="Text 7"/>
          <p:cNvSpPr/>
          <p:nvPr/>
        </p:nvSpPr>
        <p:spPr>
          <a:xfrm>
            <a:off x="5074920" y="1627632"/>
            <a:ext cx="3749040" cy="320040"/>
          </a:xfrm>
          <a:prstGeom prst="rect">
            <a:avLst/>
          </a:prstGeom>
          <a:noFill/>
          <a:ln/>
        </p:spPr>
        <p:txBody>
          <a:bodyPr wrap="square" lIns="0" tIns="0" rIns="0" bIns="0" rtlCol="0" anchor="ctr"/>
          <a:lstStyle/>
          <a:p>
            <a:pPr marL="0" indent="0">
              <a:buNone/>
            </a:pPr>
            <a:r>
              <a:rPr lang="en-US" sz="1400" b="1" dirty="0">
                <a:solidFill>
                  <a:srgbClr val="F4A261"/>
                </a:solidFill>
                <a:latin typeface="Calibri" pitchFamily="34" charset="0"/>
                <a:ea typeface="Calibri" pitchFamily="34" charset="-122"/>
                <a:cs typeface="Calibri" pitchFamily="34" charset="-120"/>
              </a:rPr>
              <a:t>Prototipo B  ✓</a:t>
            </a:r>
            <a:endParaRPr lang="en-US" sz="1400" dirty="0"/>
          </a:p>
        </p:txBody>
      </p:sp>
      <p:sp>
        <p:nvSpPr>
          <p:cNvPr id="10" name="Text 8"/>
          <p:cNvSpPr/>
          <p:nvPr/>
        </p:nvSpPr>
        <p:spPr>
          <a:xfrm>
            <a:off x="5074920" y="1993392"/>
            <a:ext cx="3749040" cy="18288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Mejor NPS: +43 vs 0</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Menor lostness global: 0,468 vs 0,572</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Mejor T3 Ver solicitud (85,7% vs 64,3%)</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Mayor identidad de marca y conexión emocional</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Formularios más completos y estructurados</a:t>
            </a:r>
            <a:endParaRPr lang="en-US" sz="1100" dirty="0"/>
          </a:p>
        </p:txBody>
      </p:sp>
      <p:sp>
        <p:nvSpPr>
          <p:cNvPr id="11" name="Shape 9"/>
          <p:cNvSpPr/>
          <p:nvPr/>
        </p:nvSpPr>
        <p:spPr>
          <a:xfrm>
            <a:off x="640080" y="4005072"/>
            <a:ext cx="7863840" cy="868680"/>
          </a:xfrm>
          <a:prstGeom prst="roundRect">
            <a:avLst>
              <a:gd name="adj" fmla="val 10526"/>
            </a:avLst>
          </a:prstGeom>
          <a:solidFill>
            <a:srgbClr val="40916C">
              <a:alpha val="70000"/>
            </a:srgbClr>
          </a:solidFill>
          <a:ln/>
        </p:spPr>
      </p:sp>
      <p:sp>
        <p:nvSpPr>
          <p:cNvPr id="12" name="Text 10"/>
          <p:cNvSpPr/>
          <p:nvPr/>
        </p:nvSpPr>
        <p:spPr>
          <a:xfrm>
            <a:off x="777240" y="4041648"/>
            <a:ext cx="7589520" cy="256032"/>
          </a:xfrm>
          <a:prstGeom prst="rect">
            <a:avLst/>
          </a:prstGeom>
          <a:noFill/>
          <a:ln/>
        </p:spPr>
        <p:txBody>
          <a:bodyPr wrap="square" lIns="0" tIns="0" rIns="0" bIns="0" rtlCol="0" anchor="ctr"/>
          <a:lstStyle/>
          <a:p>
            <a:pPr marL="0" indent="0">
              <a:buNone/>
            </a:pPr>
            <a:r>
              <a:rPr lang="en-US" sz="1200" b="1" dirty="0">
                <a:solidFill>
                  <a:srgbClr val="E9C46A"/>
                </a:solidFill>
                <a:latin typeface="Calibri" pitchFamily="34" charset="0"/>
                <a:ea typeface="Calibri" pitchFamily="34" charset="-122"/>
                <a:cs typeface="Calibri" pitchFamily="34" charset="-120"/>
              </a:rPr>
              <a:t>Solución óptima: </a:t>
            </a:r>
            <a:endParaRPr lang="en-US" sz="1200" dirty="0"/>
          </a:p>
        </p:txBody>
      </p:sp>
      <p:sp>
        <p:nvSpPr>
          <p:cNvPr id="13" name="Text 11"/>
          <p:cNvSpPr/>
          <p:nvPr/>
        </p:nvSpPr>
        <p:spPr>
          <a:xfrm>
            <a:off x="777240" y="4315968"/>
            <a:ext cx="7589520" cy="50292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Combinar la estructura de navegación y claridad de etiquetas de A con la identidad visual, densidad informativa de tarjetas y formulario estructurado de B — corrigiendo el bug de fechas, unificando el idioma de los filtros y añadiendo selector de unidades en 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2345</Words>
  <Application>Microsoft Office PowerPoint</Application>
  <PresentationFormat>Presentación en pantalla (16:9)</PresentationFormat>
  <Paragraphs>335</Paragraphs>
  <Slides>14</Slides>
  <Notes>14</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14</vt:i4>
      </vt:variant>
    </vt:vector>
  </HeadingPairs>
  <TitlesOfParts>
    <vt:vector size="17"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GCS-08 · RedDonación · Evaluación Heurística 2026</dc:title>
  <dc:subject>PptxGenJS Presentation</dc:subject>
  <dc:creator>PptxGenJS</dc:creator>
  <cp:lastModifiedBy>Usuario</cp:lastModifiedBy>
  <cp:revision>2</cp:revision>
  <dcterms:created xsi:type="dcterms:W3CDTF">2026-06-13T17:12:02Z</dcterms:created>
  <dcterms:modified xsi:type="dcterms:W3CDTF">2026-06-13T17:20:41Z</dcterms:modified>
</cp:coreProperties>
</file>