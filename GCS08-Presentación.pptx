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54" d="100"/>
          <a:sy n="154" d="100"/>
        </p:scale>
        <p:origin x="38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2.xlsx"/></Relationships>
</file>

<file path=ppt/charts/_rels/chart3.xml.rels><?xml version="1.0" encoding="UTF-8" standalone="yes"?>
<Relationships xmlns="http://schemas.openxmlformats.org/package/2006/relationships"><Relationship Id="rId1" Type="http://schemas.openxmlformats.org/officeDocument/2006/relationships/package" Target="../embeddings/Hoja_de_c_lculo_de_Microsoft_Excel3.xlsx"/></Relationships>
</file>

<file path=ppt/charts/_rels/chart4.xml.rels><?xml version="1.0" encoding="UTF-8" standalone="yes"?>
<Relationships xmlns="http://schemas.openxmlformats.org/package/2006/relationships"><Relationship Id="rId1" Type="http://schemas.openxmlformats.org/officeDocument/2006/relationships/package" Target="../embeddings/Hoja_de_c_lculo_de_Microsoft_Excel4.xlsx"/></Relationships>
</file>

<file path=ppt/charts/_rels/chart5.xml.rels><?xml version="1.0" encoding="UTF-8" standalone="yes"?>
<Relationships xmlns="http://schemas.openxmlformats.org/package/2006/relationships"><Relationship Id="rId1" Type="http://schemas.openxmlformats.org/officeDocument/2006/relationships/package" Target="../embeddings/Hoja_de_c_lculo_de_Microsoft_Excel5.xlsx"/></Relationships>
</file>

<file path=ppt/charts/_rels/chart6.xml.rels><?xml version="1.0" encoding="UTF-8" standalone="yes"?>
<Relationships xmlns="http://schemas.openxmlformats.org/package/2006/relationships"><Relationship Id="rId1" Type="http://schemas.openxmlformats.org/officeDocument/2006/relationships/package" Target="../embeddings/Hoja_de_c_lculo_de_Microsoft_Excel6.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1000" b="0" i="0" u="none" strike="noStrike">
                <a:solidFill>
                  <a:srgbClr val="000000"/>
                </a:solidFill>
                <a:latin typeface="Arial"/>
              </a:defRPr>
            </a:pPr>
            <a:r>
              <a:rPr lang="es-ES" sz="1000" b="0" i="0" u="none" strike="noStrike">
                <a:solidFill>
                  <a:srgbClr val="000000"/>
                </a:solidFill>
                <a:latin typeface="Arial"/>
              </a:rPr>
              <a:t>T2: Comparativa métricas clave</a:t>
            </a:r>
          </a:p>
        </c:rich>
      </c:tx>
      <c:layout/>
      <c:overlay val="0"/>
    </c:title>
    <c:autoTitleDeleted val="0"/>
    <c:plotArea>
      <c:layout/>
      <c:barChart>
        <c:barDir val="col"/>
        <c:grouping val="clustered"/>
        <c:varyColors val="0"/>
        <c:ser>
          <c:idx val="0"/>
          <c:order val="0"/>
          <c:tx>
            <c:strRef>
              <c:f>Sheet1!$B$1</c:f>
              <c:strCache>
                <c:ptCount val="1"/>
                <c:pt idx="0">
                  <c:v>Proto A</c:v>
                </c:pt>
              </c:strCache>
            </c:strRef>
          </c:tx>
          <c:spPr>
            <a:solidFill>
              <a:srgbClr val="6C63A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Tiempo (s)</c:v>
                </c:pt>
                <c:pt idx="1">
                  <c:v>% Éxito</c:v>
                </c:pt>
                <c:pt idx="2">
                  <c:v>Lostness ×100</c:v>
                </c:pt>
              </c:strCache>
            </c:strRef>
          </c:cat>
          <c:val>
            <c:numRef>
              <c:f>Sheet1!$B$2:$B$4</c:f>
              <c:numCache>
                <c:formatCode>General</c:formatCode>
                <c:ptCount val="3"/>
                <c:pt idx="0">
                  <c:v>66</c:v>
                </c:pt>
                <c:pt idx="1">
                  <c:v>92.9</c:v>
                </c:pt>
                <c:pt idx="2">
                  <c:v>38</c:v>
                </c:pt>
              </c:numCache>
            </c:numRef>
          </c:val>
        </c:ser>
        <c:ser>
          <c:idx val="1"/>
          <c:order val="1"/>
          <c:tx>
            <c:strRef>
              <c:f>Sheet1!$C$1</c:f>
              <c:strCache>
                <c:ptCount val="1"/>
                <c:pt idx="0">
                  <c:v>Proto B</c:v>
                </c:pt>
              </c:strCache>
            </c:strRef>
          </c:tx>
          <c:spPr>
            <a:solidFill>
              <a:srgbClr val="F4A261"/>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Tiempo (s)</c:v>
                </c:pt>
                <c:pt idx="1">
                  <c:v>% Éxito</c:v>
                </c:pt>
                <c:pt idx="2">
                  <c:v>Lostness ×100</c:v>
                </c:pt>
              </c:strCache>
            </c:strRef>
          </c:cat>
          <c:val>
            <c:numRef>
              <c:f>Sheet1!$C$2:$C$4</c:f>
              <c:numCache>
                <c:formatCode>General</c:formatCode>
                <c:ptCount val="3"/>
                <c:pt idx="0">
                  <c:v>91</c:v>
                </c:pt>
                <c:pt idx="1">
                  <c:v>78.599999999999994</c:v>
                </c:pt>
                <c:pt idx="2">
                  <c:v>44</c:v>
                </c:pt>
              </c:numCache>
            </c:numRef>
          </c:val>
        </c:ser>
        <c:dLbls>
          <c:showLegendKey val="0"/>
          <c:showVal val="1"/>
          <c:showCatName val="0"/>
          <c:showSerName val="0"/>
          <c:showPercent val="0"/>
          <c:showBubbleSize val="0"/>
        </c:dLbls>
        <c:gapWidth val="150"/>
        <c:axId val="-39371024"/>
        <c:axId val="-39370480"/>
      </c:barChart>
      <c:catAx>
        <c:axId val="-3937102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39370480"/>
        <c:crosses val="autoZero"/>
        <c:auto val="1"/>
        <c:lblAlgn val="ctr"/>
        <c:lblOffset val="100"/>
        <c:noMultiLvlLbl val="1"/>
      </c:catAx>
      <c:valAx>
        <c:axId val="-39370480"/>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39371024"/>
        <c:crosses val="autoZero"/>
        <c:crossBetween val="between"/>
      </c:valAx>
      <c:spPr>
        <a:noFill/>
        <a:ln>
          <a:noFill/>
        </a:ln>
        <a:effectLst/>
      </c:spPr>
    </c:plotArea>
    <c:legend>
      <c:legendPos val="b"/>
      <c:layout/>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autoTitleDeleted val="1"/>
    <c:plotArea>
      <c:layout/>
      <c:barChart>
        <c:barDir val="col"/>
        <c:grouping val="clustered"/>
        <c:varyColors val="0"/>
        <c:ser>
          <c:idx val="0"/>
          <c:order val="0"/>
          <c:tx>
            <c:strRef>
              <c:f>Sheet1!$B$1</c:f>
              <c:strCache>
                <c:ptCount val="1"/>
                <c:pt idx="0">
                  <c:v>Expectativa</c:v>
                </c:pt>
              </c:strCache>
            </c:strRef>
          </c:tx>
          <c:spPr>
            <a:solidFill>
              <a:srgbClr val="7C3AED"/>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Proto A</c:v>
                </c:pt>
                <c:pt idx="1">
                  <c:v>Proto B</c:v>
                </c:pt>
              </c:strCache>
            </c:strRef>
          </c:cat>
          <c:val>
            <c:numRef>
              <c:f>Sheet1!$B$2:$B$3</c:f>
              <c:numCache>
                <c:formatCode>General</c:formatCode>
                <c:ptCount val="2"/>
                <c:pt idx="0">
                  <c:v>4.71</c:v>
                </c:pt>
                <c:pt idx="1">
                  <c:v>4.29</c:v>
                </c:pt>
              </c:numCache>
            </c:numRef>
          </c:val>
        </c:ser>
        <c:ser>
          <c:idx val="1"/>
          <c:order val="1"/>
          <c:tx>
            <c:strRef>
              <c:f>Sheet1!$C$1</c:f>
              <c:strCache>
                <c:ptCount val="1"/>
                <c:pt idx="0">
                  <c:v>Experiencia</c:v>
                </c:pt>
              </c:strCache>
            </c:strRef>
          </c:tx>
          <c:spPr>
            <a:solidFill>
              <a:srgbClr val="F97316"/>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Proto A</c:v>
                </c:pt>
                <c:pt idx="1">
                  <c:v>Proto B</c:v>
                </c:pt>
              </c:strCache>
            </c:strRef>
          </c:cat>
          <c:val>
            <c:numRef>
              <c:f>Sheet1!$C$2:$C$3</c:f>
              <c:numCache>
                <c:formatCode>General</c:formatCode>
                <c:ptCount val="2"/>
                <c:pt idx="0">
                  <c:v>5.43</c:v>
                </c:pt>
                <c:pt idx="1">
                  <c:v>4.21</c:v>
                </c:pt>
              </c:numCache>
            </c:numRef>
          </c:val>
        </c:ser>
        <c:dLbls>
          <c:showLegendKey val="0"/>
          <c:showVal val="1"/>
          <c:showCatName val="0"/>
          <c:showSerName val="0"/>
          <c:showPercent val="0"/>
          <c:showBubbleSize val="0"/>
        </c:dLbls>
        <c:gapWidth val="150"/>
        <c:axId val="-1229571520"/>
        <c:axId val="-1189609248"/>
      </c:barChart>
      <c:catAx>
        <c:axId val="-1229571520"/>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1189609248"/>
        <c:crosses val="autoZero"/>
        <c:auto val="1"/>
        <c:lblAlgn val="ctr"/>
        <c:lblOffset val="100"/>
        <c:noMultiLvlLbl val="1"/>
      </c:catAx>
      <c:valAx>
        <c:axId val="-1189609248"/>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1229571520"/>
        <c:crosses val="autoZero"/>
        <c:crossBetween val="between"/>
      </c:valAx>
      <c:spPr>
        <a:noFill/>
        <a:ln>
          <a:noFill/>
        </a:ln>
        <a:effectLst/>
      </c:spPr>
    </c:plotArea>
    <c:legend>
      <c:legendPos val="b"/>
      <c:layout/>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autoTitleDeleted val="1"/>
    <c:plotArea>
      <c:layout/>
      <c:barChart>
        <c:barDir val="col"/>
        <c:grouping val="clustered"/>
        <c:varyColors val="0"/>
        <c:ser>
          <c:idx val="0"/>
          <c:order val="0"/>
          <c:tx>
            <c:strRef>
              <c:f>Sheet1!$B$1</c:f>
              <c:strCache>
                <c:ptCount val="1"/>
                <c:pt idx="0">
                  <c:v>Expectativa</c:v>
                </c:pt>
              </c:strCache>
            </c:strRef>
          </c:tx>
          <c:spPr>
            <a:solidFill>
              <a:srgbClr val="7C3AED"/>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Proto A</c:v>
                </c:pt>
                <c:pt idx="1">
                  <c:v>Proto B</c:v>
                </c:pt>
              </c:strCache>
            </c:strRef>
          </c:cat>
          <c:val>
            <c:numRef>
              <c:f>Sheet1!$B$2:$B$3</c:f>
              <c:numCache>
                <c:formatCode>General</c:formatCode>
                <c:ptCount val="2"/>
                <c:pt idx="0">
                  <c:v>4.43</c:v>
                </c:pt>
                <c:pt idx="1">
                  <c:v>4.57</c:v>
                </c:pt>
              </c:numCache>
            </c:numRef>
          </c:val>
        </c:ser>
        <c:ser>
          <c:idx val="1"/>
          <c:order val="1"/>
          <c:tx>
            <c:strRef>
              <c:f>Sheet1!$C$1</c:f>
              <c:strCache>
                <c:ptCount val="1"/>
                <c:pt idx="0">
                  <c:v>Experiencia</c:v>
                </c:pt>
              </c:strCache>
            </c:strRef>
          </c:tx>
          <c:spPr>
            <a:solidFill>
              <a:srgbClr val="F97316"/>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Proto A</c:v>
                </c:pt>
                <c:pt idx="1">
                  <c:v>Proto B</c:v>
                </c:pt>
              </c:strCache>
            </c:strRef>
          </c:cat>
          <c:val>
            <c:numRef>
              <c:f>Sheet1!$C$2:$C$3</c:f>
              <c:numCache>
                <c:formatCode>General</c:formatCode>
                <c:ptCount val="2"/>
                <c:pt idx="0">
                  <c:v>5.14</c:v>
                </c:pt>
                <c:pt idx="1">
                  <c:v>4.07</c:v>
                </c:pt>
              </c:numCache>
            </c:numRef>
          </c:val>
        </c:ser>
        <c:dLbls>
          <c:showLegendKey val="0"/>
          <c:showVal val="1"/>
          <c:showCatName val="0"/>
          <c:showSerName val="0"/>
          <c:showPercent val="0"/>
          <c:showBubbleSize val="0"/>
        </c:dLbls>
        <c:gapWidth val="150"/>
        <c:axId val="-2083853296"/>
        <c:axId val="-2083860912"/>
      </c:barChart>
      <c:catAx>
        <c:axId val="-20838532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60912"/>
        <c:crosses val="autoZero"/>
        <c:auto val="1"/>
        <c:lblAlgn val="ctr"/>
        <c:lblOffset val="100"/>
        <c:noMultiLvlLbl val="1"/>
      </c:catAx>
      <c:valAx>
        <c:axId val="-2083860912"/>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53296"/>
        <c:crosses val="autoZero"/>
        <c:crossBetween val="between"/>
      </c:valAx>
      <c:spPr>
        <a:noFill/>
        <a:ln>
          <a:noFill/>
        </a:ln>
        <a:effectLst/>
      </c:spPr>
    </c:plotArea>
    <c:legend>
      <c:legendPos val="b"/>
      <c:layout/>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900" b="0" i="0" u="none" strike="noStrike">
                <a:solidFill>
                  <a:srgbClr val="000000"/>
                </a:solidFill>
                <a:latin typeface="Arial"/>
              </a:defRPr>
            </a:pPr>
            <a:r>
              <a:rPr lang="es-ES" sz="900" b="0" i="0" u="none" strike="noStrike">
                <a:solidFill>
                  <a:srgbClr val="000000"/>
                </a:solidFill>
                <a:latin typeface="Arial"/>
              </a:rPr>
              <a:t>Tiempo medio por tarea (segundos) — A es más rápido en T2 y T5; B lo es en T4</a:t>
            </a:r>
          </a:p>
        </c:rich>
      </c:tx>
      <c:layout/>
      <c:overlay val="0"/>
    </c:title>
    <c:autoTitleDeleted val="0"/>
    <c:plotArea>
      <c:layout/>
      <c:lineChart>
        <c:grouping val="standard"/>
        <c:varyColors val="0"/>
        <c:ser>
          <c:idx val="0"/>
          <c:order val="0"/>
          <c:tx>
            <c:strRef>
              <c:f>Sheet1!$B$1</c:f>
              <c:strCache>
                <c:ptCount val="1"/>
                <c:pt idx="0">
                  <c:v>Prototipo A</c:v>
                </c:pt>
              </c:strCache>
            </c:strRef>
          </c:tx>
          <c:spPr>
            <a:ln w="25400" cap="flat">
              <a:solidFill>
                <a:srgbClr val="6C63A8"/>
              </a:solidFill>
              <a:prstDash val="solid"/>
              <a:round/>
            </a:ln>
            <a:effectLst/>
          </c:spPr>
          <c:marker>
            <c:symbol val="circle"/>
            <c:size val="6"/>
            <c:spPr>
              <a:solidFill>
                <a:srgbClr val="6C63A8"/>
              </a:solidFill>
              <a:ln w="9525" cap="flat">
                <a:solidFill>
                  <a:srgbClr val="6C63A8"/>
                </a:solidFill>
                <a:prstDash val="solid"/>
                <a:round/>
              </a:ln>
              <a:effectLst/>
            </c:spPr>
          </c:marker>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T1</c:v>
                </c:pt>
                <c:pt idx="1">
                  <c:v>T2</c:v>
                </c:pt>
                <c:pt idx="2">
                  <c:v>T3</c:v>
                </c:pt>
                <c:pt idx="3">
                  <c:v>T4</c:v>
                </c:pt>
                <c:pt idx="4">
                  <c:v>T5</c:v>
                </c:pt>
              </c:strCache>
            </c:strRef>
          </c:cat>
          <c:val>
            <c:numRef>
              <c:f>Sheet1!$B$2:$B$6</c:f>
              <c:numCache>
                <c:formatCode>General</c:formatCode>
                <c:ptCount val="5"/>
                <c:pt idx="0">
                  <c:v>91</c:v>
                </c:pt>
                <c:pt idx="1">
                  <c:v>66</c:v>
                </c:pt>
                <c:pt idx="2">
                  <c:v>73</c:v>
                </c:pt>
                <c:pt idx="3">
                  <c:v>80</c:v>
                </c:pt>
                <c:pt idx="4">
                  <c:v>62</c:v>
                </c:pt>
              </c:numCache>
            </c:numRef>
          </c:val>
          <c:smooth val="0"/>
        </c:ser>
        <c:ser>
          <c:idx val="1"/>
          <c:order val="1"/>
          <c:tx>
            <c:strRef>
              <c:f>Sheet1!$C$1</c:f>
              <c:strCache>
                <c:ptCount val="1"/>
                <c:pt idx="0">
                  <c:v>Prototipo B</c:v>
                </c:pt>
              </c:strCache>
            </c:strRef>
          </c:tx>
          <c:spPr>
            <a:ln w="25400" cap="flat">
              <a:solidFill>
                <a:srgbClr val="F4A261"/>
              </a:solidFill>
              <a:prstDash val="solid"/>
              <a:round/>
            </a:ln>
            <a:effectLst/>
          </c:spPr>
          <c:marker>
            <c:symbol val="circle"/>
            <c:size val="6"/>
            <c:spPr>
              <a:solidFill>
                <a:srgbClr val="F4A261"/>
              </a:solidFill>
              <a:ln w="9525" cap="flat">
                <a:solidFill>
                  <a:srgbClr val="F4A261"/>
                </a:solidFill>
                <a:prstDash val="solid"/>
                <a:round/>
              </a:ln>
              <a:effectLst/>
            </c:spPr>
          </c:marker>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T1</c:v>
                </c:pt>
                <c:pt idx="1">
                  <c:v>T2</c:v>
                </c:pt>
                <c:pt idx="2">
                  <c:v>T3</c:v>
                </c:pt>
                <c:pt idx="3">
                  <c:v>T4</c:v>
                </c:pt>
                <c:pt idx="4">
                  <c:v>T5</c:v>
                </c:pt>
              </c:strCache>
            </c:strRef>
          </c:cat>
          <c:val>
            <c:numRef>
              <c:f>Sheet1!$C$2:$C$6</c:f>
              <c:numCache>
                <c:formatCode>General</c:formatCode>
                <c:ptCount val="5"/>
                <c:pt idx="0">
                  <c:v>92</c:v>
                </c:pt>
                <c:pt idx="1">
                  <c:v>91</c:v>
                </c:pt>
                <c:pt idx="2">
                  <c:v>74</c:v>
                </c:pt>
                <c:pt idx="3">
                  <c:v>75</c:v>
                </c:pt>
                <c:pt idx="4">
                  <c:v>86</c:v>
                </c:pt>
              </c:numCache>
            </c:numRef>
          </c:val>
          <c:smooth val="0"/>
        </c:ser>
        <c:dLbls>
          <c:showLegendKey val="0"/>
          <c:showVal val="1"/>
          <c:showCatName val="0"/>
          <c:showSerName val="0"/>
          <c:showPercent val="0"/>
          <c:showBubbleSize val="0"/>
        </c:dLbls>
        <c:marker val="1"/>
        <c:smooth val="0"/>
        <c:axId val="-2083866896"/>
        <c:axId val="-2083861456"/>
      </c:lineChart>
      <c:catAx>
        <c:axId val="-208386689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61456"/>
        <c:crosses val="autoZero"/>
        <c:auto val="1"/>
        <c:lblAlgn val="ctr"/>
        <c:lblOffset val="100"/>
        <c:noMultiLvlLbl val="1"/>
      </c:catAx>
      <c:valAx>
        <c:axId val="-2083861456"/>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66896"/>
        <c:crosses val="autoZero"/>
        <c:crossBetween val="between"/>
      </c:valAx>
      <c:spPr>
        <a:noFill/>
        <a:ln>
          <a:noFill/>
        </a:ln>
        <a:effectLst/>
      </c:spPr>
    </c:plotArea>
    <c:legend>
      <c:legendPos val="r"/>
      <c:layout/>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900" b="0" i="0" u="none" strike="noStrike">
                <a:solidFill>
                  <a:srgbClr val="000000"/>
                </a:solidFill>
                <a:latin typeface="Arial"/>
              </a:defRPr>
            </a:pPr>
            <a:r>
              <a:rPr lang="es-ES" sz="900" b="0" i="0" u="none" strike="noStrike">
                <a:solidFill>
                  <a:srgbClr val="000000"/>
                </a:solidFill>
                <a:latin typeface="Arial"/>
              </a:rPr>
              <a:t>Expectativa vs Experiencia T1 por género — Prototipo B</a:t>
            </a:r>
          </a:p>
        </c:rich>
      </c:tx>
      <c:layout/>
      <c:overlay val="0"/>
    </c:title>
    <c:autoTitleDeleted val="0"/>
    <c:plotArea>
      <c:layout/>
      <c:barChart>
        <c:barDir val="col"/>
        <c:grouping val="clustered"/>
        <c:varyColors val="0"/>
        <c:ser>
          <c:idx val="0"/>
          <c:order val="0"/>
          <c:tx>
            <c:strRef>
              <c:f>Sheet1!$B$1</c:f>
              <c:strCache>
                <c:ptCount val="1"/>
                <c:pt idx="0">
                  <c:v>Expectativa</c:v>
                </c:pt>
              </c:strCache>
            </c:strRef>
          </c:tx>
          <c:spPr>
            <a:solidFill>
              <a:srgbClr val="D62828"/>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Femenino</c:v>
                </c:pt>
                <c:pt idx="1">
                  <c:v>Masculino</c:v>
                </c:pt>
              </c:strCache>
            </c:strRef>
          </c:cat>
          <c:val>
            <c:numRef>
              <c:f>Sheet1!$B$2:$B$3</c:f>
              <c:numCache>
                <c:formatCode>General</c:formatCode>
                <c:ptCount val="2"/>
                <c:pt idx="0">
                  <c:v>4.8600000000000003</c:v>
                </c:pt>
                <c:pt idx="1">
                  <c:v>4.43</c:v>
                </c:pt>
              </c:numCache>
            </c:numRef>
          </c:val>
        </c:ser>
        <c:ser>
          <c:idx val="1"/>
          <c:order val="1"/>
          <c:tx>
            <c:strRef>
              <c:f>Sheet1!$C$1</c:f>
              <c:strCache>
                <c:ptCount val="1"/>
                <c:pt idx="0">
                  <c:v>Experiencia</c:v>
                </c:pt>
              </c:strCache>
            </c:strRef>
          </c:tx>
          <c:spPr>
            <a:solidFill>
              <a:srgbClr val="1B4332"/>
            </a:solidFill>
            <a:effectLst/>
          </c:spPr>
          <c:invertIfNegative val="0"/>
          <c:dLbls>
            <c:numFmt formatCode="#,##0" sourceLinked="0"/>
            <c:spPr>
              <a:noFill/>
              <a:ln>
                <a:noFill/>
              </a:ln>
              <a:effectLst/>
            </c:spPr>
            <c:txPr>
              <a:bodyPr/>
              <a:lstStyle/>
              <a:p>
                <a:pPr>
                  <a:defRPr sz="8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Sheet1!$A$2:$A$3</c:f>
              <c:strCache>
                <c:ptCount val="2"/>
                <c:pt idx="0">
                  <c:v>Femenino</c:v>
                </c:pt>
                <c:pt idx="1">
                  <c:v>Masculino</c:v>
                </c:pt>
              </c:strCache>
            </c:strRef>
          </c:cat>
          <c:val>
            <c:numRef>
              <c:f>Sheet1!$C$2:$C$3</c:f>
              <c:numCache>
                <c:formatCode>General</c:formatCode>
                <c:ptCount val="2"/>
                <c:pt idx="0">
                  <c:v>4</c:v>
                </c:pt>
                <c:pt idx="1">
                  <c:v>5</c:v>
                </c:pt>
              </c:numCache>
            </c:numRef>
          </c:val>
        </c:ser>
        <c:dLbls>
          <c:showLegendKey val="0"/>
          <c:showVal val="1"/>
          <c:showCatName val="0"/>
          <c:showSerName val="0"/>
          <c:showPercent val="0"/>
          <c:showBubbleSize val="0"/>
        </c:dLbls>
        <c:gapWidth val="150"/>
        <c:axId val="-2083852208"/>
        <c:axId val="-2083855472"/>
      </c:barChart>
      <c:catAx>
        <c:axId val="-2083852208"/>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55472"/>
        <c:crosses val="autoZero"/>
        <c:auto val="1"/>
        <c:lblAlgn val="ctr"/>
        <c:lblOffset val="100"/>
        <c:noMultiLvlLbl val="1"/>
      </c:catAx>
      <c:valAx>
        <c:axId val="-2083855472"/>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52208"/>
        <c:crosses val="autoZero"/>
        <c:crossBetween val="between"/>
      </c:valAx>
      <c:spPr>
        <a:noFill/>
        <a:ln>
          <a:noFill/>
        </a:ln>
        <a:effectLst/>
      </c:spPr>
    </c:plotArea>
    <c:legend>
      <c:legendPos val="r"/>
      <c:layout/>
      <c:overlay val="0"/>
      <c:txPr>
        <a:bodyPr/>
        <a:lstStyle/>
        <a:p>
          <a:pPr>
            <a:defRPr sz="800"/>
          </a:pPr>
          <a:endParaRPr lang="es-ES"/>
        </a:p>
      </c:txPr>
    </c:legend>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s-ES"/>
  <c:roundedCorners val="1"/>
  <c:style val="2"/>
  <c:chart>
    <c:title>
      <c:tx>
        <c:rich>
          <a:bodyPr/>
          <a:lstStyle/>
          <a:p>
            <a:pPr>
              <a:defRPr sz="1000" b="0" i="0" u="none" strike="noStrike">
                <a:solidFill>
                  <a:srgbClr val="000000"/>
                </a:solidFill>
                <a:latin typeface="Arial"/>
              </a:defRPr>
            </a:pPr>
            <a:r>
              <a:rPr lang="es-ES" sz="1000" b="0" i="0" u="none" strike="noStrike">
                <a:solidFill>
                  <a:srgbClr val="000000"/>
                </a:solidFill>
                <a:latin typeface="Arial"/>
              </a:rPr>
              <a:t>Puntuaciones UMUX por ítem (escala 1–7 · punto neutro = 4)</a:t>
            </a:r>
          </a:p>
        </c:rich>
      </c:tx>
      <c:layout/>
      <c:overlay val="0"/>
    </c:title>
    <c:autoTitleDeleted val="0"/>
    <c:plotArea>
      <c:layout/>
      <c:barChart>
        <c:barDir val="col"/>
        <c:grouping val="clustered"/>
        <c:varyColors val="0"/>
        <c:ser>
          <c:idx val="0"/>
          <c:order val="0"/>
          <c:tx>
            <c:strRef>
              <c:f>Sheet1!$B$1</c:f>
              <c:strCache>
                <c:ptCount val="1"/>
                <c:pt idx="0">
                  <c:v>Prototipo A</c:v>
                </c:pt>
              </c:strCache>
            </c:strRef>
          </c:tx>
          <c:spPr>
            <a:solidFill>
              <a:srgbClr val="6C63A8"/>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UMUX1 Funciona bien</c:v>
                </c:pt>
                <c:pt idx="1">
                  <c:v>UMUX2 Facil de usar</c:v>
                </c:pt>
                <c:pt idx="2">
                  <c:v>UMUX3 Cumple necesidades</c:v>
                </c:pt>
                <c:pt idx="3">
                  <c:v>UMUX4 Sin frustracion</c:v>
                </c:pt>
              </c:strCache>
            </c:strRef>
          </c:cat>
          <c:val>
            <c:numRef>
              <c:f>Sheet1!$B$2:$B$5</c:f>
              <c:numCache>
                <c:formatCode>General</c:formatCode>
                <c:ptCount val="4"/>
                <c:pt idx="0">
                  <c:v>4.71</c:v>
                </c:pt>
                <c:pt idx="1">
                  <c:v>3.93</c:v>
                </c:pt>
                <c:pt idx="2">
                  <c:v>4.57</c:v>
                </c:pt>
                <c:pt idx="3">
                  <c:v>4.8600000000000003</c:v>
                </c:pt>
              </c:numCache>
            </c:numRef>
          </c:val>
        </c:ser>
        <c:ser>
          <c:idx val="1"/>
          <c:order val="1"/>
          <c:tx>
            <c:strRef>
              <c:f>Sheet1!$C$1</c:f>
              <c:strCache>
                <c:ptCount val="1"/>
                <c:pt idx="0">
                  <c:v>Prototipo B</c:v>
                </c:pt>
              </c:strCache>
            </c:strRef>
          </c:tx>
          <c:spPr>
            <a:solidFill>
              <a:srgbClr val="F4A261"/>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UMUX1 Funciona bien</c:v>
                </c:pt>
                <c:pt idx="1">
                  <c:v>UMUX2 Facil de usar</c:v>
                </c:pt>
                <c:pt idx="2">
                  <c:v>UMUX3 Cumple necesidades</c:v>
                </c:pt>
                <c:pt idx="3">
                  <c:v>UMUX4 Sin frustracion</c:v>
                </c:pt>
              </c:strCache>
            </c:strRef>
          </c:cat>
          <c:val>
            <c:numRef>
              <c:f>Sheet1!$C$2:$C$5</c:f>
              <c:numCache>
                <c:formatCode>General</c:formatCode>
                <c:ptCount val="4"/>
                <c:pt idx="0">
                  <c:v>4.79</c:v>
                </c:pt>
                <c:pt idx="1">
                  <c:v>3.21</c:v>
                </c:pt>
                <c:pt idx="2">
                  <c:v>4.5</c:v>
                </c:pt>
                <c:pt idx="3">
                  <c:v>5</c:v>
                </c:pt>
              </c:numCache>
            </c:numRef>
          </c:val>
        </c:ser>
        <c:dLbls>
          <c:showLegendKey val="0"/>
          <c:showVal val="1"/>
          <c:showCatName val="0"/>
          <c:showSerName val="0"/>
          <c:showPercent val="0"/>
          <c:showBubbleSize val="0"/>
        </c:dLbls>
        <c:gapWidth val="150"/>
        <c:axId val="-2083864176"/>
        <c:axId val="-2083851664"/>
      </c:barChart>
      <c:catAx>
        <c:axId val="-2083864176"/>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51664"/>
        <c:crosses val="autoZero"/>
        <c:auto val="1"/>
        <c:lblAlgn val="ctr"/>
        <c:lblOffset val="100"/>
        <c:noMultiLvlLbl val="1"/>
      </c:catAx>
      <c:valAx>
        <c:axId val="-2083851664"/>
        <c:scaling>
          <c:orientation val="minMax"/>
          <c:max val="7"/>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s-ES"/>
          </a:p>
        </c:txPr>
        <c:crossAx val="-2083864176"/>
        <c:crosses val="autoZero"/>
        <c:crossBetween val="between"/>
      </c:valAx>
      <c:spPr>
        <a:noFill/>
        <a:ln>
          <a:noFill/>
        </a:ln>
        <a:effectLst/>
      </c:spPr>
    </c:plotArea>
    <c:legend>
      <c:legendPos val="b"/>
      <c:layout/>
      <c:overlay val="0"/>
      <c:txPr>
        <a:bodyPr/>
        <a:lstStyle/>
        <a:p>
          <a:pPr>
            <a:defRPr sz="900"/>
          </a:pPr>
          <a:endParaRPr lang="es-E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3786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502920"/>
            <a:ext cx="7863840" cy="640080"/>
          </a:xfrm>
          <a:prstGeom prst="rect">
            <a:avLst/>
          </a:prstGeom>
          <a:noFill/>
          <a:ln/>
        </p:spPr>
        <p:txBody>
          <a:bodyPr wrap="square" rtlCol="0" anchor="ctr"/>
          <a:lstStyle/>
          <a:p>
            <a:pPr marL="0" indent="0">
              <a:buNone/>
            </a:pPr>
            <a:r>
              <a:rPr lang="en-US" sz="3000" b="1" dirty="0">
                <a:solidFill>
                  <a:srgbClr val="E9C46A"/>
                </a:solidFill>
                <a:latin typeface="Calibri" pitchFamily="34" charset="0"/>
                <a:ea typeface="Calibri" pitchFamily="34" charset="-122"/>
                <a:cs typeface="Calibri" pitchFamily="34" charset="-120"/>
              </a:rPr>
              <a:t>Red de Donación de Alimentos</a:t>
            </a:r>
            <a:endParaRPr lang="en-US" sz="3000" dirty="0"/>
          </a:p>
        </p:txBody>
      </p:sp>
      <p:sp>
        <p:nvSpPr>
          <p:cNvPr id="3" name="Text 1"/>
          <p:cNvSpPr/>
          <p:nvPr/>
        </p:nvSpPr>
        <p:spPr>
          <a:xfrm>
            <a:off x="640080" y="1188720"/>
            <a:ext cx="7863840" cy="457200"/>
          </a:xfrm>
          <a:prstGeom prst="rect">
            <a:avLst/>
          </a:prstGeom>
          <a:noFill/>
          <a:ln/>
        </p:spPr>
        <p:txBody>
          <a:bodyPr wrap="square" rtlCol="0" anchor="ctr"/>
          <a:lstStyle/>
          <a:p>
            <a:pPr marL="0" indent="0">
              <a:buNone/>
            </a:pPr>
            <a:r>
              <a:rPr lang="en-US" sz="1800" dirty="0">
                <a:solidFill>
                  <a:srgbClr val="FFFFFF"/>
                </a:solidFill>
                <a:latin typeface="Calibri" pitchFamily="34" charset="0"/>
                <a:ea typeface="Calibri" pitchFamily="34" charset="-122"/>
                <a:cs typeface="Calibri" pitchFamily="34" charset="-120"/>
              </a:rPr>
              <a:t>Informe de Evaluación Heurística y Test de Usuario</a:t>
            </a:r>
            <a:endParaRPr lang="en-US" sz="1800" dirty="0"/>
          </a:p>
        </p:txBody>
      </p:sp>
      <p:sp>
        <p:nvSpPr>
          <p:cNvPr id="4" name="Shape 2"/>
          <p:cNvSpPr/>
          <p:nvPr/>
        </p:nvSpPr>
        <p:spPr>
          <a:xfrm>
            <a:off x="640080" y="1737360"/>
            <a:ext cx="7863840" cy="36576"/>
          </a:xfrm>
          <a:prstGeom prst="rect">
            <a:avLst/>
          </a:prstGeom>
          <a:solidFill>
            <a:srgbClr val="E9C46A"/>
          </a:solidFill>
          <a:ln/>
        </p:spPr>
      </p:sp>
      <p:sp>
        <p:nvSpPr>
          <p:cNvPr id="5" name="Shape 3"/>
          <p:cNvSpPr/>
          <p:nvPr/>
        </p:nvSpPr>
        <p:spPr>
          <a:xfrm>
            <a:off x="640080" y="1920240"/>
            <a:ext cx="1463040" cy="1097280"/>
          </a:xfrm>
          <a:prstGeom prst="roundRect">
            <a:avLst>
              <a:gd name="adj" fmla="val 8333"/>
            </a:avLst>
          </a:prstGeom>
          <a:solidFill>
            <a:srgbClr val="40916C">
              <a:alpha val="80000"/>
            </a:srgbClr>
          </a:solidFill>
          <a:ln/>
        </p:spPr>
      </p:sp>
      <p:sp>
        <p:nvSpPr>
          <p:cNvPr id="6" name="Text 4"/>
          <p:cNvSpPr/>
          <p:nvPr/>
        </p:nvSpPr>
        <p:spPr>
          <a:xfrm>
            <a:off x="640080" y="1965960"/>
            <a:ext cx="1463040" cy="548640"/>
          </a:xfrm>
          <a:prstGeom prst="rect">
            <a:avLst/>
          </a:prstGeom>
          <a:noFill/>
          <a:ln/>
        </p:spPr>
        <p:txBody>
          <a:bodyPr wrap="square" rtlCol="0" anchor="ctr"/>
          <a:lstStyle/>
          <a:p>
            <a:pPr marL="0" indent="0" algn="ctr">
              <a:buNone/>
            </a:pPr>
            <a:r>
              <a:rPr lang="en-US" sz="2200" b="1" dirty="0">
                <a:solidFill>
                  <a:srgbClr val="E9C46A"/>
                </a:solidFill>
                <a:latin typeface="Calibri" pitchFamily="34" charset="0"/>
                <a:ea typeface="Calibri" pitchFamily="34" charset="-122"/>
                <a:cs typeface="Calibri" pitchFamily="34" charset="-120"/>
              </a:rPr>
              <a:t>28</a:t>
            </a:r>
            <a:endParaRPr lang="en-US" sz="2200" dirty="0"/>
          </a:p>
        </p:txBody>
      </p:sp>
      <p:sp>
        <p:nvSpPr>
          <p:cNvPr id="7" name="Text 5"/>
          <p:cNvSpPr/>
          <p:nvPr/>
        </p:nvSpPr>
        <p:spPr>
          <a:xfrm>
            <a:off x="640080"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Participantes</a:t>
            </a:r>
            <a:endParaRPr lang="en-US" sz="1000" dirty="0"/>
          </a:p>
        </p:txBody>
      </p:sp>
      <p:sp>
        <p:nvSpPr>
          <p:cNvPr id="8" name="Shape 6"/>
          <p:cNvSpPr/>
          <p:nvPr/>
        </p:nvSpPr>
        <p:spPr>
          <a:xfrm>
            <a:off x="2267712" y="1920240"/>
            <a:ext cx="1463040" cy="1097280"/>
          </a:xfrm>
          <a:prstGeom prst="roundRect">
            <a:avLst>
              <a:gd name="adj" fmla="val 8333"/>
            </a:avLst>
          </a:prstGeom>
          <a:solidFill>
            <a:srgbClr val="40916C">
              <a:alpha val="80000"/>
            </a:srgbClr>
          </a:solidFill>
          <a:ln/>
        </p:spPr>
      </p:sp>
      <p:sp>
        <p:nvSpPr>
          <p:cNvPr id="9" name="Text 7"/>
          <p:cNvSpPr/>
          <p:nvPr/>
        </p:nvSpPr>
        <p:spPr>
          <a:xfrm>
            <a:off x="2267712" y="1965960"/>
            <a:ext cx="1463040" cy="548640"/>
          </a:xfrm>
          <a:prstGeom prst="rect">
            <a:avLst/>
          </a:prstGeom>
          <a:noFill/>
          <a:ln/>
        </p:spPr>
        <p:txBody>
          <a:bodyPr wrap="square" rtlCol="0" anchor="ctr"/>
          <a:lstStyle/>
          <a:p>
            <a:pPr marL="0" indent="0" algn="ctr">
              <a:buNone/>
            </a:pPr>
            <a:r>
              <a:rPr lang="en-US" sz="2200" b="1" dirty="0">
                <a:solidFill>
                  <a:srgbClr val="E9C46A"/>
                </a:solidFill>
                <a:latin typeface="Calibri" pitchFamily="34" charset="0"/>
                <a:ea typeface="Calibri" pitchFamily="34" charset="-122"/>
                <a:cs typeface="Calibri" pitchFamily="34" charset="-120"/>
              </a:rPr>
              <a:t>2</a:t>
            </a:r>
            <a:endParaRPr lang="en-US" sz="2200" dirty="0"/>
          </a:p>
        </p:txBody>
      </p:sp>
      <p:sp>
        <p:nvSpPr>
          <p:cNvPr id="10" name="Text 8"/>
          <p:cNvSpPr/>
          <p:nvPr/>
        </p:nvSpPr>
        <p:spPr>
          <a:xfrm>
            <a:off x="2267712"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Prototipos</a:t>
            </a:r>
            <a:endParaRPr lang="en-US" sz="1000" dirty="0"/>
          </a:p>
        </p:txBody>
      </p:sp>
      <p:sp>
        <p:nvSpPr>
          <p:cNvPr id="11" name="Shape 9"/>
          <p:cNvSpPr/>
          <p:nvPr/>
        </p:nvSpPr>
        <p:spPr>
          <a:xfrm>
            <a:off x="3895344" y="1920240"/>
            <a:ext cx="1463040" cy="1097280"/>
          </a:xfrm>
          <a:prstGeom prst="roundRect">
            <a:avLst>
              <a:gd name="adj" fmla="val 8333"/>
            </a:avLst>
          </a:prstGeom>
          <a:solidFill>
            <a:srgbClr val="40916C">
              <a:alpha val="80000"/>
            </a:srgbClr>
          </a:solidFill>
          <a:ln/>
        </p:spPr>
      </p:sp>
      <p:sp>
        <p:nvSpPr>
          <p:cNvPr id="12" name="Text 10"/>
          <p:cNvSpPr/>
          <p:nvPr/>
        </p:nvSpPr>
        <p:spPr>
          <a:xfrm>
            <a:off x="3895344" y="1965960"/>
            <a:ext cx="1463040" cy="548640"/>
          </a:xfrm>
          <a:prstGeom prst="rect">
            <a:avLst/>
          </a:prstGeom>
          <a:noFill/>
          <a:ln/>
        </p:spPr>
        <p:txBody>
          <a:bodyPr wrap="square" rtlCol="0" anchor="ctr"/>
          <a:lstStyle/>
          <a:p>
            <a:pPr marL="0" indent="0" algn="ctr">
              <a:buNone/>
            </a:pPr>
            <a:r>
              <a:rPr lang="en-US" sz="2200" b="1" dirty="0">
                <a:solidFill>
                  <a:srgbClr val="E9C46A"/>
                </a:solidFill>
                <a:latin typeface="Calibri" pitchFamily="34" charset="0"/>
                <a:ea typeface="Calibri" pitchFamily="34" charset="-122"/>
                <a:cs typeface="Calibri" pitchFamily="34" charset="-120"/>
              </a:rPr>
              <a:t>5</a:t>
            </a:r>
            <a:endParaRPr lang="en-US" sz="2200" dirty="0"/>
          </a:p>
        </p:txBody>
      </p:sp>
      <p:sp>
        <p:nvSpPr>
          <p:cNvPr id="13" name="Text 11"/>
          <p:cNvSpPr/>
          <p:nvPr/>
        </p:nvSpPr>
        <p:spPr>
          <a:xfrm>
            <a:off x="3895344"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Tareas</a:t>
            </a:r>
            <a:endParaRPr lang="en-US" sz="1000" dirty="0"/>
          </a:p>
        </p:txBody>
      </p:sp>
      <p:sp>
        <p:nvSpPr>
          <p:cNvPr id="14" name="Shape 12"/>
          <p:cNvSpPr/>
          <p:nvPr/>
        </p:nvSpPr>
        <p:spPr>
          <a:xfrm>
            <a:off x="5522976" y="1920240"/>
            <a:ext cx="1463040" cy="1097280"/>
          </a:xfrm>
          <a:prstGeom prst="roundRect">
            <a:avLst>
              <a:gd name="adj" fmla="val 8333"/>
            </a:avLst>
          </a:prstGeom>
          <a:solidFill>
            <a:srgbClr val="40916C">
              <a:alpha val="80000"/>
            </a:srgbClr>
          </a:solidFill>
          <a:ln/>
        </p:spPr>
      </p:sp>
      <p:sp>
        <p:nvSpPr>
          <p:cNvPr id="15" name="Text 13"/>
          <p:cNvSpPr/>
          <p:nvPr/>
        </p:nvSpPr>
        <p:spPr>
          <a:xfrm>
            <a:off x="5522976" y="1965960"/>
            <a:ext cx="1463040" cy="548640"/>
          </a:xfrm>
          <a:prstGeom prst="rect">
            <a:avLst/>
          </a:prstGeom>
          <a:noFill/>
          <a:ln/>
        </p:spPr>
        <p:txBody>
          <a:bodyPr wrap="square" rtlCol="0" anchor="ctr"/>
          <a:lstStyle/>
          <a:p>
            <a:pPr marL="0" indent="0" algn="ctr">
              <a:buNone/>
            </a:pPr>
            <a:r>
              <a:rPr lang="en-US" sz="1200" b="1" dirty="0">
                <a:solidFill>
                  <a:srgbClr val="E9C46A"/>
                </a:solidFill>
                <a:latin typeface="Calibri" pitchFamily="34" charset="0"/>
                <a:ea typeface="Calibri" pitchFamily="34" charset="-122"/>
                <a:cs typeface="Calibri" pitchFamily="34" charset="-120"/>
              </a:rPr>
              <a:t>No Moderado</a:t>
            </a:r>
            <a:endParaRPr lang="en-US" sz="1200" dirty="0"/>
          </a:p>
        </p:txBody>
      </p:sp>
      <p:sp>
        <p:nvSpPr>
          <p:cNvPr id="16" name="Text 14"/>
          <p:cNvSpPr/>
          <p:nvPr/>
        </p:nvSpPr>
        <p:spPr>
          <a:xfrm>
            <a:off x="5522976"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Modalidad</a:t>
            </a:r>
            <a:endParaRPr lang="en-US" sz="1000" dirty="0"/>
          </a:p>
        </p:txBody>
      </p:sp>
      <p:sp>
        <p:nvSpPr>
          <p:cNvPr id="17" name="Shape 15"/>
          <p:cNvSpPr/>
          <p:nvPr/>
        </p:nvSpPr>
        <p:spPr>
          <a:xfrm>
            <a:off x="7150608" y="1920240"/>
            <a:ext cx="1463040" cy="1097280"/>
          </a:xfrm>
          <a:prstGeom prst="roundRect">
            <a:avLst>
              <a:gd name="adj" fmla="val 8333"/>
            </a:avLst>
          </a:prstGeom>
          <a:solidFill>
            <a:srgbClr val="40916C">
              <a:alpha val="80000"/>
            </a:srgbClr>
          </a:solidFill>
          <a:ln/>
        </p:spPr>
      </p:sp>
      <p:sp>
        <p:nvSpPr>
          <p:cNvPr id="18" name="Text 16"/>
          <p:cNvSpPr/>
          <p:nvPr/>
        </p:nvSpPr>
        <p:spPr>
          <a:xfrm>
            <a:off x="7150608" y="1965960"/>
            <a:ext cx="1463040" cy="548640"/>
          </a:xfrm>
          <a:prstGeom prst="rect">
            <a:avLst/>
          </a:prstGeom>
          <a:noFill/>
          <a:ln/>
        </p:spPr>
        <p:txBody>
          <a:bodyPr wrap="square" rtlCol="0" anchor="ctr"/>
          <a:lstStyle/>
          <a:p>
            <a:pPr marL="0" indent="0" algn="ctr">
              <a:buNone/>
            </a:pPr>
            <a:r>
              <a:rPr lang="en-US" sz="1200" b="1" dirty="0">
                <a:solidFill>
                  <a:srgbClr val="E9C46A"/>
                </a:solidFill>
                <a:latin typeface="Calibri" pitchFamily="34" charset="0"/>
                <a:ea typeface="Calibri" pitchFamily="34" charset="-122"/>
                <a:cs typeface="Calibri" pitchFamily="34" charset="-120"/>
              </a:rPr>
              <a:t>Loop11</a:t>
            </a:r>
            <a:endParaRPr lang="en-US" sz="1200" dirty="0"/>
          </a:p>
        </p:txBody>
      </p:sp>
      <p:sp>
        <p:nvSpPr>
          <p:cNvPr id="19" name="Text 17"/>
          <p:cNvSpPr/>
          <p:nvPr/>
        </p:nvSpPr>
        <p:spPr>
          <a:xfrm>
            <a:off x="7150608" y="2514600"/>
            <a:ext cx="1463040" cy="36576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Herramienta</a:t>
            </a:r>
            <a:endParaRPr lang="en-US" sz="1000" dirty="0"/>
          </a:p>
        </p:txBody>
      </p:sp>
      <p:sp>
        <p:nvSpPr>
          <p:cNvPr id="20" name="Text 18"/>
          <p:cNvSpPr/>
          <p:nvPr/>
        </p:nvSpPr>
        <p:spPr>
          <a:xfrm>
            <a:off x="640080" y="4389120"/>
            <a:ext cx="7863840" cy="365760"/>
          </a:xfrm>
          <a:prstGeom prst="rect">
            <a:avLst/>
          </a:prstGeom>
          <a:noFill/>
          <a:ln/>
        </p:spPr>
        <p:txBody>
          <a:bodyPr wrap="square" rtlCol="0" anchor="ctr"/>
          <a:lstStyle/>
          <a:p>
            <a:pPr marL="0" indent="0" algn="ctr">
              <a:buNone/>
            </a:pPr>
            <a:r>
              <a:rPr lang="en-US" sz="1200" dirty="0">
                <a:solidFill>
                  <a:srgbClr val="6C757D"/>
                </a:solidFill>
                <a:latin typeface="Calibri" pitchFamily="34" charset="0"/>
                <a:ea typeface="Calibri" pitchFamily="34" charset="-122"/>
                <a:cs typeface="Calibri" pitchFamily="34" charset="-120"/>
              </a:rPr>
              <a:t>GCS-08 · Gestión de Calidad del Software · 2026</a:t>
            </a:r>
            <a:endParaRPr lang="en-US" sz="1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 Descripción del Proyecto</a:t>
            </a:r>
            <a:endParaRPr lang="en-US" sz="2200" dirty="0"/>
          </a:p>
        </p:txBody>
      </p:sp>
      <p:sp>
        <p:nvSpPr>
          <p:cNvPr id="4" name="Text 2"/>
          <p:cNvSpPr/>
          <p:nvPr/>
        </p:nvSpPr>
        <p:spPr>
          <a:xfrm>
            <a:off x="365760" y="868680"/>
            <a:ext cx="5120640" cy="3200400"/>
          </a:xfrm>
          <a:prstGeom prst="rect">
            <a:avLst/>
          </a:prstGeom>
          <a:noFill/>
          <a:ln/>
        </p:spPr>
        <p:txBody>
          <a:bodyPr wrap="square" rtlCol="0" anchor="t"/>
          <a:lstStyle/>
          <a:p>
            <a:pPr marL="0" indent="0">
              <a:buNone/>
            </a:pPr>
            <a:r>
              <a:rPr lang="en-US" sz="1300" b="1" dirty="0">
                <a:solidFill>
                  <a:srgbClr val="212529"/>
                </a:solidFill>
                <a:latin typeface="Calibri" pitchFamily="34" charset="0"/>
                <a:ea typeface="Calibri" pitchFamily="34" charset="-122"/>
                <a:cs typeface="Calibri" pitchFamily="34" charset="-120"/>
              </a:rPr>
              <a:t>RedDonación</a:t>
            </a:r>
            <a:r>
              <a:rPr lang="en-US" sz="1300" dirty="0">
                <a:solidFill>
                  <a:srgbClr val="212529"/>
                </a:solidFill>
                <a:latin typeface="Calibri" pitchFamily="34" charset="0"/>
                <a:ea typeface="Calibri" pitchFamily="34" charset="-122"/>
                <a:cs typeface="Calibri" pitchFamily="34" charset="-120"/>
              </a:rPr>
              <a:t> es una plataforma web que conecta donantes de alimentos —restaurantes, supermercados y particulares— con receptores y ONGs para reducir el desperdicio alimentario y facilitar la distribución solidaria.</a:t>
            </a:r>
            <a:endParaRPr lang="en-US" sz="1300" dirty="0"/>
          </a:p>
          <a:p>
            <a:pPr marL="0" indent="0">
              <a:buNone/>
            </a:pPr>
            <a:endParaRPr lang="en-US" sz="1300" dirty="0"/>
          </a:p>
          <a:p>
            <a:pPr marL="0" indent="0">
              <a:buNone/>
            </a:pPr>
            <a:r>
              <a:rPr lang="en-US" sz="1300" b="1" dirty="0">
                <a:solidFill>
                  <a:srgbClr val="212529"/>
                </a:solidFill>
                <a:latin typeface="Calibri" pitchFamily="34" charset="0"/>
                <a:ea typeface="Calibri" pitchFamily="34" charset="-122"/>
                <a:cs typeface="Calibri" pitchFamily="34" charset="-120"/>
              </a:rPr>
              <a:t>Backend: </a:t>
            </a:r>
            <a:endParaRPr lang="en-US" sz="1300" dirty="0"/>
          </a:p>
          <a:p>
            <a:pPr marL="0" indent="0">
              <a:buNone/>
            </a:pPr>
            <a:r>
              <a:rPr lang="en-US" sz="1300" dirty="0">
                <a:solidFill>
                  <a:srgbClr val="212529"/>
                </a:solidFill>
                <a:latin typeface="Calibri" pitchFamily="34" charset="0"/>
                <a:ea typeface="Calibri" pitchFamily="34" charset="-122"/>
                <a:cs typeface="Calibri" pitchFamily="34" charset="-120"/>
              </a:rPr>
              <a:t>FastAPI (Python) + API REST con autenticación JWT.</a:t>
            </a:r>
            <a:endParaRPr lang="en-US" sz="1300" dirty="0"/>
          </a:p>
          <a:p>
            <a:pPr marL="0" indent="0">
              <a:buNone/>
            </a:pPr>
            <a:endParaRPr lang="en-US" sz="1300" dirty="0"/>
          </a:p>
          <a:p>
            <a:pPr marL="0" indent="0">
              <a:buNone/>
            </a:pPr>
            <a:r>
              <a:rPr lang="en-US" sz="1300" b="1" dirty="0">
                <a:solidFill>
                  <a:srgbClr val="212529"/>
                </a:solidFill>
                <a:latin typeface="Calibri" pitchFamily="34" charset="0"/>
                <a:ea typeface="Calibri" pitchFamily="34" charset="-122"/>
                <a:cs typeface="Calibri" pitchFamily="34" charset="-120"/>
              </a:rPr>
              <a:t>Frontend: </a:t>
            </a:r>
            <a:endParaRPr lang="en-US" sz="1300" dirty="0"/>
          </a:p>
          <a:p>
            <a:pPr marL="0" indent="0">
              <a:buNone/>
            </a:pPr>
            <a:r>
              <a:rPr lang="en-US" sz="1300" dirty="0">
                <a:solidFill>
                  <a:srgbClr val="212529"/>
                </a:solidFill>
                <a:latin typeface="Calibri" pitchFamily="34" charset="0"/>
                <a:ea typeface="Calibri" pitchFamily="34" charset="-122"/>
                <a:cs typeface="Calibri" pitchFamily="34" charset="-120"/>
              </a:rPr>
              <a:t>React + TypeScript · Tailwind CSS · Axios.</a:t>
            </a:r>
            <a:endParaRPr lang="en-US" sz="1300" dirty="0"/>
          </a:p>
          <a:p>
            <a:pPr marL="0" indent="0">
              <a:buNone/>
            </a:pPr>
            <a:endParaRPr lang="en-US" sz="1300" dirty="0"/>
          </a:p>
          <a:p>
            <a:pPr marL="0" indent="0">
              <a:buNone/>
            </a:pPr>
            <a:r>
              <a:rPr lang="en-US" sz="1300" dirty="0">
                <a:solidFill>
                  <a:srgbClr val="212529"/>
                </a:solidFill>
                <a:latin typeface="Calibri" pitchFamily="34" charset="0"/>
                <a:ea typeface="Calibri" pitchFamily="34" charset="-122"/>
                <a:cs typeface="Calibri" pitchFamily="34" charset="-120"/>
              </a:rPr>
              <a:t>Dos subgrupos desarrollaron de forma independiente </a:t>
            </a:r>
            <a:endParaRPr lang="en-US" sz="1300" dirty="0"/>
          </a:p>
          <a:p>
            <a:pPr marL="0" indent="0">
              <a:buNone/>
            </a:pPr>
            <a:r>
              <a:rPr lang="en-US" sz="1300" b="1" dirty="0">
                <a:solidFill>
                  <a:srgbClr val="212529"/>
                </a:solidFill>
                <a:latin typeface="Calibri" pitchFamily="34" charset="0"/>
                <a:ea typeface="Calibri" pitchFamily="34" charset="-122"/>
                <a:cs typeface="Calibri" pitchFamily="34" charset="-120"/>
              </a:rPr>
              <a:t>FoodDonationA</a:t>
            </a:r>
            <a:r>
              <a:rPr lang="en-US" sz="1300" dirty="0">
                <a:solidFill>
                  <a:srgbClr val="212529"/>
                </a:solidFill>
                <a:latin typeface="Calibri" pitchFamily="34" charset="0"/>
                <a:ea typeface="Calibri" pitchFamily="34" charset="-122"/>
                <a:cs typeface="Calibri" pitchFamily="34" charset="-120"/>
              </a:rPr>
              <a:t> y </a:t>
            </a:r>
            <a:r>
              <a:rPr lang="en-US" sz="1300" b="1" dirty="0">
                <a:solidFill>
                  <a:srgbClr val="212529"/>
                </a:solidFill>
                <a:latin typeface="Calibri" pitchFamily="34" charset="0"/>
                <a:ea typeface="Calibri" pitchFamily="34" charset="-122"/>
                <a:cs typeface="Calibri" pitchFamily="34" charset="-120"/>
              </a:rPr>
              <a:t>FoodDonationB</a:t>
            </a:r>
            <a:r>
              <a:rPr lang="en-US" sz="1300" dirty="0">
                <a:solidFill>
                  <a:srgbClr val="212529"/>
                </a:solidFill>
                <a:latin typeface="Calibri" pitchFamily="34" charset="0"/>
                <a:ea typeface="Calibri" pitchFamily="34" charset="-122"/>
                <a:cs typeface="Calibri" pitchFamily="34" charset="-120"/>
              </a:rPr>
              <a:t>, consumiendo la misma API REST y cubriendo el mismo conjunto de funcionalidades.</a:t>
            </a:r>
            <a:endParaRPr lang="en-US" sz="1300" dirty="0"/>
          </a:p>
        </p:txBody>
      </p:sp>
      <p:sp>
        <p:nvSpPr>
          <p:cNvPr id="5" name="Shape 3"/>
          <p:cNvSpPr/>
          <p:nvPr/>
        </p:nvSpPr>
        <p:spPr>
          <a:xfrm>
            <a:off x="5669280" y="868680"/>
            <a:ext cx="3108960" cy="1280160"/>
          </a:xfrm>
          <a:prstGeom prst="roundRect">
            <a:avLst>
              <a:gd name="adj" fmla="val 5714"/>
            </a:avLst>
          </a:prstGeom>
          <a:solidFill>
            <a:srgbClr val="E9F5EE"/>
          </a:solidFill>
          <a:ln/>
          <a:effectLst>
            <a:outerShdw blurRad="63500" dist="25400" dir="2700000" algn="bl" rotWithShape="0">
              <a:srgbClr val="000000">
                <a:alpha val="10000"/>
              </a:srgbClr>
            </a:outerShdw>
          </a:effectLst>
        </p:spPr>
      </p:sp>
      <p:sp>
        <p:nvSpPr>
          <p:cNvPr id="6" name="Text 4"/>
          <p:cNvSpPr/>
          <p:nvPr/>
        </p:nvSpPr>
        <p:spPr>
          <a:xfrm>
            <a:off x="5806440" y="941832"/>
            <a:ext cx="2834640" cy="27432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Roles</a:t>
            </a:r>
            <a:endParaRPr lang="en-US" sz="1100" dirty="0"/>
          </a:p>
        </p:txBody>
      </p:sp>
      <p:sp>
        <p:nvSpPr>
          <p:cNvPr id="7" name="Text 5"/>
          <p:cNvSpPr/>
          <p:nvPr/>
        </p:nvSpPr>
        <p:spPr>
          <a:xfrm>
            <a:off x="5806440" y="1252728"/>
            <a:ext cx="2834640" cy="822960"/>
          </a:xfrm>
          <a:prstGeom prst="rect">
            <a:avLst/>
          </a:prstGeom>
          <a:noFill/>
          <a:ln/>
        </p:spPr>
        <p:txBody>
          <a:bodyPr wrap="square" rtlCol="0" anchor="t"/>
          <a:lstStyle/>
          <a:p>
            <a:pPr marL="0" indent="0">
              <a:buNone/>
            </a:pPr>
            <a:r>
              <a:rPr lang="en-US" sz="1000" dirty="0">
                <a:solidFill>
                  <a:srgbClr val="212529"/>
                </a:solidFill>
                <a:latin typeface="Calibri" pitchFamily="34" charset="0"/>
                <a:ea typeface="Calibri" pitchFamily="34" charset="-122"/>
                <a:cs typeface="Calibri" pitchFamily="34" charset="-120"/>
              </a:rPr>
              <a:t>DONANTE · publica lotes excedentes</a:t>
            </a:r>
            <a:endParaRPr lang="en-US" sz="1000" dirty="0"/>
          </a:p>
          <a:p>
            <a:pPr marL="0" indent="0">
              <a:buNone/>
            </a:pPr>
            <a:r>
              <a:rPr lang="en-US" sz="1000" dirty="0">
                <a:solidFill>
                  <a:srgbClr val="212529"/>
                </a:solidFill>
                <a:latin typeface="Calibri" pitchFamily="34" charset="0"/>
                <a:ea typeface="Calibri" pitchFamily="34" charset="-122"/>
                <a:cs typeface="Calibri" pitchFamily="34" charset="-120"/>
              </a:rPr>
              <a:t>RECEPTOR · solicita donaciones</a:t>
            </a:r>
            <a:endParaRPr lang="en-US" sz="1000" dirty="0"/>
          </a:p>
          <a:p>
            <a:pPr marL="0" indent="0">
              <a:buNone/>
            </a:pPr>
            <a:r>
              <a:rPr lang="en-US" sz="1000" dirty="0">
                <a:solidFill>
                  <a:srgbClr val="212529"/>
                </a:solidFill>
                <a:latin typeface="Calibri" pitchFamily="34" charset="0"/>
                <a:ea typeface="Calibri" pitchFamily="34" charset="-122"/>
                <a:cs typeface="Calibri" pitchFamily="34" charset="-120"/>
              </a:rPr>
              <a:t>ONG · gestión ampliada</a:t>
            </a:r>
            <a:endParaRPr lang="en-US" sz="1000" dirty="0"/>
          </a:p>
          <a:p>
            <a:pPr marL="0" indent="0">
              <a:buNone/>
            </a:pPr>
            <a:r>
              <a:rPr lang="en-US" sz="1000" dirty="0">
                <a:solidFill>
                  <a:srgbClr val="212529"/>
                </a:solidFill>
                <a:latin typeface="Calibri" pitchFamily="34" charset="0"/>
                <a:ea typeface="Calibri" pitchFamily="34" charset="-122"/>
                <a:cs typeface="Calibri" pitchFamily="34" charset="-120"/>
              </a:rPr>
              <a:t>ADMIN · supervisión global</a:t>
            </a:r>
            <a:endParaRPr lang="en-US" sz="1000" dirty="0"/>
          </a:p>
        </p:txBody>
      </p:sp>
      <p:sp>
        <p:nvSpPr>
          <p:cNvPr id="8" name="Shape 6"/>
          <p:cNvSpPr/>
          <p:nvPr/>
        </p:nvSpPr>
        <p:spPr>
          <a:xfrm>
            <a:off x="5669280" y="2286000"/>
            <a:ext cx="3108960" cy="1280160"/>
          </a:xfrm>
          <a:prstGeom prst="roundRect">
            <a:avLst>
              <a:gd name="adj" fmla="val 5714"/>
            </a:avLst>
          </a:prstGeom>
          <a:solidFill>
            <a:srgbClr val="E9F5EE"/>
          </a:solidFill>
          <a:ln/>
          <a:effectLst>
            <a:outerShdw blurRad="63500" dist="25400" dir="2700000" algn="bl" rotWithShape="0">
              <a:srgbClr val="000000">
                <a:alpha val="10000"/>
              </a:srgbClr>
            </a:outerShdw>
          </a:effectLst>
        </p:spPr>
      </p:sp>
      <p:sp>
        <p:nvSpPr>
          <p:cNvPr id="9" name="Text 7"/>
          <p:cNvSpPr/>
          <p:nvPr/>
        </p:nvSpPr>
        <p:spPr>
          <a:xfrm>
            <a:off x="5806440" y="2359152"/>
            <a:ext cx="2834640" cy="27432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Estados Donación</a:t>
            </a:r>
            <a:endParaRPr lang="en-US" sz="1100" dirty="0"/>
          </a:p>
        </p:txBody>
      </p:sp>
      <p:sp>
        <p:nvSpPr>
          <p:cNvPr id="10" name="Text 8"/>
          <p:cNvSpPr/>
          <p:nvPr/>
        </p:nvSpPr>
        <p:spPr>
          <a:xfrm>
            <a:off x="5806440" y="2670048"/>
            <a:ext cx="2834640" cy="822960"/>
          </a:xfrm>
          <a:prstGeom prst="rect">
            <a:avLst/>
          </a:prstGeom>
          <a:noFill/>
          <a:ln/>
        </p:spPr>
        <p:txBody>
          <a:bodyPr wrap="square" rtlCol="0" anchor="t"/>
          <a:lstStyle/>
          <a:p>
            <a:pPr marL="0" indent="0">
              <a:buNone/>
            </a:pPr>
            <a:r>
              <a:rPr lang="en-US" sz="1000" dirty="0">
                <a:solidFill>
                  <a:srgbClr val="212529"/>
                </a:solidFill>
                <a:latin typeface="Calibri" pitchFamily="34" charset="0"/>
                <a:ea typeface="Calibri" pitchFamily="34" charset="-122"/>
                <a:cs typeface="Calibri" pitchFamily="34" charset="-120"/>
              </a:rPr>
              <a:t>AVAILABLE · RESERVED · COMPLETED · EXPIRED</a:t>
            </a:r>
            <a:endParaRPr lang="en-US" sz="1000" dirty="0"/>
          </a:p>
        </p:txBody>
      </p:sp>
      <p:sp>
        <p:nvSpPr>
          <p:cNvPr id="11" name="Shape 9"/>
          <p:cNvSpPr/>
          <p:nvPr/>
        </p:nvSpPr>
        <p:spPr>
          <a:xfrm>
            <a:off x="5669280" y="3703320"/>
            <a:ext cx="3108960" cy="1280160"/>
          </a:xfrm>
          <a:prstGeom prst="roundRect">
            <a:avLst>
              <a:gd name="adj" fmla="val 5714"/>
            </a:avLst>
          </a:prstGeom>
          <a:solidFill>
            <a:srgbClr val="E9F5EE"/>
          </a:solidFill>
          <a:ln/>
          <a:effectLst>
            <a:outerShdw blurRad="63500" dist="25400" dir="2700000" algn="bl" rotWithShape="0">
              <a:srgbClr val="000000">
                <a:alpha val="10000"/>
              </a:srgbClr>
            </a:outerShdw>
          </a:effectLst>
        </p:spPr>
      </p:sp>
      <p:sp>
        <p:nvSpPr>
          <p:cNvPr id="12" name="Text 10"/>
          <p:cNvSpPr/>
          <p:nvPr/>
        </p:nvSpPr>
        <p:spPr>
          <a:xfrm>
            <a:off x="5806440" y="3776472"/>
            <a:ext cx="2834640" cy="274320"/>
          </a:xfrm>
          <a:prstGeom prst="rect">
            <a:avLst/>
          </a:prstGeom>
          <a:noFill/>
          <a:ln/>
        </p:spPr>
        <p:txBody>
          <a:bodyPr wrap="square"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Estados Solicitud</a:t>
            </a:r>
            <a:endParaRPr lang="en-US" sz="1100" dirty="0"/>
          </a:p>
        </p:txBody>
      </p:sp>
      <p:sp>
        <p:nvSpPr>
          <p:cNvPr id="13" name="Text 11"/>
          <p:cNvSpPr/>
          <p:nvPr/>
        </p:nvSpPr>
        <p:spPr>
          <a:xfrm>
            <a:off x="5806440" y="4087368"/>
            <a:ext cx="2834640" cy="822960"/>
          </a:xfrm>
          <a:prstGeom prst="rect">
            <a:avLst/>
          </a:prstGeom>
          <a:noFill/>
          <a:ln/>
        </p:spPr>
        <p:txBody>
          <a:bodyPr wrap="square" rtlCol="0" anchor="t"/>
          <a:lstStyle/>
          <a:p>
            <a:pPr marL="0" indent="0">
              <a:buNone/>
            </a:pPr>
            <a:r>
              <a:rPr lang="en-US" sz="1000" dirty="0">
                <a:solidFill>
                  <a:srgbClr val="212529"/>
                </a:solidFill>
                <a:latin typeface="Calibri" pitchFamily="34" charset="0"/>
                <a:ea typeface="Calibri" pitchFamily="34" charset="-122"/>
                <a:cs typeface="Calibri" pitchFamily="34" charset="-120"/>
              </a:rPr>
              <a:t>PENDING · APPROVED · REJECTED</a:t>
            </a:r>
            <a:endParaRPr lang="en-US" sz="1000" dirty="0"/>
          </a:p>
        </p:txBody>
      </p:sp>
      <p:sp>
        <p:nvSpPr>
          <p:cNvPr id="14" name="Shape 12"/>
          <p:cNvSpPr/>
          <p:nvPr/>
        </p:nvSpPr>
        <p:spPr>
          <a:xfrm>
            <a:off x="365760" y="4041772"/>
            <a:ext cx="4823615" cy="594360"/>
          </a:xfrm>
          <a:prstGeom prst="roundRect">
            <a:avLst>
              <a:gd name="adj" fmla="val 9231"/>
            </a:avLst>
          </a:prstGeom>
          <a:solidFill>
            <a:srgbClr val="D8F3DC"/>
          </a:solidFill>
          <a:ln/>
        </p:spPr>
      </p:sp>
      <p:sp>
        <p:nvSpPr>
          <p:cNvPr id="15" name="Text 13"/>
          <p:cNvSpPr/>
          <p:nvPr/>
        </p:nvSpPr>
        <p:spPr>
          <a:xfrm>
            <a:off x="-59406" y="4120460"/>
            <a:ext cx="5673945" cy="438912"/>
          </a:xfrm>
          <a:prstGeom prst="rect">
            <a:avLst/>
          </a:prstGeom>
          <a:noFill/>
          <a:ln/>
        </p:spPr>
        <p:txBody>
          <a:bodyPr wrap="square" rtlCol="0" anchor="ctr"/>
          <a:lstStyle/>
          <a:p>
            <a:pPr marL="0" indent="0" algn="ctr">
              <a:buNone/>
            </a:pPr>
            <a:r>
              <a:rPr lang="en-US" sz="900" dirty="0">
                <a:solidFill>
                  <a:srgbClr val="1B4332"/>
                </a:solidFill>
                <a:latin typeface="Calibri" pitchFamily="34" charset="0"/>
                <a:ea typeface="Calibri" pitchFamily="34" charset="-122"/>
                <a:cs typeface="Calibri" pitchFamily="34" charset="-120"/>
              </a:rPr>
              <a:t>Endpoints: /api/v1/auth/*  ·  /api/v1/donations/*  ·  /api/v1/requests/*  ·  Docs: Swagger UI en /docs</a:t>
            </a:r>
            <a:endParaRPr lang="en-US" sz="9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2. Prototipos: Semejanzas y Diferencias</a:t>
            </a:r>
            <a:endParaRPr lang="en-US" sz="2200" dirty="0"/>
          </a:p>
        </p:txBody>
      </p:sp>
      <p:sp>
        <p:nvSpPr>
          <p:cNvPr id="4" name="Shape 2"/>
          <p:cNvSpPr/>
          <p:nvPr/>
        </p:nvSpPr>
        <p:spPr>
          <a:xfrm>
            <a:off x="274320" y="777240"/>
            <a:ext cx="8595360" cy="457200"/>
          </a:xfrm>
          <a:prstGeom prst="roundRect">
            <a:avLst>
              <a:gd name="adj" fmla="val 12000"/>
            </a:avLst>
          </a:prstGeom>
          <a:solidFill>
            <a:srgbClr val="D8F3DC"/>
          </a:solidFill>
          <a:ln/>
        </p:spPr>
      </p:sp>
      <p:sp>
        <p:nvSpPr>
          <p:cNvPr id="5" name="Text 3"/>
          <p:cNvSpPr/>
          <p:nvPr/>
        </p:nvSpPr>
        <p:spPr>
          <a:xfrm>
            <a:off x="411480" y="822960"/>
            <a:ext cx="8321040" cy="365760"/>
          </a:xfrm>
          <a:prstGeom prst="rect">
            <a:avLst/>
          </a:prstGeom>
          <a:noFill/>
          <a:ln/>
        </p:spPr>
        <p:txBody>
          <a:bodyPr wrap="square" rtlCol="0" anchor="ctr"/>
          <a:lstStyle/>
          <a:p>
            <a:pPr marL="0" indent="0">
              <a:buNone/>
            </a:pPr>
            <a:r>
              <a:rPr lang="en-US" sz="1000" dirty="0">
                <a:solidFill>
                  <a:srgbClr val="1B4332"/>
                </a:solidFill>
                <a:latin typeface="Calibri" pitchFamily="34" charset="0"/>
                <a:ea typeface="Calibri" pitchFamily="34" charset="-122"/>
                <a:cs typeface="Calibri" pitchFamily="34" charset="-120"/>
              </a:rPr>
              <a:t>SEMEJANZAS: Misma marca 'RedDonación' · Landing con estadísticas de impacto (+1.200 kg, 15 ONGs, 340 familias) · Flujo completo: registro, catálogo, donaciones y solicitudes</a:t>
            </a:r>
            <a:endParaRPr lang="en-US" sz="1000" dirty="0"/>
          </a:p>
        </p:txBody>
      </p:sp>
      <p:sp>
        <p:nvSpPr>
          <p:cNvPr id="6" name="Shape 4"/>
          <p:cNvSpPr/>
          <p:nvPr/>
        </p:nvSpPr>
        <p:spPr>
          <a:xfrm>
            <a:off x="274320" y="1316736"/>
            <a:ext cx="8595360" cy="292608"/>
          </a:xfrm>
          <a:prstGeom prst="rect">
            <a:avLst/>
          </a:prstGeom>
          <a:solidFill>
            <a:srgbClr val="1B4332"/>
          </a:solidFill>
          <a:ln/>
        </p:spPr>
      </p:sp>
      <p:sp>
        <p:nvSpPr>
          <p:cNvPr id="7" name="Text 5"/>
          <p:cNvSpPr/>
          <p:nvPr/>
        </p:nvSpPr>
        <p:spPr>
          <a:xfrm>
            <a:off x="320040" y="1353312"/>
            <a:ext cx="155448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Dimensión</a:t>
            </a:r>
            <a:endParaRPr lang="en-US" sz="1000" dirty="0"/>
          </a:p>
        </p:txBody>
      </p:sp>
      <p:sp>
        <p:nvSpPr>
          <p:cNvPr id="8" name="Text 6"/>
          <p:cNvSpPr/>
          <p:nvPr/>
        </p:nvSpPr>
        <p:spPr>
          <a:xfrm>
            <a:off x="1965960" y="1353312"/>
            <a:ext cx="30175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A (Morado-Violeta)</a:t>
            </a:r>
            <a:endParaRPr lang="en-US" sz="1000" dirty="0"/>
          </a:p>
        </p:txBody>
      </p:sp>
      <p:sp>
        <p:nvSpPr>
          <p:cNvPr id="9" name="Text 7"/>
          <p:cNvSpPr/>
          <p:nvPr/>
        </p:nvSpPr>
        <p:spPr>
          <a:xfrm>
            <a:off x="5074920" y="1353312"/>
            <a:ext cx="3017520" cy="21945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B (Terracota-Oliva)</a:t>
            </a:r>
            <a:endParaRPr lang="en-US" sz="1000" dirty="0"/>
          </a:p>
        </p:txBody>
      </p:sp>
      <p:sp>
        <p:nvSpPr>
          <p:cNvPr id="10" name="Shape 8"/>
          <p:cNvSpPr/>
          <p:nvPr/>
        </p:nvSpPr>
        <p:spPr>
          <a:xfrm>
            <a:off x="274320" y="1627632"/>
            <a:ext cx="8595360" cy="530352"/>
          </a:xfrm>
          <a:prstGeom prst="rect">
            <a:avLst/>
          </a:prstGeom>
          <a:solidFill>
            <a:srgbClr val="FFFFFF"/>
          </a:solidFill>
          <a:ln/>
        </p:spPr>
      </p:sp>
      <p:sp>
        <p:nvSpPr>
          <p:cNvPr id="11" name="Text 9"/>
          <p:cNvSpPr/>
          <p:nvPr/>
        </p:nvSpPr>
        <p:spPr>
          <a:xfrm>
            <a:off x="320040" y="167335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Identidad visual</a:t>
            </a:r>
            <a:endParaRPr lang="en-US" sz="950" dirty="0"/>
          </a:p>
        </p:txBody>
      </p:sp>
      <p:sp>
        <p:nvSpPr>
          <p:cNvPr id="12" name="Text 10"/>
          <p:cNvSpPr/>
          <p:nvPr/>
        </p:nvSpPr>
        <p:spPr>
          <a:xfrm>
            <a:off x="1965960" y="167335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Paleta morado-violeta, gradiente frío, estilo minimalista</a:t>
            </a:r>
            <a:endParaRPr lang="en-US" sz="950" dirty="0"/>
          </a:p>
        </p:txBody>
      </p:sp>
      <p:sp>
        <p:nvSpPr>
          <p:cNvPr id="13" name="Text 11"/>
          <p:cNvSpPr/>
          <p:nvPr/>
        </p:nvSpPr>
        <p:spPr>
          <a:xfrm>
            <a:off x="5074920" y="167335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Paleta terracota-oliva, gradiente cálido, mayor densidad info</a:t>
            </a:r>
            <a:endParaRPr lang="en-US" sz="950" dirty="0"/>
          </a:p>
        </p:txBody>
      </p:sp>
      <p:sp>
        <p:nvSpPr>
          <p:cNvPr id="14" name="Shape 12"/>
          <p:cNvSpPr/>
          <p:nvPr/>
        </p:nvSpPr>
        <p:spPr>
          <a:xfrm>
            <a:off x="274320" y="2176272"/>
            <a:ext cx="8595360" cy="530352"/>
          </a:xfrm>
          <a:prstGeom prst="rect">
            <a:avLst/>
          </a:prstGeom>
          <a:solidFill>
            <a:srgbClr val="E9F5EE"/>
          </a:solidFill>
          <a:ln/>
        </p:spPr>
      </p:sp>
      <p:sp>
        <p:nvSpPr>
          <p:cNvPr id="15" name="Text 13"/>
          <p:cNvSpPr/>
          <p:nvPr/>
        </p:nvSpPr>
        <p:spPr>
          <a:xfrm>
            <a:off x="320040" y="222199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Navegación autenticada</a:t>
            </a:r>
            <a:endParaRPr lang="en-US" sz="950" dirty="0"/>
          </a:p>
        </p:txBody>
      </p:sp>
      <p:sp>
        <p:nvSpPr>
          <p:cNvPr id="16" name="Text 14"/>
          <p:cNvSpPr/>
          <p:nvPr/>
        </p:nvSpPr>
        <p:spPr>
          <a:xfrm>
            <a:off x="1965960" y="222199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Panel · Donaciones · Nueva · Solicitudes + badge rol</a:t>
            </a:r>
            <a:endParaRPr lang="en-US" sz="950" dirty="0"/>
          </a:p>
        </p:txBody>
      </p:sp>
      <p:sp>
        <p:nvSpPr>
          <p:cNvPr id="17" name="Text 15"/>
          <p:cNvSpPr/>
          <p:nvPr/>
        </p:nvSpPr>
        <p:spPr>
          <a:xfrm>
            <a:off x="5074920" y="222199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Donaciones · Solicitudes · Dashboard · Perfil · Cerrar sesión</a:t>
            </a:r>
            <a:endParaRPr lang="en-US" sz="950" dirty="0"/>
          </a:p>
        </p:txBody>
      </p:sp>
      <p:sp>
        <p:nvSpPr>
          <p:cNvPr id="18" name="Shape 16"/>
          <p:cNvSpPr/>
          <p:nvPr/>
        </p:nvSpPr>
        <p:spPr>
          <a:xfrm>
            <a:off x="274320" y="2724912"/>
            <a:ext cx="8595360" cy="530352"/>
          </a:xfrm>
          <a:prstGeom prst="rect">
            <a:avLst/>
          </a:prstGeom>
          <a:solidFill>
            <a:srgbClr val="FFFFFF"/>
          </a:solidFill>
          <a:ln/>
        </p:spPr>
      </p:sp>
      <p:sp>
        <p:nvSpPr>
          <p:cNvPr id="19" name="Text 17"/>
          <p:cNvSpPr/>
          <p:nvPr/>
        </p:nvSpPr>
        <p:spPr>
          <a:xfrm>
            <a:off x="320040" y="277063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Lista donaciones</a:t>
            </a:r>
            <a:endParaRPr lang="en-US" sz="950" dirty="0"/>
          </a:p>
        </p:txBody>
      </p:sp>
      <p:sp>
        <p:nvSpPr>
          <p:cNvPr id="20" name="Text 18"/>
          <p:cNvSpPr/>
          <p:nvPr/>
        </p:nvSpPr>
        <p:spPr>
          <a:xfrm>
            <a:off x="1965960" y="277063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Estado vacío explícito; filtros ubicación + estado</a:t>
            </a:r>
            <a:endParaRPr lang="en-US" sz="950" dirty="0"/>
          </a:p>
        </p:txBody>
      </p:sp>
      <p:sp>
        <p:nvSpPr>
          <p:cNvPr id="21" name="Text 19"/>
          <p:cNvSpPr/>
          <p:nvPr/>
        </p:nvSpPr>
        <p:spPr>
          <a:xfrm>
            <a:off x="5074920" y="277063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Tarjetas con datos; filtros pill + campo búsqueda</a:t>
            </a:r>
            <a:endParaRPr lang="en-US" sz="950" dirty="0"/>
          </a:p>
        </p:txBody>
      </p:sp>
      <p:sp>
        <p:nvSpPr>
          <p:cNvPr id="22" name="Shape 20"/>
          <p:cNvSpPr/>
          <p:nvPr/>
        </p:nvSpPr>
        <p:spPr>
          <a:xfrm>
            <a:off x="274320" y="3273552"/>
            <a:ext cx="8595360" cy="530352"/>
          </a:xfrm>
          <a:prstGeom prst="rect">
            <a:avLst/>
          </a:prstGeom>
          <a:solidFill>
            <a:srgbClr val="E9F5EE"/>
          </a:solidFill>
          <a:ln/>
        </p:spPr>
      </p:sp>
      <p:sp>
        <p:nvSpPr>
          <p:cNvPr id="23" name="Text 21"/>
          <p:cNvSpPr/>
          <p:nvPr/>
        </p:nvSpPr>
        <p:spPr>
          <a:xfrm>
            <a:off x="320040" y="331927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Formulario donación</a:t>
            </a:r>
            <a:endParaRPr lang="en-US" sz="950" dirty="0"/>
          </a:p>
        </p:txBody>
      </p:sp>
      <p:sp>
        <p:nvSpPr>
          <p:cNvPr id="24" name="Text 22"/>
          <p:cNvSpPr/>
          <p:nvPr/>
        </p:nvSpPr>
        <p:spPr>
          <a:xfrm>
            <a:off x="1965960" y="331927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5 campos, cantidad en texto libre (ambiguo)</a:t>
            </a:r>
            <a:endParaRPr lang="en-US" sz="950" dirty="0"/>
          </a:p>
        </p:txBody>
      </p:sp>
      <p:sp>
        <p:nvSpPr>
          <p:cNvPr id="25" name="Text 23"/>
          <p:cNvSpPr/>
          <p:nvPr/>
        </p:nvSpPr>
        <p:spPr>
          <a:xfrm>
            <a:off x="5074920" y="331927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8 campos en 3 secciones, selector de unidad kg/uds</a:t>
            </a:r>
            <a:endParaRPr lang="en-US" sz="950" dirty="0"/>
          </a:p>
        </p:txBody>
      </p:sp>
      <p:sp>
        <p:nvSpPr>
          <p:cNvPr id="26" name="Shape 24"/>
          <p:cNvSpPr/>
          <p:nvPr/>
        </p:nvSpPr>
        <p:spPr>
          <a:xfrm>
            <a:off x="274320" y="3822192"/>
            <a:ext cx="8595360" cy="530352"/>
          </a:xfrm>
          <a:prstGeom prst="rect">
            <a:avLst/>
          </a:prstGeom>
          <a:solidFill>
            <a:srgbClr val="FFFFFF"/>
          </a:solidFill>
          <a:ln/>
        </p:spPr>
      </p:sp>
      <p:sp>
        <p:nvSpPr>
          <p:cNvPr id="27" name="Text 25"/>
          <p:cNvSpPr/>
          <p:nvPr/>
        </p:nvSpPr>
        <p:spPr>
          <a:xfrm>
            <a:off x="320040" y="386791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Gestión solicitudes</a:t>
            </a:r>
            <a:endParaRPr lang="en-US" sz="950" dirty="0"/>
          </a:p>
        </p:txBody>
      </p:sp>
      <p:sp>
        <p:nvSpPr>
          <p:cNvPr id="28" name="Text 26"/>
          <p:cNvSpPr/>
          <p:nvPr/>
        </p:nvSpPr>
        <p:spPr>
          <a:xfrm>
            <a:off x="1965960" y="386791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Chips de estado; acción desde detalle</a:t>
            </a:r>
            <a:endParaRPr lang="en-US" sz="950" dirty="0"/>
          </a:p>
        </p:txBody>
      </p:sp>
      <p:sp>
        <p:nvSpPr>
          <p:cNvPr id="29" name="Text 27"/>
          <p:cNvSpPr/>
          <p:nvPr/>
        </p:nvSpPr>
        <p:spPr>
          <a:xfrm>
            <a:off x="5074920" y="386791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Botones Aprobar/Rechazar inline en tarjeta (sin confirmación)</a:t>
            </a:r>
            <a:endParaRPr lang="en-US" sz="950" dirty="0"/>
          </a:p>
        </p:txBody>
      </p:sp>
      <p:sp>
        <p:nvSpPr>
          <p:cNvPr id="30" name="Shape 28"/>
          <p:cNvSpPr/>
          <p:nvPr/>
        </p:nvSpPr>
        <p:spPr>
          <a:xfrm>
            <a:off x="274320" y="4370832"/>
            <a:ext cx="8595360" cy="530352"/>
          </a:xfrm>
          <a:prstGeom prst="rect">
            <a:avLst/>
          </a:prstGeom>
          <a:solidFill>
            <a:srgbClr val="E9F5EE"/>
          </a:solidFill>
          <a:ln/>
        </p:spPr>
      </p:sp>
      <p:sp>
        <p:nvSpPr>
          <p:cNvPr id="31" name="Text 29"/>
          <p:cNvSpPr/>
          <p:nvPr/>
        </p:nvSpPr>
        <p:spPr>
          <a:xfrm>
            <a:off x="320040" y="4416552"/>
            <a:ext cx="1572768" cy="457200"/>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Bug detectado</a:t>
            </a:r>
            <a:endParaRPr lang="en-US" sz="950" dirty="0"/>
          </a:p>
        </p:txBody>
      </p:sp>
      <p:sp>
        <p:nvSpPr>
          <p:cNvPr id="32" name="Text 30"/>
          <p:cNvSpPr/>
          <p:nvPr/>
        </p:nvSpPr>
        <p:spPr>
          <a:xfrm>
            <a:off x="1965960" y="4416552"/>
            <a:ext cx="3035808" cy="45720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No detectado</a:t>
            </a:r>
            <a:endParaRPr lang="en-US" sz="950" dirty="0"/>
          </a:p>
        </p:txBody>
      </p:sp>
      <p:sp>
        <p:nvSpPr>
          <p:cNvPr id="33" name="Text 31"/>
          <p:cNvSpPr/>
          <p:nvPr/>
        </p:nvSpPr>
        <p:spPr>
          <a:xfrm>
            <a:off x="5074920" y="4416552"/>
            <a:ext cx="3035808" cy="457200"/>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"Invalid Date" en fechas de donaciones (error de parseo)</a:t>
            </a:r>
            <a:endParaRPr lang="en-US" sz="9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2b. Justificación de Diseño: Heurísticas de Nielsen</a:t>
            </a:r>
            <a:endParaRPr lang="en-US" sz="2000" dirty="0"/>
          </a:p>
        </p:txBody>
      </p:sp>
      <p:sp>
        <p:nvSpPr>
          <p:cNvPr id="4" name="Shape 2"/>
          <p:cNvSpPr/>
          <p:nvPr/>
        </p:nvSpPr>
        <p:spPr>
          <a:xfrm>
            <a:off x="274320" y="804672"/>
            <a:ext cx="8595360" cy="658368"/>
          </a:xfrm>
          <a:prstGeom prst="roundRect">
            <a:avLst>
              <a:gd name="adj" fmla="val 8333"/>
            </a:avLst>
          </a:prstGeom>
          <a:solidFill>
            <a:srgbClr val="FFFFFF"/>
          </a:solidFill>
          <a:ln/>
          <a:effectLst>
            <a:outerShdw blurRad="38100" dist="12700" dir="2700000" algn="bl" rotWithShape="0">
              <a:srgbClr val="000000">
                <a:alpha val="8000"/>
              </a:srgbClr>
            </a:outerShdw>
          </a:effectLst>
        </p:spPr>
      </p:sp>
      <p:sp>
        <p:nvSpPr>
          <p:cNvPr id="5" name="Text 3"/>
          <p:cNvSpPr/>
          <p:nvPr/>
        </p:nvSpPr>
        <p:spPr>
          <a:xfrm>
            <a:off x="411480" y="841248"/>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H1 · Visibilidad del estado del sistema</a:t>
            </a:r>
            <a:endParaRPr lang="en-US" sz="1000" dirty="0"/>
          </a:p>
        </p:txBody>
      </p:sp>
      <p:sp>
        <p:nvSpPr>
          <p:cNvPr id="6" name="Text 4"/>
          <p:cNvSpPr/>
          <p:nvPr/>
        </p:nvSpPr>
        <p:spPr>
          <a:xfrm>
            <a:off x="502920" y="1078992"/>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Badge de rol siempre visible + chips de color en solicitudes ✓</a:t>
            </a:r>
            <a:endParaRPr lang="en-US" sz="950" dirty="0"/>
          </a:p>
        </p:txBody>
      </p:sp>
      <p:sp>
        <p:nvSpPr>
          <p:cNvPr id="7" name="Text 5"/>
          <p:cNvSpPr/>
          <p:nvPr/>
        </p:nvSpPr>
        <p:spPr>
          <a:xfrm>
            <a:off x="4617720" y="1078992"/>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Bug 'Invalid Date' oculta fecha de caducidad —campo crítico— ✗</a:t>
            </a:r>
            <a:endParaRPr lang="en-US" sz="950" dirty="0"/>
          </a:p>
        </p:txBody>
      </p:sp>
      <p:sp>
        <p:nvSpPr>
          <p:cNvPr id="8" name="Shape 6"/>
          <p:cNvSpPr/>
          <p:nvPr/>
        </p:nvSpPr>
        <p:spPr>
          <a:xfrm>
            <a:off x="274320" y="1508760"/>
            <a:ext cx="8595360" cy="658368"/>
          </a:xfrm>
          <a:prstGeom prst="roundRect">
            <a:avLst>
              <a:gd name="adj" fmla="val 8333"/>
            </a:avLst>
          </a:prstGeom>
          <a:solidFill>
            <a:srgbClr val="E9F5EE"/>
          </a:solidFill>
          <a:ln/>
          <a:effectLst>
            <a:outerShdw blurRad="38100" dist="12700" dir="2700000" algn="bl" rotWithShape="0">
              <a:srgbClr val="000000">
                <a:alpha val="8000"/>
              </a:srgbClr>
            </a:outerShdw>
          </a:effectLst>
        </p:spPr>
      </p:sp>
      <p:sp>
        <p:nvSpPr>
          <p:cNvPr id="9" name="Text 7"/>
          <p:cNvSpPr/>
          <p:nvPr/>
        </p:nvSpPr>
        <p:spPr>
          <a:xfrm>
            <a:off x="411480" y="1545336"/>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H2 · Coherencia con el mundo real</a:t>
            </a:r>
            <a:endParaRPr lang="en-US" sz="1000" dirty="0"/>
          </a:p>
        </p:txBody>
      </p:sp>
      <p:sp>
        <p:nvSpPr>
          <p:cNvPr id="10" name="Text 8"/>
          <p:cNvSpPr/>
          <p:nvPr/>
        </p:nvSpPr>
        <p:spPr>
          <a:xfrm>
            <a:off x="502920" y="1783080"/>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Lenguaje uniforme en castellano ✓</a:t>
            </a:r>
            <a:endParaRPr lang="en-US" sz="950" dirty="0"/>
          </a:p>
        </p:txBody>
      </p:sp>
      <p:sp>
        <p:nvSpPr>
          <p:cNvPr id="11" name="Text 9"/>
          <p:cNvSpPr/>
          <p:nvPr/>
        </p:nvSpPr>
        <p:spPr>
          <a:xfrm>
            <a:off x="4617720" y="1783080"/>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Filtros de estado en inglés (Available/Expired) en UI en castellano ✗</a:t>
            </a:r>
            <a:endParaRPr lang="en-US" sz="950" dirty="0"/>
          </a:p>
        </p:txBody>
      </p:sp>
      <p:sp>
        <p:nvSpPr>
          <p:cNvPr id="12" name="Shape 10"/>
          <p:cNvSpPr/>
          <p:nvPr/>
        </p:nvSpPr>
        <p:spPr>
          <a:xfrm>
            <a:off x="274320" y="2212848"/>
            <a:ext cx="8595360" cy="658368"/>
          </a:xfrm>
          <a:prstGeom prst="roundRect">
            <a:avLst>
              <a:gd name="adj" fmla="val 8333"/>
            </a:avLst>
          </a:prstGeom>
          <a:solidFill>
            <a:srgbClr val="FFFFFF"/>
          </a:solidFill>
          <a:ln/>
          <a:effectLst>
            <a:outerShdw blurRad="38100" dist="12700" dir="2700000" algn="bl" rotWithShape="0">
              <a:srgbClr val="000000">
                <a:alpha val="8000"/>
              </a:srgbClr>
            </a:outerShdw>
          </a:effectLst>
        </p:spPr>
      </p:sp>
      <p:sp>
        <p:nvSpPr>
          <p:cNvPr id="13" name="Text 11"/>
          <p:cNvSpPr/>
          <p:nvPr/>
        </p:nvSpPr>
        <p:spPr>
          <a:xfrm>
            <a:off x="411480" y="2249424"/>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H3 · Control y libertad del usuario</a:t>
            </a:r>
            <a:endParaRPr lang="en-US" sz="1000" dirty="0"/>
          </a:p>
        </p:txBody>
      </p:sp>
      <p:sp>
        <p:nvSpPr>
          <p:cNvPr id="14" name="Text 12"/>
          <p:cNvSpPr/>
          <p:nvPr/>
        </p:nvSpPr>
        <p:spPr>
          <a:xfrm>
            <a:off x="502920" y="2487168"/>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Acciones controladas; navegación clara</a:t>
            </a:r>
            <a:endParaRPr lang="en-US" sz="950" dirty="0"/>
          </a:p>
        </p:txBody>
      </p:sp>
      <p:sp>
        <p:nvSpPr>
          <p:cNvPr id="15" name="Text 13"/>
          <p:cNvSpPr/>
          <p:nvPr/>
        </p:nvSpPr>
        <p:spPr>
          <a:xfrm>
            <a:off x="4617720" y="2487168"/>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Botón 'Cancelar' explícito ✓ pero Aprobar/Rechazar sin confirmación ✗</a:t>
            </a:r>
            <a:endParaRPr lang="en-US" sz="950" dirty="0"/>
          </a:p>
        </p:txBody>
      </p:sp>
      <p:sp>
        <p:nvSpPr>
          <p:cNvPr id="16" name="Shape 14"/>
          <p:cNvSpPr/>
          <p:nvPr/>
        </p:nvSpPr>
        <p:spPr>
          <a:xfrm>
            <a:off x="274320" y="2916936"/>
            <a:ext cx="8595360" cy="658368"/>
          </a:xfrm>
          <a:prstGeom prst="roundRect">
            <a:avLst>
              <a:gd name="adj" fmla="val 8333"/>
            </a:avLst>
          </a:prstGeom>
          <a:solidFill>
            <a:srgbClr val="E9F5EE"/>
          </a:solidFill>
          <a:ln/>
          <a:effectLst>
            <a:outerShdw blurRad="38100" dist="12700" dir="2700000" algn="bl" rotWithShape="0">
              <a:srgbClr val="000000">
                <a:alpha val="8000"/>
              </a:srgbClr>
            </a:outerShdw>
          </a:effectLst>
        </p:spPr>
      </p:sp>
      <p:sp>
        <p:nvSpPr>
          <p:cNvPr id="17" name="Text 15"/>
          <p:cNvSpPr/>
          <p:nvPr/>
        </p:nvSpPr>
        <p:spPr>
          <a:xfrm>
            <a:off x="411480" y="2953512"/>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H5 · Prevención de errores</a:t>
            </a:r>
            <a:endParaRPr lang="en-US" sz="1000" dirty="0"/>
          </a:p>
        </p:txBody>
      </p:sp>
      <p:sp>
        <p:nvSpPr>
          <p:cNvPr id="18" name="Text 16"/>
          <p:cNvSpPr/>
          <p:nvPr/>
        </p:nvSpPr>
        <p:spPr>
          <a:xfrm>
            <a:off x="502920" y="3191256"/>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Campo cantidad texto libre: entradas ambiguas (¿kg, uds, litros?) ✗</a:t>
            </a:r>
            <a:endParaRPr lang="en-US" sz="950" dirty="0"/>
          </a:p>
        </p:txBody>
      </p:sp>
      <p:sp>
        <p:nvSpPr>
          <p:cNvPr id="19" name="Text 17"/>
          <p:cNvSpPr/>
          <p:nvPr/>
        </p:nvSpPr>
        <p:spPr>
          <a:xfrm>
            <a:off x="4617720" y="3191256"/>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Selector kg/unidades previene ambigüedad en cantidad ✓</a:t>
            </a:r>
            <a:endParaRPr lang="en-US" sz="950" dirty="0"/>
          </a:p>
        </p:txBody>
      </p:sp>
      <p:sp>
        <p:nvSpPr>
          <p:cNvPr id="20" name="Shape 18"/>
          <p:cNvSpPr/>
          <p:nvPr/>
        </p:nvSpPr>
        <p:spPr>
          <a:xfrm>
            <a:off x="274320" y="3621024"/>
            <a:ext cx="8595360" cy="658368"/>
          </a:xfrm>
          <a:prstGeom prst="roundRect">
            <a:avLst>
              <a:gd name="adj" fmla="val 8333"/>
            </a:avLst>
          </a:prstGeom>
          <a:solidFill>
            <a:srgbClr val="FFFFFF"/>
          </a:solidFill>
          <a:ln/>
          <a:effectLst>
            <a:outerShdw blurRad="38100" dist="12700" dir="2700000" algn="bl" rotWithShape="0">
              <a:srgbClr val="000000">
                <a:alpha val="8000"/>
              </a:srgbClr>
            </a:outerShdw>
          </a:effectLst>
        </p:spPr>
      </p:sp>
      <p:sp>
        <p:nvSpPr>
          <p:cNvPr id="21" name="Text 19"/>
          <p:cNvSpPr/>
          <p:nvPr/>
        </p:nvSpPr>
        <p:spPr>
          <a:xfrm>
            <a:off x="411480" y="3657600"/>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H6 · Reconocimiento vs recuerdo</a:t>
            </a:r>
            <a:endParaRPr lang="en-US" sz="1000" dirty="0"/>
          </a:p>
        </p:txBody>
      </p:sp>
      <p:sp>
        <p:nvSpPr>
          <p:cNvPr id="22" name="Text 20"/>
          <p:cNvSpPr/>
          <p:nvPr/>
        </p:nvSpPr>
        <p:spPr>
          <a:xfrm>
            <a:off x="502920" y="3895344"/>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Placeholders orientativos; estado solo visible en el detalle</a:t>
            </a:r>
            <a:endParaRPr lang="en-US" sz="950" dirty="0"/>
          </a:p>
        </p:txBody>
      </p:sp>
      <p:sp>
        <p:nvSpPr>
          <p:cNvPr id="23" name="Text 21"/>
          <p:cNvSpPr/>
          <p:nvPr/>
        </p:nvSpPr>
        <p:spPr>
          <a:xfrm>
            <a:off x="4617720" y="3895344"/>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Tarjetas con datos visibles: menos navegación para identificar donación ✓</a:t>
            </a:r>
            <a:endParaRPr lang="en-US" sz="950" dirty="0"/>
          </a:p>
        </p:txBody>
      </p:sp>
      <p:sp>
        <p:nvSpPr>
          <p:cNvPr id="24" name="Shape 22"/>
          <p:cNvSpPr/>
          <p:nvPr/>
        </p:nvSpPr>
        <p:spPr>
          <a:xfrm>
            <a:off x="274320" y="4325112"/>
            <a:ext cx="8595360" cy="658368"/>
          </a:xfrm>
          <a:prstGeom prst="roundRect">
            <a:avLst>
              <a:gd name="adj" fmla="val 8333"/>
            </a:avLst>
          </a:prstGeom>
          <a:solidFill>
            <a:srgbClr val="E9F5EE"/>
          </a:solidFill>
          <a:ln/>
          <a:effectLst>
            <a:outerShdw blurRad="38100" dist="12700" dir="2700000" algn="bl" rotWithShape="0">
              <a:srgbClr val="000000">
                <a:alpha val="8000"/>
              </a:srgbClr>
            </a:outerShdw>
          </a:effectLst>
        </p:spPr>
      </p:sp>
      <p:sp>
        <p:nvSpPr>
          <p:cNvPr id="25" name="Text 23"/>
          <p:cNvSpPr/>
          <p:nvPr/>
        </p:nvSpPr>
        <p:spPr>
          <a:xfrm>
            <a:off x="411480" y="4361688"/>
            <a:ext cx="8229600" cy="219456"/>
          </a:xfrm>
          <a:prstGeom prst="rect">
            <a:avLst/>
          </a:prstGeom>
          <a:noFill/>
          <a:ln/>
        </p:spPr>
        <p:txBody>
          <a:bodyPr wrap="square" lIns="0" tIns="0" rIns="0" bIns="0" rtlCol="0" anchor="ctr"/>
          <a:lstStyle/>
          <a:p>
            <a:pPr marL="0" indent="0">
              <a:buNone/>
            </a:pPr>
            <a:r>
              <a:rPr lang="en-US" sz="1000" b="1" dirty="0">
                <a:solidFill>
                  <a:srgbClr val="1B4332"/>
                </a:solidFill>
                <a:latin typeface="Calibri" pitchFamily="34" charset="0"/>
                <a:ea typeface="Calibri" pitchFamily="34" charset="-122"/>
                <a:cs typeface="Calibri" pitchFamily="34" charset="-120"/>
              </a:rPr>
              <a:t>H8 · Diseño minimalista</a:t>
            </a:r>
            <a:endParaRPr lang="en-US" sz="1000" dirty="0"/>
          </a:p>
        </p:txBody>
      </p:sp>
      <p:sp>
        <p:nvSpPr>
          <p:cNvPr id="26" name="Text 24"/>
          <p:cNvSpPr/>
          <p:nvPr/>
        </p:nvSpPr>
        <p:spPr>
          <a:xfrm>
            <a:off x="502920" y="4599432"/>
            <a:ext cx="397764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A: Dashboard receptor escaso (solo 2 tarjetas, sin actividad reciente) ✗</a:t>
            </a:r>
            <a:endParaRPr lang="en-US" sz="950" dirty="0"/>
          </a:p>
        </p:txBody>
      </p:sp>
      <p:sp>
        <p:nvSpPr>
          <p:cNvPr id="27" name="Text 25"/>
          <p:cNvSpPr/>
          <p:nvPr/>
        </p:nvSpPr>
        <p:spPr>
          <a:xfrm>
            <a:off x="4617720" y="4599432"/>
            <a:ext cx="4160520" cy="320040"/>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B: Mayor densidad informativa; formularios más estructurados</a:t>
            </a:r>
            <a:endParaRPr lang="en-US" sz="9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3. Características del Test de Usuario</a:t>
            </a:r>
            <a:endParaRPr lang="en-US" sz="2200" dirty="0"/>
          </a:p>
        </p:txBody>
      </p:sp>
      <p:sp>
        <p:nvSpPr>
          <p:cNvPr id="4" name="Shape 2"/>
          <p:cNvSpPr/>
          <p:nvPr/>
        </p:nvSpPr>
        <p:spPr>
          <a:xfrm>
            <a:off x="274320" y="841248"/>
            <a:ext cx="2651760" cy="1188720"/>
          </a:xfrm>
          <a:prstGeom prst="roundRect">
            <a:avLst>
              <a:gd name="adj" fmla="val 7692"/>
            </a:avLst>
          </a:prstGeom>
          <a:solidFill>
            <a:srgbClr val="1B4332"/>
          </a:solidFill>
          <a:ln/>
        </p:spPr>
      </p:sp>
      <p:sp>
        <p:nvSpPr>
          <p:cNvPr id="5" name="Text 3"/>
          <p:cNvSpPr/>
          <p:nvPr/>
        </p:nvSpPr>
        <p:spPr>
          <a:xfrm>
            <a:off x="274320" y="1005840"/>
            <a:ext cx="2651760" cy="594360"/>
          </a:xfrm>
          <a:prstGeom prst="rect">
            <a:avLst/>
          </a:prstGeom>
          <a:noFill/>
          <a:ln/>
        </p:spPr>
        <p:txBody>
          <a:bodyPr wrap="square" rtlCol="0" anchor="ctr"/>
          <a:lstStyle/>
          <a:p>
            <a:pPr marL="0" indent="0" algn="ctr">
              <a:buNone/>
            </a:pPr>
            <a:r>
              <a:rPr lang="en-US" sz="1600" b="1" dirty="0">
                <a:solidFill>
                  <a:srgbClr val="E9C46A"/>
                </a:solidFill>
                <a:latin typeface="Calibri" pitchFamily="34" charset="0"/>
                <a:ea typeface="Calibri" pitchFamily="34" charset="-122"/>
                <a:cs typeface="Calibri" pitchFamily="34" charset="-120"/>
              </a:rPr>
              <a:t>No Moderado</a:t>
            </a:r>
            <a:endParaRPr lang="en-US" sz="1600" dirty="0"/>
          </a:p>
        </p:txBody>
      </p:sp>
      <p:sp>
        <p:nvSpPr>
          <p:cNvPr id="6" name="Text 4"/>
          <p:cNvSpPr/>
          <p:nvPr/>
        </p:nvSpPr>
        <p:spPr>
          <a:xfrm>
            <a:off x="274320" y="16002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Modalidad</a:t>
            </a:r>
            <a:endParaRPr lang="en-US" sz="1100" dirty="0"/>
          </a:p>
        </p:txBody>
      </p:sp>
      <p:sp>
        <p:nvSpPr>
          <p:cNvPr id="7" name="Shape 5"/>
          <p:cNvSpPr/>
          <p:nvPr/>
        </p:nvSpPr>
        <p:spPr>
          <a:xfrm>
            <a:off x="3154680" y="841248"/>
            <a:ext cx="2651760" cy="1188720"/>
          </a:xfrm>
          <a:prstGeom prst="roundRect">
            <a:avLst>
              <a:gd name="adj" fmla="val 7692"/>
            </a:avLst>
          </a:prstGeom>
          <a:solidFill>
            <a:srgbClr val="1B4332"/>
          </a:solidFill>
          <a:ln/>
        </p:spPr>
      </p:sp>
      <p:sp>
        <p:nvSpPr>
          <p:cNvPr id="8" name="Text 6"/>
          <p:cNvSpPr/>
          <p:nvPr/>
        </p:nvSpPr>
        <p:spPr>
          <a:xfrm>
            <a:off x="3154680" y="10058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Remoto</a:t>
            </a:r>
            <a:endParaRPr lang="en-US" sz="2600" dirty="0"/>
          </a:p>
        </p:txBody>
      </p:sp>
      <p:sp>
        <p:nvSpPr>
          <p:cNvPr id="9" name="Text 7"/>
          <p:cNvSpPr/>
          <p:nvPr/>
        </p:nvSpPr>
        <p:spPr>
          <a:xfrm>
            <a:off x="3154680" y="16002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Entorno (Loop11)</a:t>
            </a:r>
            <a:endParaRPr lang="en-US" sz="1100" dirty="0"/>
          </a:p>
        </p:txBody>
      </p:sp>
      <p:sp>
        <p:nvSpPr>
          <p:cNvPr id="10" name="Shape 8"/>
          <p:cNvSpPr/>
          <p:nvPr/>
        </p:nvSpPr>
        <p:spPr>
          <a:xfrm>
            <a:off x="6035040" y="841248"/>
            <a:ext cx="2651760" cy="1188720"/>
          </a:xfrm>
          <a:prstGeom prst="roundRect">
            <a:avLst>
              <a:gd name="adj" fmla="val 7692"/>
            </a:avLst>
          </a:prstGeom>
          <a:solidFill>
            <a:srgbClr val="1B4332"/>
          </a:solidFill>
          <a:ln/>
        </p:spPr>
      </p:sp>
      <p:sp>
        <p:nvSpPr>
          <p:cNvPr id="11" name="Text 9"/>
          <p:cNvSpPr/>
          <p:nvPr/>
        </p:nvSpPr>
        <p:spPr>
          <a:xfrm>
            <a:off x="6035040" y="10058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28</a:t>
            </a:r>
            <a:endParaRPr lang="en-US" sz="2600" dirty="0"/>
          </a:p>
        </p:txBody>
      </p:sp>
      <p:sp>
        <p:nvSpPr>
          <p:cNvPr id="12" name="Text 10"/>
          <p:cNvSpPr/>
          <p:nvPr/>
        </p:nvSpPr>
        <p:spPr>
          <a:xfrm>
            <a:off x="6035040" y="16002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Participantes (14/prototipo)</a:t>
            </a:r>
            <a:endParaRPr lang="en-US" sz="1100" dirty="0"/>
          </a:p>
        </p:txBody>
      </p:sp>
      <p:sp>
        <p:nvSpPr>
          <p:cNvPr id="13" name="Shape 11"/>
          <p:cNvSpPr/>
          <p:nvPr/>
        </p:nvSpPr>
        <p:spPr>
          <a:xfrm>
            <a:off x="274320" y="2212848"/>
            <a:ext cx="2651760" cy="1188720"/>
          </a:xfrm>
          <a:prstGeom prst="roundRect">
            <a:avLst>
              <a:gd name="adj" fmla="val 7692"/>
            </a:avLst>
          </a:prstGeom>
          <a:solidFill>
            <a:srgbClr val="1B4332"/>
          </a:solidFill>
          <a:ln/>
        </p:spPr>
      </p:sp>
      <p:sp>
        <p:nvSpPr>
          <p:cNvPr id="14" name="Text 12"/>
          <p:cNvSpPr/>
          <p:nvPr/>
        </p:nvSpPr>
        <p:spPr>
          <a:xfrm>
            <a:off x="274320" y="23774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7F + 7M</a:t>
            </a:r>
            <a:endParaRPr lang="en-US" sz="2600" dirty="0"/>
          </a:p>
        </p:txBody>
      </p:sp>
      <p:sp>
        <p:nvSpPr>
          <p:cNvPr id="15" name="Text 13"/>
          <p:cNvSpPr/>
          <p:nvPr/>
        </p:nvSpPr>
        <p:spPr>
          <a:xfrm>
            <a:off x="274320" y="29718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Equilibrio de género</a:t>
            </a:r>
            <a:endParaRPr lang="en-US" sz="1100" dirty="0"/>
          </a:p>
        </p:txBody>
      </p:sp>
      <p:sp>
        <p:nvSpPr>
          <p:cNvPr id="16" name="Shape 14"/>
          <p:cNvSpPr/>
          <p:nvPr/>
        </p:nvSpPr>
        <p:spPr>
          <a:xfrm>
            <a:off x="3154680" y="2212848"/>
            <a:ext cx="2651760" cy="1188720"/>
          </a:xfrm>
          <a:prstGeom prst="roundRect">
            <a:avLst>
              <a:gd name="adj" fmla="val 7692"/>
            </a:avLst>
          </a:prstGeom>
          <a:solidFill>
            <a:srgbClr val="1B4332"/>
          </a:solidFill>
          <a:ln/>
        </p:spPr>
      </p:sp>
      <p:sp>
        <p:nvSpPr>
          <p:cNvPr id="17" name="Text 15"/>
          <p:cNvSpPr/>
          <p:nvPr/>
        </p:nvSpPr>
        <p:spPr>
          <a:xfrm>
            <a:off x="3154680" y="2377440"/>
            <a:ext cx="2651760" cy="594360"/>
          </a:xfrm>
          <a:prstGeom prst="rect">
            <a:avLst/>
          </a:prstGeom>
          <a:noFill/>
          <a:ln/>
        </p:spPr>
        <p:txBody>
          <a:bodyPr wrap="square" rtlCol="0" anchor="ctr"/>
          <a:lstStyle/>
          <a:p>
            <a:pPr marL="0" indent="0" algn="ctr">
              <a:buNone/>
            </a:pPr>
            <a:r>
              <a:rPr lang="en-US" sz="2600" b="1" dirty="0">
                <a:solidFill>
                  <a:srgbClr val="E9C46A"/>
                </a:solidFill>
                <a:latin typeface="Calibri" pitchFamily="34" charset="0"/>
                <a:ea typeface="Calibri" pitchFamily="34" charset="-122"/>
                <a:cs typeface="Calibri" pitchFamily="34" charset="-120"/>
              </a:rPr>
              <a:t>18–54</a:t>
            </a:r>
            <a:endParaRPr lang="en-US" sz="2600" dirty="0"/>
          </a:p>
        </p:txBody>
      </p:sp>
      <p:sp>
        <p:nvSpPr>
          <p:cNvPr id="18" name="Text 16"/>
          <p:cNvSpPr/>
          <p:nvPr/>
        </p:nvSpPr>
        <p:spPr>
          <a:xfrm>
            <a:off x="3154680" y="2971800"/>
            <a:ext cx="2651760" cy="32004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Rango de edad</a:t>
            </a:r>
            <a:endParaRPr lang="en-US" sz="1100" dirty="0"/>
          </a:p>
        </p:txBody>
      </p:sp>
      <p:sp>
        <p:nvSpPr>
          <p:cNvPr id="19" name="Text 17"/>
          <p:cNvSpPr/>
          <p:nvPr/>
        </p:nvSpPr>
        <p:spPr>
          <a:xfrm>
            <a:off x="365760" y="3339430"/>
            <a:ext cx="8412480" cy="274320"/>
          </a:xfrm>
          <a:prstGeom prst="rect">
            <a:avLst/>
          </a:prstGeom>
          <a:noFill/>
          <a:ln/>
        </p:spPr>
        <p:txBody>
          <a:bodyPr wrap="square" rtlCol="0" anchor="ctr"/>
          <a:lstStyle/>
          <a:p>
            <a:pPr marL="0" indent="0">
              <a:buNone/>
            </a:pPr>
            <a:r>
              <a:rPr lang="en-US" sz="1300" b="1" dirty="0">
                <a:solidFill>
                  <a:srgbClr val="1B4332"/>
                </a:solidFill>
                <a:latin typeface="Calibri" pitchFamily="34" charset="0"/>
                <a:ea typeface="Calibri" pitchFamily="34" charset="-122"/>
                <a:cs typeface="Calibri" pitchFamily="34" charset="-120"/>
              </a:rPr>
              <a:t>Tareas completadas por cada participante (orden fijo):</a:t>
            </a:r>
            <a:endParaRPr lang="en-US" sz="1300" dirty="0"/>
          </a:p>
        </p:txBody>
      </p:sp>
      <p:sp>
        <p:nvSpPr>
          <p:cNvPr id="20" name="Shape 18"/>
          <p:cNvSpPr/>
          <p:nvPr/>
        </p:nvSpPr>
        <p:spPr>
          <a:xfrm>
            <a:off x="274320" y="3566160"/>
            <a:ext cx="1600200" cy="731520"/>
          </a:xfrm>
          <a:prstGeom prst="roundRect">
            <a:avLst>
              <a:gd name="adj" fmla="val 10000"/>
            </a:avLst>
          </a:prstGeom>
          <a:solidFill>
            <a:srgbClr val="40916C"/>
          </a:solidFill>
          <a:ln/>
        </p:spPr>
      </p:sp>
      <p:sp>
        <p:nvSpPr>
          <p:cNvPr id="21" name="Text 19"/>
          <p:cNvSpPr/>
          <p:nvPr/>
        </p:nvSpPr>
        <p:spPr>
          <a:xfrm>
            <a:off x="274320"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T1 · Nueva solicitud</a:t>
            </a:r>
            <a:endParaRPr lang="en-US" sz="1000" dirty="0"/>
          </a:p>
        </p:txBody>
      </p:sp>
      <p:sp>
        <p:nvSpPr>
          <p:cNvPr id="22" name="Shape 20"/>
          <p:cNvSpPr/>
          <p:nvPr/>
        </p:nvSpPr>
        <p:spPr>
          <a:xfrm>
            <a:off x="1993392" y="3566160"/>
            <a:ext cx="1600200" cy="731520"/>
          </a:xfrm>
          <a:prstGeom prst="roundRect">
            <a:avLst>
              <a:gd name="adj" fmla="val 10000"/>
            </a:avLst>
          </a:prstGeom>
          <a:solidFill>
            <a:srgbClr val="40916C"/>
          </a:solidFill>
          <a:ln/>
        </p:spPr>
      </p:sp>
      <p:sp>
        <p:nvSpPr>
          <p:cNvPr id="23" name="Text 21"/>
          <p:cNvSpPr/>
          <p:nvPr/>
        </p:nvSpPr>
        <p:spPr>
          <a:xfrm>
            <a:off x="1993392"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T2 · Aceptar solicitud</a:t>
            </a:r>
            <a:endParaRPr lang="en-US" sz="1000" dirty="0"/>
          </a:p>
        </p:txBody>
      </p:sp>
      <p:sp>
        <p:nvSpPr>
          <p:cNvPr id="24" name="Shape 22"/>
          <p:cNvSpPr/>
          <p:nvPr/>
        </p:nvSpPr>
        <p:spPr>
          <a:xfrm>
            <a:off x="3712464" y="3566160"/>
            <a:ext cx="1600200" cy="731520"/>
          </a:xfrm>
          <a:prstGeom prst="roundRect">
            <a:avLst>
              <a:gd name="adj" fmla="val 10000"/>
            </a:avLst>
          </a:prstGeom>
          <a:solidFill>
            <a:srgbClr val="40916C"/>
          </a:solidFill>
          <a:ln/>
        </p:spPr>
      </p:sp>
      <p:sp>
        <p:nvSpPr>
          <p:cNvPr id="25" name="Text 23"/>
          <p:cNvSpPr/>
          <p:nvPr/>
        </p:nvSpPr>
        <p:spPr>
          <a:xfrm>
            <a:off x="3712464"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T3 · Ver solicitud</a:t>
            </a:r>
            <a:endParaRPr lang="en-US" sz="1000" dirty="0"/>
          </a:p>
        </p:txBody>
      </p:sp>
      <p:sp>
        <p:nvSpPr>
          <p:cNvPr id="26" name="Shape 24"/>
          <p:cNvSpPr/>
          <p:nvPr/>
        </p:nvSpPr>
        <p:spPr>
          <a:xfrm>
            <a:off x="5431536" y="3566160"/>
            <a:ext cx="1600200" cy="731520"/>
          </a:xfrm>
          <a:prstGeom prst="roundRect">
            <a:avLst>
              <a:gd name="adj" fmla="val 10000"/>
            </a:avLst>
          </a:prstGeom>
          <a:solidFill>
            <a:srgbClr val="40916C"/>
          </a:solidFill>
          <a:ln/>
        </p:spPr>
      </p:sp>
      <p:sp>
        <p:nvSpPr>
          <p:cNvPr id="27" name="Text 25"/>
          <p:cNvSpPr/>
          <p:nvPr/>
        </p:nvSpPr>
        <p:spPr>
          <a:xfrm>
            <a:off x="5431536"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T4 · Rechazar solicitud</a:t>
            </a:r>
            <a:endParaRPr lang="en-US" sz="1000" dirty="0"/>
          </a:p>
        </p:txBody>
      </p:sp>
      <p:sp>
        <p:nvSpPr>
          <p:cNvPr id="28" name="Shape 26"/>
          <p:cNvSpPr/>
          <p:nvPr/>
        </p:nvSpPr>
        <p:spPr>
          <a:xfrm>
            <a:off x="7150608" y="3566160"/>
            <a:ext cx="1600200" cy="731520"/>
          </a:xfrm>
          <a:prstGeom prst="roundRect">
            <a:avLst>
              <a:gd name="adj" fmla="val 10000"/>
            </a:avLst>
          </a:prstGeom>
          <a:solidFill>
            <a:srgbClr val="40916C"/>
          </a:solidFill>
          <a:ln/>
        </p:spPr>
      </p:sp>
      <p:sp>
        <p:nvSpPr>
          <p:cNvPr id="29" name="Text 27"/>
          <p:cNvSpPr/>
          <p:nvPr/>
        </p:nvSpPr>
        <p:spPr>
          <a:xfrm>
            <a:off x="7150608" y="3566160"/>
            <a:ext cx="1600200" cy="7315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T5 · Compartir donación</a:t>
            </a:r>
            <a:endParaRPr lang="en-US" sz="1000" dirty="0"/>
          </a:p>
        </p:txBody>
      </p:sp>
      <p:sp>
        <p:nvSpPr>
          <p:cNvPr id="30" name="Shape 28"/>
          <p:cNvSpPr/>
          <p:nvPr/>
        </p:nvSpPr>
        <p:spPr>
          <a:xfrm>
            <a:off x="274320" y="4370832"/>
            <a:ext cx="8595360" cy="502920"/>
          </a:xfrm>
          <a:prstGeom prst="roundRect">
            <a:avLst>
              <a:gd name="adj" fmla="val 10909"/>
            </a:avLst>
          </a:prstGeom>
          <a:solidFill>
            <a:srgbClr val="E9F5EE"/>
          </a:solidFill>
          <a:ln/>
        </p:spPr>
      </p:sp>
      <p:sp>
        <p:nvSpPr>
          <p:cNvPr id="31" name="Text 29"/>
          <p:cNvSpPr/>
          <p:nvPr/>
        </p:nvSpPr>
        <p:spPr>
          <a:xfrm>
            <a:off x="411480" y="4416552"/>
            <a:ext cx="8321040" cy="411480"/>
          </a:xfrm>
          <a:prstGeom prst="rect">
            <a:avLst/>
          </a:prstGeom>
          <a:noFill/>
          <a:ln/>
        </p:spPr>
        <p:txBody>
          <a:bodyPr wrap="square" rtlCol="0" anchor="ctr"/>
          <a:lstStyle/>
          <a:p>
            <a:pPr marL="0" indent="0">
              <a:buNone/>
            </a:pPr>
            <a:r>
              <a:rPr lang="en-US" sz="1000" dirty="0">
                <a:solidFill>
                  <a:srgbClr val="212529"/>
                </a:solidFill>
                <a:latin typeface="Calibri" pitchFamily="34" charset="0"/>
                <a:ea typeface="Calibri" pitchFamily="34" charset="-122"/>
                <a:cs typeface="Calibri" pitchFamily="34" charset="-120"/>
              </a:rPr>
              <a:t>Métricas registradas por Loop11: Tiempo por tarea · Páginas visitadas · Éxito/Abandono · Índice de Lostness · Expectativa/Experiencia (1–7) · UMUX (4 ítems 1–7) · NPS (0–10)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4. Personas Elegidas para el Test</a:t>
            </a:r>
            <a:endParaRPr lang="en-US" sz="2200" dirty="0"/>
          </a:p>
        </p:txBody>
      </p:sp>
      <p:sp>
        <p:nvSpPr>
          <p:cNvPr id="4" name="Shape 2"/>
          <p:cNvSpPr/>
          <p:nvPr/>
        </p:nvSpPr>
        <p:spPr>
          <a:xfrm>
            <a:off x="274320" y="822960"/>
            <a:ext cx="4206240" cy="4160520"/>
          </a:xfrm>
          <a:prstGeom prst="roundRect">
            <a:avLst>
              <a:gd name="adj" fmla="val 2637"/>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274320" y="822960"/>
            <a:ext cx="4206240" cy="731520"/>
          </a:xfrm>
          <a:prstGeom prst="roundRect">
            <a:avLst>
              <a:gd name="adj" fmla="val 15000"/>
            </a:avLst>
          </a:prstGeom>
          <a:solidFill>
            <a:srgbClr val="6C63A8"/>
          </a:solidFill>
          <a:ln/>
        </p:spPr>
      </p:sp>
      <p:sp>
        <p:nvSpPr>
          <p:cNvPr id="6" name="Shape 4"/>
          <p:cNvSpPr/>
          <p:nvPr/>
        </p:nvSpPr>
        <p:spPr>
          <a:xfrm>
            <a:off x="274320" y="1188720"/>
            <a:ext cx="4206240" cy="365760"/>
          </a:xfrm>
          <a:prstGeom prst="rect">
            <a:avLst/>
          </a:prstGeom>
          <a:solidFill>
            <a:srgbClr val="6C63A8"/>
          </a:solidFill>
          <a:ln/>
        </p:spPr>
      </p:sp>
      <p:sp>
        <p:nvSpPr>
          <p:cNvPr id="7" name="Text 5"/>
          <p:cNvSpPr/>
          <p:nvPr/>
        </p:nvSpPr>
        <p:spPr>
          <a:xfrm>
            <a:off x="411480" y="859536"/>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Laura Martínez</a:t>
            </a:r>
            <a:endParaRPr lang="en-US" sz="1500" dirty="0"/>
          </a:p>
        </p:txBody>
      </p:sp>
      <p:sp>
        <p:nvSpPr>
          <p:cNvPr id="8" name="Text 6"/>
          <p:cNvSpPr/>
          <p:nvPr/>
        </p:nvSpPr>
        <p:spPr>
          <a:xfrm>
            <a:off x="411480" y="1207008"/>
            <a:ext cx="393192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DONANTE · Desktop Windows</a:t>
            </a:r>
            <a:endParaRPr lang="en-US" sz="1000" dirty="0"/>
          </a:p>
        </p:txBody>
      </p:sp>
      <p:sp>
        <p:nvSpPr>
          <p:cNvPr id="9" name="Text 7"/>
          <p:cNvSpPr/>
          <p:nvPr/>
        </p:nvSpPr>
        <p:spPr>
          <a:xfrm>
            <a:off x="411480" y="166420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Edad / Género:</a:t>
            </a:r>
            <a:endParaRPr lang="en-US" sz="950" dirty="0"/>
          </a:p>
        </p:txBody>
      </p:sp>
      <p:sp>
        <p:nvSpPr>
          <p:cNvPr id="10" name="Text 8"/>
          <p:cNvSpPr/>
          <p:nvPr/>
        </p:nvSpPr>
        <p:spPr>
          <a:xfrm>
            <a:off x="411480" y="184708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32 años · Femenino</a:t>
            </a:r>
            <a:endParaRPr lang="en-US" sz="900" dirty="0"/>
          </a:p>
        </p:txBody>
      </p:sp>
      <p:sp>
        <p:nvSpPr>
          <p:cNvPr id="11" name="Text 9"/>
          <p:cNvSpPr/>
          <p:nvPr/>
        </p:nvSpPr>
        <p:spPr>
          <a:xfrm>
            <a:off x="411480" y="230428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Ocupación:</a:t>
            </a:r>
            <a:endParaRPr lang="en-US" sz="950" dirty="0"/>
          </a:p>
        </p:txBody>
      </p:sp>
      <p:sp>
        <p:nvSpPr>
          <p:cNvPr id="12" name="Text 10"/>
          <p:cNvSpPr/>
          <p:nvPr/>
        </p:nvSpPr>
        <p:spPr>
          <a:xfrm>
            <a:off x="411480" y="248716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Responsable de logística en supermercado mediano en Barcelona. Gestiona semanalmente excedentes de frutas, verduras y panadería.</a:t>
            </a:r>
            <a:endParaRPr lang="en-US" sz="900" dirty="0"/>
          </a:p>
        </p:txBody>
      </p:sp>
      <p:sp>
        <p:nvSpPr>
          <p:cNvPr id="13" name="Text 11"/>
          <p:cNvSpPr/>
          <p:nvPr/>
        </p:nvSpPr>
        <p:spPr>
          <a:xfrm>
            <a:off x="411480" y="294436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Motivación:</a:t>
            </a:r>
            <a:endParaRPr lang="en-US" sz="950" dirty="0"/>
          </a:p>
        </p:txBody>
      </p:sp>
      <p:sp>
        <p:nvSpPr>
          <p:cNvPr id="14" name="Text 12"/>
          <p:cNvSpPr/>
          <p:nvPr/>
        </p:nvSpPr>
        <p:spPr>
          <a:xfrm>
            <a:off x="411480" y="312724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Reducir el desperdicio donando excedentes antes de que caduquen. Familiar con formularios web, sin experiencia técnica.</a:t>
            </a:r>
            <a:endParaRPr lang="en-US" sz="900" dirty="0"/>
          </a:p>
        </p:txBody>
      </p:sp>
      <p:sp>
        <p:nvSpPr>
          <p:cNvPr id="15" name="Text 13"/>
          <p:cNvSpPr/>
          <p:nvPr/>
        </p:nvSpPr>
        <p:spPr>
          <a:xfrm>
            <a:off x="411480" y="358444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Objetivo en el test:</a:t>
            </a:r>
            <a:endParaRPr lang="en-US" sz="950" dirty="0"/>
          </a:p>
        </p:txBody>
      </p:sp>
      <p:sp>
        <p:nvSpPr>
          <p:cNvPr id="16" name="Text 14"/>
          <p:cNvSpPr/>
          <p:nvPr/>
        </p:nvSpPr>
        <p:spPr>
          <a:xfrm>
            <a:off x="411480" y="376732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Publicar donación nueva, revisar solicitudes recibidas y aprobar/rechazar alguna.</a:t>
            </a:r>
            <a:endParaRPr lang="en-US" sz="900" dirty="0"/>
          </a:p>
        </p:txBody>
      </p:sp>
      <p:sp>
        <p:nvSpPr>
          <p:cNvPr id="17" name="Text 15"/>
          <p:cNvSpPr/>
          <p:nvPr/>
        </p:nvSpPr>
        <p:spPr>
          <a:xfrm>
            <a:off x="411480" y="4224528"/>
            <a:ext cx="3931920" cy="182880"/>
          </a:xfrm>
          <a:prstGeom prst="rect">
            <a:avLst/>
          </a:prstGeom>
          <a:noFill/>
          <a:ln/>
        </p:spPr>
        <p:txBody>
          <a:bodyPr wrap="square" lIns="0" tIns="0" rIns="0" bIns="0" rtlCol="0" anchor="ctr"/>
          <a:lstStyle/>
          <a:p>
            <a:pPr marL="0" indent="0">
              <a:buNone/>
            </a:pPr>
            <a:r>
              <a:rPr lang="en-US" sz="950" b="1" dirty="0">
                <a:solidFill>
                  <a:srgbClr val="6C63A8"/>
                </a:solidFill>
                <a:latin typeface="Calibri" pitchFamily="34" charset="0"/>
                <a:ea typeface="Calibri" pitchFamily="34" charset="-122"/>
                <a:cs typeface="Calibri" pitchFamily="34" charset="-120"/>
              </a:rPr>
              <a:t>Perfil de la muestra:</a:t>
            </a:r>
            <a:endParaRPr lang="en-US" sz="950" dirty="0"/>
          </a:p>
        </p:txBody>
      </p:sp>
      <p:sp>
        <p:nvSpPr>
          <p:cNvPr id="18" name="Text 16"/>
          <p:cNvSpPr/>
          <p:nvPr/>
        </p:nvSpPr>
        <p:spPr>
          <a:xfrm>
            <a:off x="411480" y="440740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Edad 27–38 · Interés dominio 4–7/7 · Experiencia 2–4/7 · Interés app móvil 4/7</a:t>
            </a:r>
            <a:endParaRPr lang="en-US" sz="900" dirty="0"/>
          </a:p>
        </p:txBody>
      </p:sp>
      <p:sp>
        <p:nvSpPr>
          <p:cNvPr id="19" name="Shape 17"/>
          <p:cNvSpPr/>
          <p:nvPr/>
        </p:nvSpPr>
        <p:spPr>
          <a:xfrm>
            <a:off x="4754880" y="822960"/>
            <a:ext cx="4206240" cy="4160520"/>
          </a:xfrm>
          <a:prstGeom prst="roundRect">
            <a:avLst>
              <a:gd name="adj" fmla="val 2637"/>
            </a:avLst>
          </a:prstGeom>
          <a:solidFill>
            <a:srgbClr val="FFFFFF"/>
          </a:solidFill>
          <a:ln/>
          <a:effectLst>
            <a:outerShdw blurRad="101600" dist="38100" dir="2700000" algn="bl" rotWithShape="0">
              <a:srgbClr val="000000">
                <a:alpha val="12000"/>
              </a:srgbClr>
            </a:outerShdw>
          </a:effectLst>
        </p:spPr>
      </p:sp>
      <p:sp>
        <p:nvSpPr>
          <p:cNvPr id="20" name="Shape 18"/>
          <p:cNvSpPr/>
          <p:nvPr/>
        </p:nvSpPr>
        <p:spPr>
          <a:xfrm>
            <a:off x="4754880" y="822960"/>
            <a:ext cx="4206240" cy="731520"/>
          </a:xfrm>
          <a:prstGeom prst="roundRect">
            <a:avLst>
              <a:gd name="adj" fmla="val 15000"/>
            </a:avLst>
          </a:prstGeom>
          <a:solidFill>
            <a:srgbClr val="F4A261"/>
          </a:solidFill>
          <a:ln/>
        </p:spPr>
      </p:sp>
      <p:sp>
        <p:nvSpPr>
          <p:cNvPr id="21" name="Shape 19"/>
          <p:cNvSpPr/>
          <p:nvPr/>
        </p:nvSpPr>
        <p:spPr>
          <a:xfrm>
            <a:off x="4754880" y="1188720"/>
            <a:ext cx="4206240" cy="365760"/>
          </a:xfrm>
          <a:prstGeom prst="rect">
            <a:avLst/>
          </a:prstGeom>
          <a:solidFill>
            <a:srgbClr val="F4A261"/>
          </a:solidFill>
          <a:ln/>
        </p:spPr>
      </p:sp>
      <p:sp>
        <p:nvSpPr>
          <p:cNvPr id="22" name="Text 20"/>
          <p:cNvSpPr/>
          <p:nvPr/>
        </p:nvSpPr>
        <p:spPr>
          <a:xfrm>
            <a:off x="4892040" y="859536"/>
            <a:ext cx="3931920" cy="347472"/>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Carla Romero</a:t>
            </a:r>
            <a:endParaRPr lang="en-US" sz="1500" dirty="0"/>
          </a:p>
        </p:txBody>
      </p:sp>
      <p:sp>
        <p:nvSpPr>
          <p:cNvPr id="23" name="Text 21"/>
          <p:cNvSpPr/>
          <p:nvPr/>
        </p:nvSpPr>
        <p:spPr>
          <a:xfrm>
            <a:off x="4892040" y="1207008"/>
            <a:ext cx="3931920" cy="27432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ONG / RECEPTOR · Mobile Android</a:t>
            </a:r>
            <a:endParaRPr lang="en-US" sz="1000" dirty="0"/>
          </a:p>
        </p:txBody>
      </p:sp>
      <p:sp>
        <p:nvSpPr>
          <p:cNvPr id="24" name="Text 22"/>
          <p:cNvSpPr/>
          <p:nvPr/>
        </p:nvSpPr>
        <p:spPr>
          <a:xfrm>
            <a:off x="4892040" y="166420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Edad / Género:</a:t>
            </a:r>
            <a:endParaRPr lang="en-US" sz="950" dirty="0"/>
          </a:p>
        </p:txBody>
      </p:sp>
      <p:sp>
        <p:nvSpPr>
          <p:cNvPr id="25" name="Text 23"/>
          <p:cNvSpPr/>
          <p:nvPr/>
        </p:nvSpPr>
        <p:spPr>
          <a:xfrm>
            <a:off x="4892040" y="184708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41 años · Femenino</a:t>
            </a:r>
            <a:endParaRPr lang="en-US" sz="900" dirty="0"/>
          </a:p>
        </p:txBody>
      </p:sp>
      <p:sp>
        <p:nvSpPr>
          <p:cNvPr id="26" name="Text 24"/>
          <p:cNvSpPr/>
          <p:nvPr/>
        </p:nvSpPr>
        <p:spPr>
          <a:xfrm>
            <a:off x="4892040" y="230428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Ocupación:</a:t>
            </a:r>
            <a:endParaRPr lang="en-US" sz="950" dirty="0"/>
          </a:p>
        </p:txBody>
      </p:sp>
      <p:sp>
        <p:nvSpPr>
          <p:cNvPr id="27" name="Text 25"/>
          <p:cNvSpPr/>
          <p:nvPr/>
        </p:nvSpPr>
        <p:spPr>
          <a:xfrm>
            <a:off x="4892040" y="248716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Coordinadora de captación de recursos en banco de alimentos. Gestiona múltiples contactos con donantes a diario.</a:t>
            </a:r>
            <a:endParaRPr lang="en-US" sz="900" dirty="0"/>
          </a:p>
        </p:txBody>
      </p:sp>
      <p:sp>
        <p:nvSpPr>
          <p:cNvPr id="28" name="Text 26"/>
          <p:cNvSpPr/>
          <p:nvPr/>
        </p:nvSpPr>
        <p:spPr>
          <a:xfrm>
            <a:off x="4892040" y="294436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Motivación:</a:t>
            </a:r>
            <a:endParaRPr lang="en-US" sz="950" dirty="0"/>
          </a:p>
        </p:txBody>
      </p:sp>
      <p:sp>
        <p:nvSpPr>
          <p:cNvPr id="29" name="Text 27"/>
          <p:cNvSpPr/>
          <p:nvPr/>
        </p:nvSpPr>
        <p:spPr>
          <a:xfrm>
            <a:off x="4892040" y="312724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Ver donaciones disponibles cerca, crear solicitud y recibir confirmación sin llamadas. Usa el móvil en movimiento.</a:t>
            </a:r>
            <a:endParaRPr lang="en-US" sz="900" dirty="0"/>
          </a:p>
        </p:txBody>
      </p:sp>
      <p:sp>
        <p:nvSpPr>
          <p:cNvPr id="30" name="Text 28"/>
          <p:cNvSpPr/>
          <p:nvPr/>
        </p:nvSpPr>
        <p:spPr>
          <a:xfrm>
            <a:off x="4892040" y="358444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Objetivo en el test:</a:t>
            </a:r>
            <a:endParaRPr lang="en-US" sz="950" dirty="0"/>
          </a:p>
        </p:txBody>
      </p:sp>
      <p:sp>
        <p:nvSpPr>
          <p:cNvPr id="31" name="Text 29"/>
          <p:cNvSpPr/>
          <p:nvPr/>
        </p:nvSpPr>
        <p:spPr>
          <a:xfrm>
            <a:off x="4892040" y="376732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Navegar donaciones, crear nueva solicitud, consultar su estado y entender cómo publicar donación propia.</a:t>
            </a:r>
            <a:endParaRPr lang="en-US" sz="900" dirty="0"/>
          </a:p>
        </p:txBody>
      </p:sp>
      <p:sp>
        <p:nvSpPr>
          <p:cNvPr id="32" name="Text 30"/>
          <p:cNvSpPr/>
          <p:nvPr/>
        </p:nvSpPr>
        <p:spPr>
          <a:xfrm>
            <a:off x="4892040" y="4224528"/>
            <a:ext cx="3931920" cy="182880"/>
          </a:xfrm>
          <a:prstGeom prst="rect">
            <a:avLst/>
          </a:prstGeom>
          <a:noFill/>
          <a:ln/>
        </p:spPr>
        <p:txBody>
          <a:bodyPr wrap="square" lIns="0" tIns="0" rIns="0" bIns="0" rtlCol="0" anchor="ctr"/>
          <a:lstStyle/>
          <a:p>
            <a:pPr marL="0" indent="0">
              <a:buNone/>
            </a:pPr>
            <a:r>
              <a:rPr lang="en-US" sz="950" b="1" dirty="0">
                <a:solidFill>
                  <a:srgbClr val="F4A261"/>
                </a:solidFill>
                <a:latin typeface="Calibri" pitchFamily="34" charset="0"/>
                <a:ea typeface="Calibri" pitchFamily="34" charset="-122"/>
                <a:cs typeface="Calibri" pitchFamily="34" charset="-120"/>
              </a:rPr>
              <a:t>Perfil de la muestra:</a:t>
            </a:r>
            <a:endParaRPr lang="en-US" sz="950" dirty="0"/>
          </a:p>
        </p:txBody>
      </p:sp>
      <p:sp>
        <p:nvSpPr>
          <p:cNvPr id="33" name="Text 31"/>
          <p:cNvSpPr/>
          <p:nvPr/>
        </p:nvSpPr>
        <p:spPr>
          <a:xfrm>
            <a:off x="4892040" y="4407408"/>
            <a:ext cx="3931920" cy="4572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Edad 38–49 · Interés dominio 4–7/7 · Experiencia 3–6/7 · Interés app móvil 4–7/7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 Rendimiento: T2 — Aceptar Solicitud (Mayor Divergencia de Tiempo)</a:t>
            </a:r>
            <a:endParaRPr lang="en-US" sz="1800" dirty="0"/>
          </a:p>
        </p:txBody>
      </p:sp>
      <p:sp>
        <p:nvSpPr>
          <p:cNvPr id="4" name="Shape 2"/>
          <p:cNvSpPr/>
          <p:nvPr/>
        </p:nvSpPr>
        <p:spPr>
          <a:xfrm>
            <a:off x="274320" y="777240"/>
            <a:ext cx="8595360" cy="594360"/>
          </a:xfrm>
          <a:prstGeom prst="roundRect">
            <a:avLst>
              <a:gd name="adj" fmla="val 12308"/>
            </a:avLst>
          </a:prstGeom>
          <a:solidFill>
            <a:srgbClr val="E9F5EE"/>
          </a:solidFill>
          <a:ln/>
        </p:spPr>
      </p:sp>
      <p:sp>
        <p:nvSpPr>
          <p:cNvPr id="5" name="Text 3"/>
          <p:cNvSpPr/>
          <p:nvPr/>
        </p:nvSpPr>
        <p:spPr>
          <a:xfrm>
            <a:off x="457200" y="804672"/>
            <a:ext cx="8229600" cy="530352"/>
          </a:xfrm>
          <a:prstGeom prst="rect">
            <a:avLst/>
          </a:prstGeom>
          <a:noFill/>
          <a:ln/>
        </p:spPr>
        <p:txBody>
          <a:bodyPr wrap="square" rtlCol="0" anchor="ctr"/>
          <a:lstStyle/>
          <a:p>
            <a:pPr marL="0" indent="0">
              <a:buNone/>
            </a:pPr>
            <a:r>
              <a:rPr lang="en-US" sz="950" i="1" dirty="0">
                <a:solidFill>
                  <a:srgbClr val="1B4332"/>
                </a:solidFill>
                <a:latin typeface="Calibri" pitchFamily="34" charset="0"/>
                <a:ea typeface="Calibri" pitchFamily="34" charset="-122"/>
                <a:cs typeface="Calibri" pitchFamily="34" charset="-120"/>
              </a:rPr>
              <a:t>Escenario T2: "Eres el responsable de una organización benéfica que acaba de recibir una notificación de nueva solicitud de donación. Accede a la plataforma, localiza esa solicitud pendiente y apruébala para que el donante pueda proceder a preparar la entrega."</a:t>
            </a:r>
            <a:endParaRPr lang="en-US" sz="950" dirty="0"/>
          </a:p>
        </p:txBody>
      </p:sp>
      <p:sp>
        <p:nvSpPr>
          <p:cNvPr id="6" name="Shape 4"/>
          <p:cNvSpPr/>
          <p:nvPr/>
        </p:nvSpPr>
        <p:spPr>
          <a:xfrm>
            <a:off x="274320" y="1463040"/>
            <a:ext cx="5212080" cy="329184"/>
          </a:xfrm>
          <a:prstGeom prst="rect">
            <a:avLst/>
          </a:prstGeom>
          <a:solidFill>
            <a:srgbClr val="1B4332"/>
          </a:solidFill>
          <a:ln/>
        </p:spPr>
      </p:sp>
      <p:sp>
        <p:nvSpPr>
          <p:cNvPr id="7" name="Text 5"/>
          <p:cNvSpPr/>
          <p:nvPr/>
        </p:nvSpPr>
        <p:spPr>
          <a:xfrm>
            <a:off x="329184" y="1508760"/>
            <a:ext cx="219456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Métrica</a:t>
            </a:r>
            <a:endParaRPr lang="en-US" sz="1000" dirty="0"/>
          </a:p>
        </p:txBody>
      </p:sp>
      <p:sp>
        <p:nvSpPr>
          <p:cNvPr id="8" name="Text 6"/>
          <p:cNvSpPr/>
          <p:nvPr/>
        </p:nvSpPr>
        <p:spPr>
          <a:xfrm>
            <a:off x="2615184" y="1508760"/>
            <a:ext cx="128016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A</a:t>
            </a:r>
            <a:endParaRPr lang="en-US" sz="1000" dirty="0"/>
          </a:p>
        </p:txBody>
      </p:sp>
      <p:sp>
        <p:nvSpPr>
          <p:cNvPr id="9" name="Text 7"/>
          <p:cNvSpPr/>
          <p:nvPr/>
        </p:nvSpPr>
        <p:spPr>
          <a:xfrm>
            <a:off x="3986784" y="1508760"/>
            <a:ext cx="137160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B</a:t>
            </a:r>
            <a:endParaRPr lang="en-US" sz="1000" dirty="0"/>
          </a:p>
        </p:txBody>
      </p:sp>
      <p:sp>
        <p:nvSpPr>
          <p:cNvPr id="10" name="Shape 8"/>
          <p:cNvSpPr/>
          <p:nvPr/>
        </p:nvSpPr>
        <p:spPr>
          <a:xfrm>
            <a:off x="274320" y="1810512"/>
            <a:ext cx="5212080" cy="329184"/>
          </a:xfrm>
          <a:prstGeom prst="rect">
            <a:avLst/>
          </a:prstGeom>
          <a:solidFill>
            <a:srgbClr val="FFFFFF"/>
          </a:solidFill>
          <a:ln/>
        </p:spPr>
      </p:sp>
      <p:sp>
        <p:nvSpPr>
          <p:cNvPr id="11" name="Text 9"/>
          <p:cNvSpPr/>
          <p:nvPr/>
        </p:nvSpPr>
        <p:spPr>
          <a:xfrm>
            <a:off x="329184" y="1856232"/>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Tiempo medio</a:t>
            </a:r>
            <a:endParaRPr lang="en-US" sz="950" dirty="0"/>
          </a:p>
        </p:txBody>
      </p:sp>
      <p:sp>
        <p:nvSpPr>
          <p:cNvPr id="12" name="Text 10"/>
          <p:cNvSpPr/>
          <p:nvPr/>
        </p:nvSpPr>
        <p:spPr>
          <a:xfrm>
            <a:off x="2615184" y="1856232"/>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66 s  ✓</a:t>
            </a:r>
            <a:endParaRPr lang="en-US" sz="950" dirty="0"/>
          </a:p>
        </p:txBody>
      </p:sp>
      <p:sp>
        <p:nvSpPr>
          <p:cNvPr id="13" name="Text 11"/>
          <p:cNvSpPr/>
          <p:nvPr/>
        </p:nvSpPr>
        <p:spPr>
          <a:xfrm>
            <a:off x="3986784" y="1856232"/>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91 s  ✗  (+38%)</a:t>
            </a:r>
            <a:endParaRPr lang="en-US" sz="950" dirty="0"/>
          </a:p>
        </p:txBody>
      </p:sp>
      <p:sp>
        <p:nvSpPr>
          <p:cNvPr id="14" name="Shape 12"/>
          <p:cNvSpPr/>
          <p:nvPr/>
        </p:nvSpPr>
        <p:spPr>
          <a:xfrm>
            <a:off x="274320" y="2157984"/>
            <a:ext cx="5212080" cy="329184"/>
          </a:xfrm>
          <a:prstGeom prst="rect">
            <a:avLst/>
          </a:prstGeom>
          <a:solidFill>
            <a:srgbClr val="E9F5EE"/>
          </a:solidFill>
          <a:ln/>
        </p:spPr>
      </p:sp>
      <p:sp>
        <p:nvSpPr>
          <p:cNvPr id="15" name="Text 13"/>
          <p:cNvSpPr/>
          <p:nvPr/>
        </p:nvSpPr>
        <p:spPr>
          <a:xfrm>
            <a:off x="329184" y="2203704"/>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mínimo de pasos</a:t>
            </a:r>
            <a:endParaRPr lang="en-US" sz="950" dirty="0"/>
          </a:p>
        </p:txBody>
      </p:sp>
      <p:sp>
        <p:nvSpPr>
          <p:cNvPr id="16" name="Text 14"/>
          <p:cNvSpPr/>
          <p:nvPr/>
        </p:nvSpPr>
        <p:spPr>
          <a:xfrm>
            <a:off x="2615184" y="2203704"/>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17" name="Text 15"/>
          <p:cNvSpPr/>
          <p:nvPr/>
        </p:nvSpPr>
        <p:spPr>
          <a:xfrm>
            <a:off x="3986784" y="2203704"/>
            <a:ext cx="137160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18" name="Shape 16"/>
          <p:cNvSpPr/>
          <p:nvPr/>
        </p:nvSpPr>
        <p:spPr>
          <a:xfrm>
            <a:off x="274320" y="2505456"/>
            <a:ext cx="5212080" cy="329184"/>
          </a:xfrm>
          <a:prstGeom prst="rect">
            <a:avLst/>
          </a:prstGeom>
          <a:solidFill>
            <a:srgbClr val="FFFFFF"/>
          </a:solidFill>
          <a:ln/>
        </p:spPr>
      </p:sp>
      <p:sp>
        <p:nvSpPr>
          <p:cNvPr id="19" name="Text 17"/>
          <p:cNvSpPr/>
          <p:nvPr/>
        </p:nvSpPr>
        <p:spPr>
          <a:xfrm>
            <a:off x="329184" y="2551176"/>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medio de pasos visitados</a:t>
            </a:r>
            <a:endParaRPr lang="en-US" sz="950" dirty="0"/>
          </a:p>
        </p:txBody>
      </p:sp>
      <p:sp>
        <p:nvSpPr>
          <p:cNvPr id="20" name="Text 18"/>
          <p:cNvSpPr/>
          <p:nvPr/>
        </p:nvSpPr>
        <p:spPr>
          <a:xfrm>
            <a:off x="2615184" y="2551176"/>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4,6</a:t>
            </a:r>
            <a:endParaRPr lang="en-US" sz="950" dirty="0"/>
          </a:p>
        </p:txBody>
      </p:sp>
      <p:sp>
        <p:nvSpPr>
          <p:cNvPr id="21" name="Text 19"/>
          <p:cNvSpPr/>
          <p:nvPr/>
        </p:nvSpPr>
        <p:spPr>
          <a:xfrm>
            <a:off x="3986784" y="2551176"/>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4,9</a:t>
            </a:r>
            <a:endParaRPr lang="en-US" sz="950" dirty="0"/>
          </a:p>
        </p:txBody>
      </p:sp>
      <p:sp>
        <p:nvSpPr>
          <p:cNvPr id="22" name="Shape 20"/>
          <p:cNvSpPr/>
          <p:nvPr/>
        </p:nvSpPr>
        <p:spPr>
          <a:xfrm>
            <a:off x="274320" y="2852928"/>
            <a:ext cx="5212080" cy="329184"/>
          </a:xfrm>
          <a:prstGeom prst="rect">
            <a:avLst/>
          </a:prstGeom>
          <a:solidFill>
            <a:srgbClr val="E9F5EE"/>
          </a:solidFill>
          <a:ln/>
        </p:spPr>
      </p:sp>
      <p:sp>
        <p:nvSpPr>
          <p:cNvPr id="23" name="Text 21"/>
          <p:cNvSpPr/>
          <p:nvPr/>
        </p:nvSpPr>
        <p:spPr>
          <a:xfrm>
            <a:off x="329184" y="2898648"/>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 Completion (éxito)</a:t>
            </a:r>
            <a:endParaRPr lang="en-US" sz="950" dirty="0"/>
          </a:p>
        </p:txBody>
      </p:sp>
      <p:sp>
        <p:nvSpPr>
          <p:cNvPr id="24" name="Text 22"/>
          <p:cNvSpPr/>
          <p:nvPr/>
        </p:nvSpPr>
        <p:spPr>
          <a:xfrm>
            <a:off x="2615184" y="2898648"/>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92,9 %</a:t>
            </a:r>
            <a:endParaRPr lang="en-US" sz="950" dirty="0"/>
          </a:p>
        </p:txBody>
      </p:sp>
      <p:sp>
        <p:nvSpPr>
          <p:cNvPr id="25" name="Text 23"/>
          <p:cNvSpPr/>
          <p:nvPr/>
        </p:nvSpPr>
        <p:spPr>
          <a:xfrm>
            <a:off x="3986784" y="2898648"/>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78,6 %</a:t>
            </a:r>
            <a:endParaRPr lang="en-US" sz="950" dirty="0"/>
          </a:p>
        </p:txBody>
      </p:sp>
      <p:sp>
        <p:nvSpPr>
          <p:cNvPr id="26" name="Shape 24"/>
          <p:cNvSpPr/>
          <p:nvPr/>
        </p:nvSpPr>
        <p:spPr>
          <a:xfrm>
            <a:off x="274320" y="3200400"/>
            <a:ext cx="5212080" cy="329184"/>
          </a:xfrm>
          <a:prstGeom prst="rect">
            <a:avLst/>
          </a:prstGeom>
          <a:solidFill>
            <a:srgbClr val="FFFFFF"/>
          </a:solidFill>
          <a:ln/>
        </p:spPr>
      </p:sp>
      <p:sp>
        <p:nvSpPr>
          <p:cNvPr id="27" name="Text 25"/>
          <p:cNvSpPr/>
          <p:nvPr/>
        </p:nvSpPr>
        <p:spPr>
          <a:xfrm>
            <a:off x="329184" y="3246120"/>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EE (Experiencia − Expectativa)</a:t>
            </a:r>
            <a:endParaRPr lang="en-US" sz="950" dirty="0"/>
          </a:p>
        </p:txBody>
      </p:sp>
      <p:sp>
        <p:nvSpPr>
          <p:cNvPr id="28" name="Text 26"/>
          <p:cNvSpPr/>
          <p:nvPr/>
        </p:nvSpPr>
        <p:spPr>
          <a:xfrm>
            <a:off x="2615184" y="3246120"/>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+0,71  ✓</a:t>
            </a:r>
            <a:endParaRPr lang="en-US" sz="950" dirty="0"/>
          </a:p>
        </p:txBody>
      </p:sp>
      <p:sp>
        <p:nvSpPr>
          <p:cNvPr id="29" name="Text 27"/>
          <p:cNvSpPr/>
          <p:nvPr/>
        </p:nvSpPr>
        <p:spPr>
          <a:xfrm>
            <a:off x="3986784" y="3246120"/>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−0,07  ✗</a:t>
            </a:r>
            <a:endParaRPr lang="en-US" sz="950" dirty="0"/>
          </a:p>
        </p:txBody>
      </p:sp>
      <p:sp>
        <p:nvSpPr>
          <p:cNvPr id="30" name="Shape 28"/>
          <p:cNvSpPr/>
          <p:nvPr/>
        </p:nvSpPr>
        <p:spPr>
          <a:xfrm>
            <a:off x="274320" y="3547872"/>
            <a:ext cx="5212080" cy="329184"/>
          </a:xfrm>
          <a:prstGeom prst="rect">
            <a:avLst/>
          </a:prstGeom>
          <a:solidFill>
            <a:srgbClr val="E9F5EE"/>
          </a:solidFill>
          <a:ln/>
        </p:spPr>
      </p:sp>
      <p:sp>
        <p:nvSpPr>
          <p:cNvPr id="31" name="Text 29"/>
          <p:cNvSpPr/>
          <p:nvPr/>
        </p:nvSpPr>
        <p:spPr>
          <a:xfrm>
            <a:off x="329184" y="3593592"/>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Índice de Lostness</a:t>
            </a:r>
            <a:endParaRPr lang="en-US" sz="950" dirty="0"/>
          </a:p>
        </p:txBody>
      </p:sp>
      <p:sp>
        <p:nvSpPr>
          <p:cNvPr id="32" name="Text 30"/>
          <p:cNvSpPr/>
          <p:nvPr/>
        </p:nvSpPr>
        <p:spPr>
          <a:xfrm>
            <a:off x="2615184" y="3593592"/>
            <a:ext cx="128016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0,38</a:t>
            </a:r>
            <a:endParaRPr lang="en-US" sz="950" dirty="0"/>
          </a:p>
        </p:txBody>
      </p:sp>
      <p:sp>
        <p:nvSpPr>
          <p:cNvPr id="33" name="Text 31"/>
          <p:cNvSpPr/>
          <p:nvPr/>
        </p:nvSpPr>
        <p:spPr>
          <a:xfrm>
            <a:off x="3986784" y="3593592"/>
            <a:ext cx="137160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0,44</a:t>
            </a:r>
            <a:endParaRPr lang="en-US" sz="950" dirty="0"/>
          </a:p>
        </p:txBody>
      </p:sp>
      <p:graphicFrame>
        <p:nvGraphicFramePr>
          <p:cNvPr id="34" name="Chart 0"/>
          <p:cNvGraphicFramePr/>
          <p:nvPr/>
        </p:nvGraphicFramePr>
        <p:xfrm>
          <a:off x="5669280" y="1463040"/>
          <a:ext cx="32004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35" name="Shape 32"/>
          <p:cNvSpPr/>
          <p:nvPr/>
        </p:nvSpPr>
        <p:spPr>
          <a:xfrm>
            <a:off x="274320" y="4160520"/>
            <a:ext cx="8595360" cy="713232"/>
          </a:xfrm>
          <a:prstGeom prst="roundRect">
            <a:avLst>
              <a:gd name="adj" fmla="val 7692"/>
            </a:avLst>
          </a:prstGeom>
          <a:solidFill>
            <a:srgbClr val="FFF3CD"/>
          </a:solidFill>
          <a:ln/>
        </p:spPr>
      </p:sp>
      <p:sp>
        <p:nvSpPr>
          <p:cNvPr id="36" name="Text 33"/>
          <p:cNvSpPr/>
          <p:nvPr/>
        </p:nvSpPr>
        <p:spPr>
          <a:xfrm>
            <a:off x="411480" y="4206240"/>
            <a:ext cx="8321040" cy="621792"/>
          </a:xfrm>
          <a:prstGeom prst="rect">
            <a:avLst/>
          </a:prstGeom>
          <a:noFill/>
          <a:ln/>
        </p:spPr>
        <p:txBody>
          <a:bodyPr wrap="square" rtlCol="0" anchor="ctr"/>
          <a:lstStyle/>
          <a:p>
            <a:pPr marL="0" indent="0">
              <a:buNone/>
            </a:pPr>
            <a:r>
              <a:rPr lang="en-US" sz="950" dirty="0">
                <a:solidFill>
                  <a:srgbClr val="212529"/>
                </a:solidFill>
                <a:latin typeface="Calibri" pitchFamily="34" charset="0"/>
                <a:ea typeface="Calibri" pitchFamily="34" charset="-122"/>
                <a:cs typeface="Calibri" pitchFamily="34" charset="-120"/>
              </a:rPr>
              <a:t>Explicación: En A, los chips de color permiten identificar de un vistazo la solicitud PENDING sin abrir el detalle. En B, la ausencia de chip diferenciado obliga a leer cada tarjeta antes de actuar, generando mayor desorientación (lostness 0,44 vs 0,38) y más abandonos. El diferencial EE confirma la percepción subjetiva: A supera expectativas (+0,71) mientras B queda prácticamente en neutro (−0,07).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5b. Expectativa vs Experiencia — T2 y T5 · Tiempo Global por Tarea</a:t>
            </a:r>
            <a:endParaRPr lang="en-US" sz="1800" dirty="0"/>
          </a:p>
        </p:txBody>
      </p:sp>
      <p:sp>
        <p:nvSpPr>
          <p:cNvPr id="4" name="Text 2"/>
          <p:cNvSpPr/>
          <p:nvPr/>
        </p:nvSpPr>
        <p:spPr>
          <a:xfrm>
            <a:off x="274320" y="777240"/>
            <a:ext cx="4114800" cy="274320"/>
          </a:xfrm>
          <a:prstGeom prst="rect">
            <a:avLst/>
          </a:prstGeom>
          <a:noFill/>
          <a:ln/>
        </p:spPr>
        <p:txBody>
          <a:bodyPr wrap="square" rtlCol="0" anchor="ctr"/>
          <a:lstStyle/>
          <a:p>
            <a:pPr marL="0" indent="0">
              <a:buNone/>
            </a:pPr>
            <a:r>
              <a:rPr lang="en-US" sz="1100" b="1" dirty="0">
                <a:solidFill>
                  <a:srgbClr val="6C63A8"/>
                </a:solidFill>
                <a:latin typeface="Calibri" pitchFamily="34" charset="0"/>
                <a:ea typeface="Calibri" pitchFamily="34" charset="-122"/>
                <a:cs typeface="Calibri" pitchFamily="34" charset="-120"/>
              </a:rPr>
              <a:t>T2 — Aceptar Solicitud</a:t>
            </a:r>
            <a:endParaRPr lang="en-US" sz="1100" dirty="0"/>
          </a:p>
        </p:txBody>
      </p:sp>
      <p:graphicFrame>
        <p:nvGraphicFramePr>
          <p:cNvPr id="5" name="Chart 0"/>
          <p:cNvGraphicFramePr/>
          <p:nvPr/>
        </p:nvGraphicFramePr>
        <p:xfrm>
          <a:off x="274320" y="1051560"/>
          <a:ext cx="411480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754880" y="777240"/>
            <a:ext cx="4114800" cy="274320"/>
          </a:xfrm>
          <a:prstGeom prst="rect">
            <a:avLst/>
          </a:prstGeom>
          <a:noFill/>
          <a:ln/>
        </p:spPr>
        <p:txBody>
          <a:bodyPr wrap="square" rtlCol="0" anchor="ctr"/>
          <a:lstStyle/>
          <a:p>
            <a:pPr marL="0" indent="0">
              <a:buNone/>
            </a:pPr>
            <a:r>
              <a:rPr lang="en-US" sz="1100" b="1" dirty="0">
                <a:solidFill>
                  <a:srgbClr val="F4A261"/>
                </a:solidFill>
                <a:latin typeface="Calibri" pitchFamily="34" charset="0"/>
                <a:ea typeface="Calibri" pitchFamily="34" charset="-122"/>
                <a:cs typeface="Calibri" pitchFamily="34" charset="-120"/>
              </a:rPr>
              <a:t>T5 — Compartir Donación</a:t>
            </a:r>
            <a:endParaRPr lang="en-US" sz="1100" dirty="0"/>
          </a:p>
        </p:txBody>
      </p:sp>
      <p:graphicFrame>
        <p:nvGraphicFramePr>
          <p:cNvPr id="7" name="Chart 1"/>
          <p:cNvGraphicFramePr/>
          <p:nvPr/>
        </p:nvGraphicFramePr>
        <p:xfrm>
          <a:off x="4754880" y="1051560"/>
          <a:ext cx="4114800" cy="2286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2"/>
          <p:cNvGraphicFramePr/>
          <p:nvPr/>
        </p:nvGraphicFramePr>
        <p:xfrm>
          <a:off x="274320" y="3429000"/>
          <a:ext cx="8595360" cy="1554480"/>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6. Rendimiento por Género: T1 — Nueva Solicitud (Prototipo B)</a:t>
            </a:r>
            <a:endParaRPr lang="en-US" sz="1800" dirty="0"/>
          </a:p>
        </p:txBody>
      </p:sp>
      <p:sp>
        <p:nvSpPr>
          <p:cNvPr id="4" name="Shape 2"/>
          <p:cNvSpPr/>
          <p:nvPr/>
        </p:nvSpPr>
        <p:spPr>
          <a:xfrm>
            <a:off x="274320" y="777240"/>
            <a:ext cx="8595360" cy="548640"/>
          </a:xfrm>
          <a:prstGeom prst="roundRect">
            <a:avLst>
              <a:gd name="adj" fmla="val 13333"/>
            </a:avLst>
          </a:prstGeom>
          <a:solidFill>
            <a:srgbClr val="E9F5EE"/>
          </a:solidFill>
          <a:ln/>
        </p:spPr>
      </p:sp>
      <p:sp>
        <p:nvSpPr>
          <p:cNvPr id="5" name="Text 3"/>
          <p:cNvSpPr/>
          <p:nvPr/>
        </p:nvSpPr>
        <p:spPr>
          <a:xfrm>
            <a:off x="457200" y="804672"/>
            <a:ext cx="8229600" cy="475488"/>
          </a:xfrm>
          <a:prstGeom prst="rect">
            <a:avLst/>
          </a:prstGeom>
          <a:noFill/>
          <a:ln/>
        </p:spPr>
        <p:txBody>
          <a:bodyPr wrap="square" rtlCol="0" anchor="ctr"/>
          <a:lstStyle/>
          <a:p>
            <a:pPr marL="0" indent="0">
              <a:buNone/>
            </a:pPr>
            <a:r>
              <a:rPr lang="en-US" sz="950" i="1" dirty="0">
                <a:solidFill>
                  <a:srgbClr val="1B4332"/>
                </a:solidFill>
                <a:latin typeface="Calibri" pitchFamily="34" charset="0"/>
                <a:ea typeface="Calibri" pitchFamily="34" charset="-122"/>
                <a:cs typeface="Calibri" pitchFamily="34" charset="-120"/>
              </a:rPr>
              <a:t>Escenario T1: "Imagina que representas a un banco de alimentos y acabas de ver que hay un lote de frutas frescas disponible cerca de vuestra sede. Localiza esa donación en la plataforma y crea una nueva solicitud para recibirla."</a:t>
            </a:r>
            <a:endParaRPr lang="en-US" sz="950" dirty="0"/>
          </a:p>
        </p:txBody>
      </p:sp>
      <p:sp>
        <p:nvSpPr>
          <p:cNvPr id="6" name="Shape 4"/>
          <p:cNvSpPr/>
          <p:nvPr/>
        </p:nvSpPr>
        <p:spPr>
          <a:xfrm>
            <a:off x="274320" y="1417320"/>
            <a:ext cx="2468880" cy="1280160"/>
          </a:xfrm>
          <a:prstGeom prst="roundRect">
            <a:avLst>
              <a:gd name="adj" fmla="val 7143"/>
            </a:avLst>
          </a:prstGeom>
          <a:solidFill>
            <a:srgbClr val="D62828"/>
          </a:solidFill>
          <a:ln/>
        </p:spPr>
      </p:sp>
      <p:sp>
        <p:nvSpPr>
          <p:cNvPr id="7" name="Text 5"/>
          <p:cNvSpPr/>
          <p:nvPr/>
        </p:nvSpPr>
        <p:spPr>
          <a:xfrm>
            <a:off x="274320" y="1463040"/>
            <a:ext cx="2468880" cy="64008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43 pp</a:t>
            </a:r>
            <a:endParaRPr lang="en-US" sz="3800" dirty="0"/>
          </a:p>
        </p:txBody>
      </p:sp>
      <p:sp>
        <p:nvSpPr>
          <p:cNvPr id="8" name="Text 6"/>
          <p:cNvSpPr/>
          <p:nvPr/>
        </p:nvSpPr>
        <p:spPr>
          <a:xfrm>
            <a:off x="274320" y="2103120"/>
            <a:ext cx="2468880" cy="502920"/>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brecha de éxito</a:t>
            </a:r>
            <a:endParaRPr lang="en-US" sz="1000" dirty="0"/>
          </a:p>
          <a:p>
            <a:pPr marL="0" indent="0" algn="ctr">
              <a:buNone/>
            </a:pPr>
            <a:r>
              <a:rPr lang="en-US" sz="1000" dirty="0">
                <a:solidFill>
                  <a:srgbClr val="FFFFFF"/>
                </a:solidFill>
                <a:latin typeface="Calibri" pitchFamily="34" charset="0"/>
                <a:ea typeface="Calibri" pitchFamily="34" charset="-122"/>
                <a:cs typeface="Calibri" pitchFamily="34" charset="-120"/>
              </a:rPr>
              <a:t>♀ 57%  vs  ♂ 100%</a:t>
            </a:r>
            <a:endParaRPr lang="en-US" sz="1000" dirty="0"/>
          </a:p>
        </p:txBody>
      </p:sp>
      <p:sp>
        <p:nvSpPr>
          <p:cNvPr id="9" name="Shape 7"/>
          <p:cNvSpPr/>
          <p:nvPr/>
        </p:nvSpPr>
        <p:spPr>
          <a:xfrm>
            <a:off x="2926080" y="1417320"/>
            <a:ext cx="5394960" cy="329184"/>
          </a:xfrm>
          <a:prstGeom prst="rect">
            <a:avLst/>
          </a:prstGeom>
          <a:solidFill>
            <a:srgbClr val="1B4332"/>
          </a:solidFill>
          <a:ln/>
        </p:spPr>
      </p:sp>
      <p:sp>
        <p:nvSpPr>
          <p:cNvPr id="10" name="Text 8"/>
          <p:cNvSpPr/>
          <p:nvPr/>
        </p:nvSpPr>
        <p:spPr>
          <a:xfrm>
            <a:off x="2980944" y="1463040"/>
            <a:ext cx="219456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Métrica T1</a:t>
            </a:r>
            <a:endParaRPr lang="en-US" sz="1000" dirty="0"/>
          </a:p>
        </p:txBody>
      </p:sp>
      <p:sp>
        <p:nvSpPr>
          <p:cNvPr id="11" name="Text 9"/>
          <p:cNvSpPr/>
          <p:nvPr/>
        </p:nvSpPr>
        <p:spPr>
          <a:xfrm>
            <a:off x="5266944" y="1463040"/>
            <a:ext cx="146304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Femenino — B</a:t>
            </a:r>
            <a:endParaRPr lang="en-US" sz="1000" dirty="0"/>
          </a:p>
        </p:txBody>
      </p:sp>
      <p:sp>
        <p:nvSpPr>
          <p:cNvPr id="12" name="Text 10"/>
          <p:cNvSpPr/>
          <p:nvPr/>
        </p:nvSpPr>
        <p:spPr>
          <a:xfrm>
            <a:off x="6821424" y="1463040"/>
            <a:ext cx="1463040" cy="24688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Masculino — B</a:t>
            </a:r>
            <a:endParaRPr lang="en-US" sz="1000" dirty="0"/>
          </a:p>
        </p:txBody>
      </p:sp>
      <p:sp>
        <p:nvSpPr>
          <p:cNvPr id="13" name="Shape 11"/>
          <p:cNvSpPr/>
          <p:nvPr/>
        </p:nvSpPr>
        <p:spPr>
          <a:xfrm>
            <a:off x="2926080" y="1764792"/>
            <a:ext cx="5394960" cy="329184"/>
          </a:xfrm>
          <a:prstGeom prst="rect">
            <a:avLst/>
          </a:prstGeom>
          <a:solidFill>
            <a:srgbClr val="FFFFFF"/>
          </a:solidFill>
          <a:ln/>
        </p:spPr>
      </p:sp>
      <p:sp>
        <p:nvSpPr>
          <p:cNvPr id="14" name="Text 12"/>
          <p:cNvSpPr/>
          <p:nvPr/>
        </p:nvSpPr>
        <p:spPr>
          <a:xfrm>
            <a:off x="2980944" y="1810512"/>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Tiempo medio</a:t>
            </a:r>
            <a:endParaRPr lang="en-US" sz="950" dirty="0"/>
          </a:p>
        </p:txBody>
      </p:sp>
      <p:sp>
        <p:nvSpPr>
          <p:cNvPr id="15" name="Text 13"/>
          <p:cNvSpPr/>
          <p:nvPr/>
        </p:nvSpPr>
        <p:spPr>
          <a:xfrm>
            <a:off x="5266944" y="1810512"/>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90,7 s</a:t>
            </a:r>
            <a:endParaRPr lang="en-US" sz="950" dirty="0"/>
          </a:p>
        </p:txBody>
      </p:sp>
      <p:sp>
        <p:nvSpPr>
          <p:cNvPr id="16" name="Text 14"/>
          <p:cNvSpPr/>
          <p:nvPr/>
        </p:nvSpPr>
        <p:spPr>
          <a:xfrm>
            <a:off x="6821424" y="1810512"/>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93,0 s</a:t>
            </a:r>
            <a:endParaRPr lang="en-US" sz="950" dirty="0"/>
          </a:p>
        </p:txBody>
      </p:sp>
      <p:sp>
        <p:nvSpPr>
          <p:cNvPr id="17" name="Shape 15"/>
          <p:cNvSpPr/>
          <p:nvPr/>
        </p:nvSpPr>
        <p:spPr>
          <a:xfrm>
            <a:off x="2926080" y="2112264"/>
            <a:ext cx="5394960" cy="329184"/>
          </a:xfrm>
          <a:prstGeom prst="rect">
            <a:avLst/>
          </a:prstGeom>
          <a:solidFill>
            <a:srgbClr val="E9F5EE"/>
          </a:solidFill>
          <a:ln/>
        </p:spPr>
      </p:sp>
      <p:sp>
        <p:nvSpPr>
          <p:cNvPr id="18" name="Text 16"/>
          <p:cNvSpPr/>
          <p:nvPr/>
        </p:nvSpPr>
        <p:spPr>
          <a:xfrm>
            <a:off x="2980944" y="2157984"/>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mínimo de pasos</a:t>
            </a:r>
            <a:endParaRPr lang="en-US" sz="950" dirty="0"/>
          </a:p>
        </p:txBody>
      </p:sp>
      <p:sp>
        <p:nvSpPr>
          <p:cNvPr id="19" name="Text 17"/>
          <p:cNvSpPr/>
          <p:nvPr/>
        </p:nvSpPr>
        <p:spPr>
          <a:xfrm>
            <a:off x="5266944" y="2157984"/>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20" name="Text 18"/>
          <p:cNvSpPr/>
          <p:nvPr/>
        </p:nvSpPr>
        <p:spPr>
          <a:xfrm>
            <a:off x="6821424" y="2157984"/>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a:t>
            </a:r>
            <a:endParaRPr lang="en-US" sz="950" dirty="0"/>
          </a:p>
        </p:txBody>
      </p:sp>
      <p:sp>
        <p:nvSpPr>
          <p:cNvPr id="21" name="Shape 19"/>
          <p:cNvSpPr/>
          <p:nvPr/>
        </p:nvSpPr>
        <p:spPr>
          <a:xfrm>
            <a:off x="2926080" y="2459736"/>
            <a:ext cx="5394960" cy="329184"/>
          </a:xfrm>
          <a:prstGeom prst="rect">
            <a:avLst/>
          </a:prstGeom>
          <a:solidFill>
            <a:srgbClr val="FFFFFF"/>
          </a:solidFill>
          <a:ln/>
        </p:spPr>
      </p:sp>
      <p:sp>
        <p:nvSpPr>
          <p:cNvPr id="22" name="Text 20"/>
          <p:cNvSpPr/>
          <p:nvPr/>
        </p:nvSpPr>
        <p:spPr>
          <a:xfrm>
            <a:off x="2980944" y="2505456"/>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Nº medio de pasos</a:t>
            </a:r>
            <a:endParaRPr lang="en-US" sz="950" dirty="0"/>
          </a:p>
        </p:txBody>
      </p:sp>
      <p:sp>
        <p:nvSpPr>
          <p:cNvPr id="23" name="Text 21"/>
          <p:cNvSpPr/>
          <p:nvPr/>
        </p:nvSpPr>
        <p:spPr>
          <a:xfrm>
            <a:off x="5266944" y="2505456"/>
            <a:ext cx="146304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5,3  ✗</a:t>
            </a:r>
            <a:endParaRPr lang="en-US" sz="950" dirty="0"/>
          </a:p>
        </p:txBody>
      </p:sp>
      <p:sp>
        <p:nvSpPr>
          <p:cNvPr id="24" name="Text 22"/>
          <p:cNvSpPr/>
          <p:nvPr/>
        </p:nvSpPr>
        <p:spPr>
          <a:xfrm>
            <a:off x="6821424" y="2505456"/>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4,0  ✓</a:t>
            </a:r>
            <a:endParaRPr lang="en-US" sz="950" dirty="0"/>
          </a:p>
        </p:txBody>
      </p:sp>
      <p:sp>
        <p:nvSpPr>
          <p:cNvPr id="25" name="Shape 23"/>
          <p:cNvSpPr/>
          <p:nvPr/>
        </p:nvSpPr>
        <p:spPr>
          <a:xfrm>
            <a:off x="2926080" y="2807208"/>
            <a:ext cx="5394960" cy="329184"/>
          </a:xfrm>
          <a:prstGeom prst="rect">
            <a:avLst/>
          </a:prstGeom>
          <a:solidFill>
            <a:srgbClr val="E9F5EE"/>
          </a:solidFill>
          <a:ln/>
        </p:spPr>
      </p:sp>
      <p:sp>
        <p:nvSpPr>
          <p:cNvPr id="26" name="Text 24"/>
          <p:cNvSpPr/>
          <p:nvPr/>
        </p:nvSpPr>
        <p:spPr>
          <a:xfrm>
            <a:off x="2980944" y="2852928"/>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 Completion</a:t>
            </a:r>
            <a:endParaRPr lang="en-US" sz="950" dirty="0"/>
          </a:p>
        </p:txBody>
      </p:sp>
      <p:sp>
        <p:nvSpPr>
          <p:cNvPr id="27" name="Text 25"/>
          <p:cNvSpPr/>
          <p:nvPr/>
        </p:nvSpPr>
        <p:spPr>
          <a:xfrm>
            <a:off x="5266944" y="2852928"/>
            <a:ext cx="146304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57 %  ✗</a:t>
            </a:r>
            <a:endParaRPr lang="en-US" sz="950" dirty="0"/>
          </a:p>
        </p:txBody>
      </p:sp>
      <p:sp>
        <p:nvSpPr>
          <p:cNvPr id="28" name="Text 26"/>
          <p:cNvSpPr/>
          <p:nvPr/>
        </p:nvSpPr>
        <p:spPr>
          <a:xfrm>
            <a:off x="6821424" y="2852928"/>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100 %  ✓</a:t>
            </a:r>
            <a:endParaRPr lang="en-US" sz="950" dirty="0"/>
          </a:p>
        </p:txBody>
      </p:sp>
      <p:sp>
        <p:nvSpPr>
          <p:cNvPr id="29" name="Shape 27"/>
          <p:cNvSpPr/>
          <p:nvPr/>
        </p:nvSpPr>
        <p:spPr>
          <a:xfrm>
            <a:off x="2926080" y="3154680"/>
            <a:ext cx="5394960" cy="329184"/>
          </a:xfrm>
          <a:prstGeom prst="rect">
            <a:avLst/>
          </a:prstGeom>
          <a:solidFill>
            <a:srgbClr val="FFFFFF"/>
          </a:solidFill>
          <a:ln/>
        </p:spPr>
      </p:sp>
      <p:sp>
        <p:nvSpPr>
          <p:cNvPr id="30" name="Text 28"/>
          <p:cNvSpPr/>
          <p:nvPr/>
        </p:nvSpPr>
        <p:spPr>
          <a:xfrm>
            <a:off x="2980944" y="3200400"/>
            <a:ext cx="2194560" cy="246888"/>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EE T1</a:t>
            </a:r>
            <a:endParaRPr lang="en-US" sz="950" dirty="0"/>
          </a:p>
        </p:txBody>
      </p:sp>
      <p:sp>
        <p:nvSpPr>
          <p:cNvPr id="31" name="Text 29"/>
          <p:cNvSpPr/>
          <p:nvPr/>
        </p:nvSpPr>
        <p:spPr>
          <a:xfrm>
            <a:off x="5266944" y="3200400"/>
            <a:ext cx="1463040" cy="246888"/>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−0,43  ✗</a:t>
            </a:r>
            <a:endParaRPr lang="en-US" sz="950" dirty="0"/>
          </a:p>
        </p:txBody>
      </p:sp>
      <p:sp>
        <p:nvSpPr>
          <p:cNvPr id="32" name="Text 30"/>
          <p:cNvSpPr/>
          <p:nvPr/>
        </p:nvSpPr>
        <p:spPr>
          <a:xfrm>
            <a:off x="6821424" y="3200400"/>
            <a:ext cx="1463040" cy="246888"/>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+0,14  ✓</a:t>
            </a:r>
            <a:endParaRPr lang="en-US" sz="950" dirty="0"/>
          </a:p>
        </p:txBody>
      </p:sp>
      <p:graphicFrame>
        <p:nvGraphicFramePr>
          <p:cNvPr id="33" name="Chart 0"/>
          <p:cNvGraphicFramePr/>
          <p:nvPr/>
        </p:nvGraphicFramePr>
        <p:xfrm>
          <a:off x="2926080" y="3547872"/>
          <a:ext cx="5394960" cy="1417320"/>
        </p:xfrm>
        <a:graphic>
          <a:graphicData uri="http://schemas.openxmlformats.org/drawingml/2006/chart">
            <c:chart xmlns:c="http://schemas.openxmlformats.org/drawingml/2006/chart" xmlns:r="http://schemas.openxmlformats.org/officeDocument/2006/relationships" r:id="rId3"/>
          </a:graphicData>
        </a:graphic>
      </p:graphicFrame>
      <p:sp>
        <p:nvSpPr>
          <p:cNvPr id="34" name="Shape 31"/>
          <p:cNvSpPr/>
          <p:nvPr/>
        </p:nvSpPr>
        <p:spPr>
          <a:xfrm>
            <a:off x="274320" y="2788920"/>
            <a:ext cx="2468880" cy="2194560"/>
          </a:xfrm>
          <a:prstGeom prst="roundRect">
            <a:avLst>
              <a:gd name="adj" fmla="val 3333"/>
            </a:avLst>
          </a:prstGeom>
          <a:solidFill>
            <a:srgbClr val="FFF3CD"/>
          </a:solidFill>
          <a:ln/>
        </p:spPr>
      </p:sp>
      <p:sp>
        <p:nvSpPr>
          <p:cNvPr id="35" name="Text 32"/>
          <p:cNvSpPr/>
          <p:nvPr/>
        </p:nvSpPr>
        <p:spPr>
          <a:xfrm>
            <a:off x="365760" y="2834640"/>
            <a:ext cx="2286000" cy="228600"/>
          </a:xfrm>
          <a:prstGeom prst="rect">
            <a:avLst/>
          </a:prstGeom>
          <a:noFill/>
          <a:ln/>
        </p:spPr>
        <p:txBody>
          <a:bodyPr wrap="square" lIns="0" tIns="0" rIns="0" bIns="0" rtlCol="0" anchor="ctr"/>
          <a:lstStyle/>
          <a:p>
            <a:pPr marL="0" indent="0">
              <a:buNone/>
            </a:pPr>
            <a:r>
              <a:rPr lang="en-US" sz="1000" b="1" dirty="0">
                <a:solidFill>
                  <a:srgbClr val="212529"/>
                </a:solidFill>
                <a:latin typeface="Calibri" pitchFamily="34" charset="0"/>
                <a:ea typeface="Calibri" pitchFamily="34" charset="-122"/>
                <a:cs typeface="Calibri" pitchFamily="34" charset="-120"/>
              </a:rPr>
              <a:t>Causa probable:</a:t>
            </a:r>
            <a:endParaRPr lang="en-US" sz="1000" dirty="0"/>
          </a:p>
        </p:txBody>
      </p:sp>
      <p:sp>
        <p:nvSpPr>
          <p:cNvPr id="36" name="Text 33"/>
          <p:cNvSpPr/>
          <p:nvPr/>
        </p:nvSpPr>
        <p:spPr>
          <a:xfrm>
            <a:off x="365760" y="3081528"/>
            <a:ext cx="2286000" cy="182880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El botón 'Compartir' junto a 'Donaciones Disponibles' en B puede ser interpretado como publicar un excedente propio, no como solicitar (viola H2 y H3).</a:t>
            </a:r>
            <a:endParaRPr lang="en-US" sz="900" dirty="0"/>
          </a:p>
          <a:p>
            <a:pPr marL="0" indent="0">
              <a:buNone/>
            </a:pPr>
            <a:endParaRPr lang="en-US" sz="900" dirty="0"/>
          </a:p>
          <a:p>
            <a:pPr marL="0" indent="0">
              <a:buNone/>
            </a:pPr>
            <a:r>
              <a:rPr lang="en-US" sz="900" dirty="0">
                <a:solidFill>
                  <a:srgbClr val="212529"/>
                </a:solidFill>
                <a:latin typeface="Calibri" pitchFamily="34" charset="0"/>
                <a:ea typeface="Calibri" pitchFamily="34" charset="-122"/>
                <a:cs typeface="Calibri" pitchFamily="34" charset="-120"/>
              </a:rPr>
              <a:t>Las mujeres navegaron más páginas (5,3 vs 4,0) buscando la acción en la sección 'Solicitudes' de la navbar, sugiriendo que esperaban encontrar 'Solicitar' agrupado junto a sus solicitudes existentes.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7. Medidas Globales: UMUX y NPS</a:t>
            </a:r>
            <a:endParaRPr lang="en-US" sz="2200" dirty="0"/>
          </a:p>
        </p:txBody>
      </p:sp>
      <p:graphicFrame>
        <p:nvGraphicFramePr>
          <p:cNvPr id="4" name="Chart 0"/>
          <p:cNvGraphicFramePr/>
          <p:nvPr/>
        </p:nvGraphicFramePr>
        <p:xfrm>
          <a:off x="274320" y="777240"/>
          <a:ext cx="530352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274320" y="3593592"/>
            <a:ext cx="5303520" cy="457200"/>
          </a:xfrm>
          <a:prstGeom prst="roundRect">
            <a:avLst>
              <a:gd name="adj" fmla="val 12000"/>
            </a:avLst>
          </a:prstGeom>
          <a:solidFill>
            <a:srgbClr val="E9F5EE"/>
          </a:solidFill>
          <a:ln/>
        </p:spPr>
      </p:sp>
      <p:sp>
        <p:nvSpPr>
          <p:cNvPr id="6" name="Text 3"/>
          <p:cNvSpPr/>
          <p:nvPr/>
        </p:nvSpPr>
        <p:spPr>
          <a:xfrm>
            <a:off x="411480" y="3630168"/>
            <a:ext cx="5029200" cy="384048"/>
          </a:xfrm>
          <a:prstGeom prst="rect">
            <a:avLst/>
          </a:prstGeom>
          <a:noFill/>
          <a:ln/>
        </p:spPr>
        <p:txBody>
          <a:bodyPr wrap="square" rtlCol="0" anchor="ctr"/>
          <a:lstStyle/>
          <a:p>
            <a:pPr marL="0" indent="0">
              <a:buNone/>
            </a:pPr>
            <a:r>
              <a:rPr lang="en-US" sz="950" dirty="0">
                <a:solidFill>
                  <a:srgbClr val="212529"/>
                </a:solidFill>
                <a:latin typeface="Calibri" pitchFamily="34" charset="0"/>
                <a:ea typeface="Calibri" pitchFamily="34" charset="-122"/>
                <a:cs typeface="Calibri" pitchFamily="34" charset="-120"/>
              </a:rPr>
              <a:t>UMUX global: A = 69,0/100  B = 68,2/100 → Ambos en zona 'Aceptable'. Diferencia clave: UMUX2 facilidad de uso (A: 3,93 vs B: 3,21). Los formularios complejos y las etiquetas ambiguas de B generan mayor percepción de dificultad.</a:t>
            </a:r>
            <a:endParaRPr lang="en-US" sz="950" dirty="0"/>
          </a:p>
        </p:txBody>
      </p:sp>
      <p:sp>
        <p:nvSpPr>
          <p:cNvPr id="7" name="Text 4"/>
          <p:cNvSpPr/>
          <p:nvPr/>
        </p:nvSpPr>
        <p:spPr>
          <a:xfrm>
            <a:off x="5760720" y="777240"/>
            <a:ext cx="3108960" cy="274320"/>
          </a:xfrm>
          <a:prstGeom prst="rect">
            <a:avLst/>
          </a:prstGeom>
          <a:noFill/>
          <a:ln/>
        </p:spPr>
        <p:txBody>
          <a:bodyPr wrap="square" rtlCol="0" anchor="ctr"/>
          <a:lstStyle/>
          <a:p>
            <a:pPr marL="0" indent="0">
              <a:buNone/>
            </a:pPr>
            <a:r>
              <a:rPr lang="en-US" sz="1200" b="1" dirty="0">
                <a:solidFill>
                  <a:srgbClr val="1B4332"/>
                </a:solidFill>
                <a:latin typeface="Calibri" pitchFamily="34" charset="0"/>
                <a:ea typeface="Calibri" pitchFamily="34" charset="-122"/>
                <a:cs typeface="Calibri" pitchFamily="34" charset="-120"/>
              </a:rPr>
              <a:t>NPS — Net Promoter Score</a:t>
            </a:r>
            <a:endParaRPr lang="en-US" sz="1200" dirty="0"/>
          </a:p>
        </p:txBody>
      </p:sp>
      <p:sp>
        <p:nvSpPr>
          <p:cNvPr id="8" name="Shape 5"/>
          <p:cNvSpPr/>
          <p:nvPr/>
        </p:nvSpPr>
        <p:spPr>
          <a:xfrm>
            <a:off x="5760720" y="1197864"/>
            <a:ext cx="91440" cy="310896"/>
          </a:xfrm>
          <a:prstGeom prst="rect">
            <a:avLst/>
          </a:prstGeom>
          <a:solidFill>
            <a:srgbClr val="2D6A4F"/>
          </a:solidFill>
          <a:ln/>
        </p:spPr>
      </p:sp>
      <p:sp>
        <p:nvSpPr>
          <p:cNvPr id="9" name="Text 6"/>
          <p:cNvSpPr/>
          <p:nvPr/>
        </p:nvSpPr>
        <p:spPr>
          <a:xfrm>
            <a:off x="5925312" y="1207008"/>
            <a:ext cx="1737360" cy="256032"/>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Promotores (9–10)</a:t>
            </a:r>
            <a:endParaRPr lang="en-US" sz="950" dirty="0"/>
          </a:p>
        </p:txBody>
      </p:sp>
      <p:sp>
        <p:nvSpPr>
          <p:cNvPr id="10" name="Text 7"/>
          <p:cNvSpPr/>
          <p:nvPr/>
        </p:nvSpPr>
        <p:spPr>
          <a:xfrm>
            <a:off x="7699248" y="1207008"/>
            <a:ext cx="640080" cy="256032"/>
          </a:xfrm>
          <a:prstGeom prst="rect">
            <a:avLst/>
          </a:prstGeom>
          <a:noFill/>
          <a:ln/>
        </p:spPr>
        <p:txBody>
          <a:bodyPr wrap="square" lIns="0" tIns="0" rIns="0" bIns="0" rtlCol="0" anchor="ctr"/>
          <a:lstStyle/>
          <a:p>
            <a:pPr marL="0" indent="0">
              <a:buNone/>
            </a:pPr>
            <a:r>
              <a:rPr lang="en-US" sz="1000" b="1" dirty="0">
                <a:solidFill>
                  <a:srgbClr val="6C63A8"/>
                </a:solidFill>
                <a:latin typeface="Calibri" pitchFamily="34" charset="0"/>
                <a:ea typeface="Calibri" pitchFamily="34" charset="-122"/>
                <a:cs typeface="Calibri" pitchFamily="34" charset="-120"/>
              </a:rPr>
              <a:t>A: 6 (43%)</a:t>
            </a:r>
            <a:endParaRPr lang="en-US" sz="1000" dirty="0"/>
          </a:p>
        </p:txBody>
      </p:sp>
      <p:sp>
        <p:nvSpPr>
          <p:cNvPr id="11" name="Text 8"/>
          <p:cNvSpPr/>
          <p:nvPr/>
        </p:nvSpPr>
        <p:spPr>
          <a:xfrm>
            <a:off x="8366760" y="1207008"/>
            <a:ext cx="640080" cy="25603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B: 8 (57%)</a:t>
            </a:r>
            <a:endParaRPr lang="en-US" sz="1000" dirty="0"/>
          </a:p>
        </p:txBody>
      </p:sp>
      <p:sp>
        <p:nvSpPr>
          <p:cNvPr id="12" name="Shape 9"/>
          <p:cNvSpPr/>
          <p:nvPr/>
        </p:nvSpPr>
        <p:spPr>
          <a:xfrm>
            <a:off x="5760720" y="1636776"/>
            <a:ext cx="91440" cy="310896"/>
          </a:xfrm>
          <a:prstGeom prst="rect">
            <a:avLst/>
          </a:prstGeom>
          <a:solidFill>
            <a:srgbClr val="95D5B2"/>
          </a:solidFill>
          <a:ln/>
        </p:spPr>
      </p:sp>
      <p:sp>
        <p:nvSpPr>
          <p:cNvPr id="13" name="Text 10"/>
          <p:cNvSpPr/>
          <p:nvPr/>
        </p:nvSpPr>
        <p:spPr>
          <a:xfrm>
            <a:off x="5925312" y="1645920"/>
            <a:ext cx="1737360" cy="256032"/>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Pasivos (7–8)</a:t>
            </a:r>
            <a:endParaRPr lang="en-US" sz="950" dirty="0"/>
          </a:p>
        </p:txBody>
      </p:sp>
      <p:sp>
        <p:nvSpPr>
          <p:cNvPr id="14" name="Text 11"/>
          <p:cNvSpPr/>
          <p:nvPr/>
        </p:nvSpPr>
        <p:spPr>
          <a:xfrm>
            <a:off x="7699248" y="1645920"/>
            <a:ext cx="640080" cy="256032"/>
          </a:xfrm>
          <a:prstGeom prst="rect">
            <a:avLst/>
          </a:prstGeom>
          <a:noFill/>
          <a:ln/>
        </p:spPr>
        <p:txBody>
          <a:bodyPr wrap="square" lIns="0" tIns="0" rIns="0" bIns="0" rtlCol="0" anchor="ctr"/>
          <a:lstStyle/>
          <a:p>
            <a:pPr marL="0" indent="0">
              <a:buNone/>
            </a:pPr>
            <a:r>
              <a:rPr lang="en-US" sz="1000" b="1" dirty="0">
                <a:solidFill>
                  <a:srgbClr val="6C63A8"/>
                </a:solidFill>
                <a:latin typeface="Calibri" pitchFamily="34" charset="0"/>
                <a:ea typeface="Calibri" pitchFamily="34" charset="-122"/>
                <a:cs typeface="Calibri" pitchFamily="34" charset="-120"/>
              </a:rPr>
              <a:t>A: 2 (14%)</a:t>
            </a:r>
            <a:endParaRPr lang="en-US" sz="1000" dirty="0"/>
          </a:p>
        </p:txBody>
      </p:sp>
      <p:sp>
        <p:nvSpPr>
          <p:cNvPr id="15" name="Text 12"/>
          <p:cNvSpPr/>
          <p:nvPr/>
        </p:nvSpPr>
        <p:spPr>
          <a:xfrm>
            <a:off x="8366760" y="1645920"/>
            <a:ext cx="640080" cy="25603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B: 3 (21%)</a:t>
            </a:r>
            <a:endParaRPr lang="en-US" sz="1000" dirty="0"/>
          </a:p>
        </p:txBody>
      </p:sp>
      <p:sp>
        <p:nvSpPr>
          <p:cNvPr id="16" name="Shape 13"/>
          <p:cNvSpPr/>
          <p:nvPr/>
        </p:nvSpPr>
        <p:spPr>
          <a:xfrm>
            <a:off x="5760720" y="2075688"/>
            <a:ext cx="91440" cy="310896"/>
          </a:xfrm>
          <a:prstGeom prst="rect">
            <a:avLst/>
          </a:prstGeom>
          <a:solidFill>
            <a:srgbClr val="D62828"/>
          </a:solidFill>
          <a:ln/>
        </p:spPr>
      </p:sp>
      <p:sp>
        <p:nvSpPr>
          <p:cNvPr id="17" name="Text 14"/>
          <p:cNvSpPr/>
          <p:nvPr/>
        </p:nvSpPr>
        <p:spPr>
          <a:xfrm>
            <a:off x="5925312" y="2084832"/>
            <a:ext cx="1737360" cy="256032"/>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Detractores (0–6)</a:t>
            </a:r>
            <a:endParaRPr lang="en-US" sz="950" dirty="0"/>
          </a:p>
        </p:txBody>
      </p:sp>
      <p:sp>
        <p:nvSpPr>
          <p:cNvPr id="18" name="Text 15"/>
          <p:cNvSpPr/>
          <p:nvPr/>
        </p:nvSpPr>
        <p:spPr>
          <a:xfrm>
            <a:off x="7699248" y="2084832"/>
            <a:ext cx="640080" cy="256032"/>
          </a:xfrm>
          <a:prstGeom prst="rect">
            <a:avLst/>
          </a:prstGeom>
          <a:noFill/>
          <a:ln/>
        </p:spPr>
        <p:txBody>
          <a:bodyPr wrap="square" lIns="0" tIns="0" rIns="0" bIns="0" rtlCol="0" anchor="ctr"/>
          <a:lstStyle/>
          <a:p>
            <a:pPr marL="0" indent="0">
              <a:buNone/>
            </a:pPr>
            <a:r>
              <a:rPr lang="en-US" sz="1000" b="1" dirty="0">
                <a:solidFill>
                  <a:srgbClr val="6C63A8"/>
                </a:solidFill>
                <a:latin typeface="Calibri" pitchFamily="34" charset="0"/>
                <a:ea typeface="Calibri" pitchFamily="34" charset="-122"/>
                <a:cs typeface="Calibri" pitchFamily="34" charset="-120"/>
              </a:rPr>
              <a:t>A: 6 (43%)</a:t>
            </a:r>
            <a:endParaRPr lang="en-US" sz="1000" dirty="0"/>
          </a:p>
        </p:txBody>
      </p:sp>
      <p:sp>
        <p:nvSpPr>
          <p:cNvPr id="19" name="Text 16"/>
          <p:cNvSpPr/>
          <p:nvPr/>
        </p:nvSpPr>
        <p:spPr>
          <a:xfrm>
            <a:off x="8366760" y="2084832"/>
            <a:ext cx="640080" cy="256032"/>
          </a:xfrm>
          <a:prstGeom prst="rect">
            <a:avLst/>
          </a:prstGeom>
          <a:noFill/>
          <a:ln/>
        </p:spPr>
        <p:txBody>
          <a:bodyPr wrap="square" lIns="0" tIns="0" rIns="0" bIns="0" rtlCol="0" anchor="ctr"/>
          <a:lstStyle/>
          <a:p>
            <a:pPr marL="0" indent="0">
              <a:buNone/>
            </a:pPr>
            <a:r>
              <a:rPr lang="en-US" sz="1000" b="1" dirty="0">
                <a:solidFill>
                  <a:srgbClr val="F4A261"/>
                </a:solidFill>
                <a:latin typeface="Calibri" pitchFamily="34" charset="0"/>
                <a:ea typeface="Calibri" pitchFamily="34" charset="-122"/>
                <a:cs typeface="Calibri" pitchFamily="34" charset="-120"/>
              </a:rPr>
              <a:t>B: 3 (21%)</a:t>
            </a:r>
            <a:endParaRPr lang="en-US" sz="1000" dirty="0"/>
          </a:p>
        </p:txBody>
      </p:sp>
      <p:sp>
        <p:nvSpPr>
          <p:cNvPr id="20" name="Shape 17"/>
          <p:cNvSpPr/>
          <p:nvPr/>
        </p:nvSpPr>
        <p:spPr>
          <a:xfrm>
            <a:off x="5760720" y="2514600"/>
            <a:ext cx="1463040" cy="1280160"/>
          </a:xfrm>
          <a:prstGeom prst="roundRect">
            <a:avLst>
              <a:gd name="adj" fmla="val 7143"/>
            </a:avLst>
          </a:prstGeom>
          <a:solidFill>
            <a:srgbClr val="6C63A8"/>
          </a:solidFill>
          <a:ln/>
        </p:spPr>
      </p:sp>
      <p:sp>
        <p:nvSpPr>
          <p:cNvPr id="21" name="Text 18"/>
          <p:cNvSpPr/>
          <p:nvPr/>
        </p:nvSpPr>
        <p:spPr>
          <a:xfrm>
            <a:off x="5760720" y="2514600"/>
            <a:ext cx="1463040" cy="12801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NPS A</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0</a:t>
            </a:r>
            <a:endParaRPr lang="en-US" sz="2600" dirty="0"/>
          </a:p>
        </p:txBody>
      </p:sp>
      <p:sp>
        <p:nvSpPr>
          <p:cNvPr id="22" name="Shape 19"/>
          <p:cNvSpPr/>
          <p:nvPr/>
        </p:nvSpPr>
        <p:spPr>
          <a:xfrm>
            <a:off x="7406640" y="2514600"/>
            <a:ext cx="1463040" cy="1280160"/>
          </a:xfrm>
          <a:prstGeom prst="roundRect">
            <a:avLst>
              <a:gd name="adj" fmla="val 7143"/>
            </a:avLst>
          </a:prstGeom>
          <a:solidFill>
            <a:srgbClr val="F4A261"/>
          </a:solidFill>
          <a:ln/>
        </p:spPr>
      </p:sp>
      <p:sp>
        <p:nvSpPr>
          <p:cNvPr id="23" name="Text 20"/>
          <p:cNvSpPr/>
          <p:nvPr/>
        </p:nvSpPr>
        <p:spPr>
          <a:xfrm>
            <a:off x="7406640" y="2514600"/>
            <a:ext cx="1463040" cy="1280160"/>
          </a:xfrm>
          <a:prstGeom prst="rect">
            <a:avLst/>
          </a:prstGeom>
          <a:noFill/>
          <a:ln/>
        </p:spPr>
        <p:txBody>
          <a:bodyPr wrap="square"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NPS B</a:t>
            </a:r>
            <a:endParaRPr lang="en-US" sz="2600" dirty="0"/>
          </a:p>
          <a:p>
            <a:pPr marL="0" indent="0" algn="ctr">
              <a:buNone/>
            </a:pPr>
            <a:r>
              <a:rPr lang="en-US" sz="2600" b="1" dirty="0">
                <a:solidFill>
                  <a:srgbClr val="FFFFFF"/>
                </a:solidFill>
                <a:latin typeface="Calibri" pitchFamily="34" charset="0"/>
                <a:ea typeface="Calibri" pitchFamily="34" charset="-122"/>
                <a:cs typeface="Calibri" pitchFamily="34" charset="-120"/>
              </a:rPr>
              <a:t>+43</a:t>
            </a:r>
            <a:endParaRPr lang="en-US" sz="2600" dirty="0"/>
          </a:p>
        </p:txBody>
      </p:sp>
      <p:sp>
        <p:nvSpPr>
          <p:cNvPr id="24" name="Shape 21"/>
          <p:cNvSpPr/>
          <p:nvPr/>
        </p:nvSpPr>
        <p:spPr>
          <a:xfrm>
            <a:off x="5760720" y="3886200"/>
            <a:ext cx="3108960" cy="1097280"/>
          </a:xfrm>
          <a:prstGeom prst="roundRect">
            <a:avLst>
              <a:gd name="adj" fmla="val 5000"/>
            </a:avLst>
          </a:prstGeom>
          <a:solidFill>
            <a:srgbClr val="FFF3CD"/>
          </a:solidFill>
          <a:ln/>
        </p:spPr>
      </p:sp>
      <p:sp>
        <p:nvSpPr>
          <p:cNvPr id="25" name="Text 22"/>
          <p:cNvSpPr/>
          <p:nvPr/>
        </p:nvSpPr>
        <p:spPr>
          <a:xfrm>
            <a:off x="5852160" y="3931920"/>
            <a:ext cx="2926080" cy="228600"/>
          </a:xfrm>
          <a:prstGeom prst="rect">
            <a:avLst/>
          </a:prstGeom>
          <a:noFill/>
          <a:ln/>
        </p:spPr>
        <p:txBody>
          <a:bodyPr wrap="square" lIns="0" tIns="0" rIns="0" bIns="0" rtlCol="0" anchor="ctr"/>
          <a:lstStyle/>
          <a:p>
            <a:pPr marL="0" indent="0">
              <a:buNone/>
            </a:pPr>
            <a:r>
              <a:rPr lang="en-US" sz="1000" b="1" dirty="0">
                <a:solidFill>
                  <a:srgbClr val="212529"/>
                </a:solidFill>
                <a:latin typeface="Calibri" pitchFamily="34" charset="0"/>
                <a:ea typeface="Calibri" pitchFamily="34" charset="-122"/>
                <a:cs typeface="Calibri" pitchFamily="34" charset="-120"/>
              </a:rPr>
              <a:t>¿Por qué NPS tan diferente con UMUX casi igual?</a:t>
            </a:r>
            <a:endParaRPr lang="en-US" sz="1000" dirty="0"/>
          </a:p>
        </p:txBody>
      </p:sp>
      <p:sp>
        <p:nvSpPr>
          <p:cNvPr id="26" name="Text 23"/>
          <p:cNvSpPr/>
          <p:nvPr/>
        </p:nvSpPr>
        <p:spPr>
          <a:xfrm>
            <a:off x="5852160" y="4178808"/>
            <a:ext cx="2926080" cy="758952"/>
          </a:xfrm>
          <a:prstGeom prst="rect">
            <a:avLst/>
          </a:prstGeom>
          <a:noFill/>
          <a:ln/>
        </p:spPr>
        <p:txBody>
          <a:bodyPr wrap="square" lIns="0" tIns="0" rIns="0" bIns="0" rtlCol="0" anchor="ctr"/>
          <a:lstStyle/>
          <a:p>
            <a:pPr marL="0" indent="0">
              <a:buNone/>
            </a:pPr>
            <a:r>
              <a:rPr lang="en-US" sz="880" dirty="0">
                <a:solidFill>
                  <a:srgbClr val="212529"/>
                </a:solidFill>
                <a:latin typeface="Calibri" pitchFamily="34" charset="0"/>
                <a:ea typeface="Calibri" pitchFamily="34" charset="-122"/>
                <a:cs typeface="Calibri" pitchFamily="34" charset="-120"/>
              </a:rPr>
              <a:t>La paleta cálida de B, las estadísticas de impacto social visibles y el lenguaje empático ('Rescatar comida. Nutrir comunidades.') generan mayor vínculo emocional e intención de recomendar. En plataformas de impacto social, la experiencia emocional importa tanto como la eficiencia operativa.</a:t>
            </a:r>
            <a:endParaRPr lang="en-US" sz="88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8. Tabla Resumen del Análisis Comparativo</a:t>
            </a:r>
            <a:endParaRPr lang="en-US" sz="2000" dirty="0"/>
          </a:p>
        </p:txBody>
      </p:sp>
      <p:sp>
        <p:nvSpPr>
          <p:cNvPr id="4" name="Shape 2"/>
          <p:cNvSpPr/>
          <p:nvPr/>
        </p:nvSpPr>
        <p:spPr>
          <a:xfrm>
            <a:off x="274320" y="777240"/>
            <a:ext cx="8595360" cy="365760"/>
          </a:xfrm>
          <a:prstGeom prst="rect">
            <a:avLst/>
          </a:prstGeom>
          <a:solidFill>
            <a:srgbClr val="1B4332"/>
          </a:solidFill>
          <a:ln/>
        </p:spPr>
      </p:sp>
      <p:sp>
        <p:nvSpPr>
          <p:cNvPr id="5" name="Text 3"/>
          <p:cNvSpPr/>
          <p:nvPr/>
        </p:nvSpPr>
        <p:spPr>
          <a:xfrm>
            <a:off x="329184" y="832104"/>
            <a:ext cx="292608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Indicador</a:t>
            </a:r>
            <a:endParaRPr lang="en-US" sz="1000" dirty="0"/>
          </a:p>
        </p:txBody>
      </p:sp>
      <p:sp>
        <p:nvSpPr>
          <p:cNvPr id="6" name="Text 4"/>
          <p:cNvSpPr/>
          <p:nvPr/>
        </p:nvSpPr>
        <p:spPr>
          <a:xfrm>
            <a:off x="3346704" y="832104"/>
            <a:ext cx="182880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A</a:t>
            </a:r>
            <a:endParaRPr lang="en-US" sz="1000" dirty="0"/>
          </a:p>
        </p:txBody>
      </p:sp>
      <p:sp>
        <p:nvSpPr>
          <p:cNvPr id="7" name="Text 5"/>
          <p:cNvSpPr/>
          <p:nvPr/>
        </p:nvSpPr>
        <p:spPr>
          <a:xfrm>
            <a:off x="5266944" y="832104"/>
            <a:ext cx="219456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Prototipo B</a:t>
            </a:r>
            <a:endParaRPr lang="en-US" sz="1000" dirty="0"/>
          </a:p>
        </p:txBody>
      </p:sp>
      <p:sp>
        <p:nvSpPr>
          <p:cNvPr id="8" name="Text 6"/>
          <p:cNvSpPr/>
          <p:nvPr/>
        </p:nvSpPr>
        <p:spPr>
          <a:xfrm>
            <a:off x="7552944" y="832104"/>
            <a:ext cx="1280160" cy="265176"/>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Mejor</a:t>
            </a:r>
            <a:endParaRPr lang="en-US" sz="1000" dirty="0"/>
          </a:p>
        </p:txBody>
      </p:sp>
      <p:sp>
        <p:nvSpPr>
          <p:cNvPr id="9" name="Shape 7"/>
          <p:cNvSpPr/>
          <p:nvPr/>
        </p:nvSpPr>
        <p:spPr>
          <a:xfrm>
            <a:off x="274320" y="1152144"/>
            <a:ext cx="8595360" cy="365760"/>
          </a:xfrm>
          <a:prstGeom prst="rect">
            <a:avLst/>
          </a:prstGeom>
          <a:solidFill>
            <a:srgbClr val="FFFFFF"/>
          </a:solidFill>
          <a:ln/>
        </p:spPr>
      </p:sp>
      <p:sp>
        <p:nvSpPr>
          <p:cNvPr id="10" name="Text 8"/>
          <p:cNvSpPr/>
          <p:nvPr/>
        </p:nvSpPr>
        <p:spPr>
          <a:xfrm>
            <a:off x="329184" y="1207008"/>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Tiempo medio global</a:t>
            </a:r>
            <a:endParaRPr lang="en-US" sz="950" dirty="0"/>
          </a:p>
        </p:txBody>
      </p:sp>
      <p:sp>
        <p:nvSpPr>
          <p:cNvPr id="11" name="Text 9"/>
          <p:cNvSpPr/>
          <p:nvPr/>
        </p:nvSpPr>
        <p:spPr>
          <a:xfrm>
            <a:off x="3346704" y="1207008"/>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74,4 s</a:t>
            </a:r>
            <a:endParaRPr lang="en-US" sz="950" dirty="0"/>
          </a:p>
        </p:txBody>
      </p:sp>
      <p:sp>
        <p:nvSpPr>
          <p:cNvPr id="12" name="Text 10"/>
          <p:cNvSpPr/>
          <p:nvPr/>
        </p:nvSpPr>
        <p:spPr>
          <a:xfrm>
            <a:off x="5266944" y="1207008"/>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83,5 s</a:t>
            </a:r>
            <a:endParaRPr lang="en-US" sz="950" dirty="0"/>
          </a:p>
        </p:txBody>
      </p:sp>
      <p:sp>
        <p:nvSpPr>
          <p:cNvPr id="13" name="Text 11"/>
          <p:cNvSpPr/>
          <p:nvPr/>
        </p:nvSpPr>
        <p:spPr>
          <a:xfrm>
            <a:off x="7552944" y="1207008"/>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14" name="Shape 12"/>
          <p:cNvSpPr/>
          <p:nvPr/>
        </p:nvSpPr>
        <p:spPr>
          <a:xfrm>
            <a:off x="274320" y="1527048"/>
            <a:ext cx="8595360" cy="365760"/>
          </a:xfrm>
          <a:prstGeom prst="rect">
            <a:avLst/>
          </a:prstGeom>
          <a:solidFill>
            <a:srgbClr val="E9F5EE"/>
          </a:solidFill>
          <a:ln/>
        </p:spPr>
      </p:sp>
      <p:sp>
        <p:nvSpPr>
          <p:cNvPr id="15" name="Text 13"/>
          <p:cNvSpPr/>
          <p:nvPr/>
        </p:nvSpPr>
        <p:spPr>
          <a:xfrm>
            <a:off x="329184" y="1581912"/>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 Éxito medio global</a:t>
            </a:r>
            <a:endParaRPr lang="en-US" sz="950" dirty="0"/>
          </a:p>
        </p:txBody>
      </p:sp>
      <p:sp>
        <p:nvSpPr>
          <p:cNvPr id="16" name="Text 14"/>
          <p:cNvSpPr/>
          <p:nvPr/>
        </p:nvSpPr>
        <p:spPr>
          <a:xfrm>
            <a:off x="3346704" y="1581912"/>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81,4 %</a:t>
            </a:r>
            <a:endParaRPr lang="en-US" sz="950" dirty="0"/>
          </a:p>
        </p:txBody>
      </p:sp>
      <p:sp>
        <p:nvSpPr>
          <p:cNvPr id="17" name="Text 15"/>
          <p:cNvSpPr/>
          <p:nvPr/>
        </p:nvSpPr>
        <p:spPr>
          <a:xfrm>
            <a:off x="5266944" y="1581912"/>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78,6 %</a:t>
            </a:r>
            <a:endParaRPr lang="en-US" sz="950" dirty="0"/>
          </a:p>
        </p:txBody>
      </p:sp>
      <p:sp>
        <p:nvSpPr>
          <p:cNvPr id="18" name="Text 16"/>
          <p:cNvSpPr/>
          <p:nvPr/>
        </p:nvSpPr>
        <p:spPr>
          <a:xfrm>
            <a:off x="7552944" y="1581912"/>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19" name="Shape 17"/>
          <p:cNvSpPr/>
          <p:nvPr/>
        </p:nvSpPr>
        <p:spPr>
          <a:xfrm>
            <a:off x="274320" y="1901952"/>
            <a:ext cx="8595360" cy="365760"/>
          </a:xfrm>
          <a:prstGeom prst="rect">
            <a:avLst/>
          </a:prstGeom>
          <a:solidFill>
            <a:srgbClr val="FFFFFF"/>
          </a:solidFill>
          <a:ln/>
        </p:spPr>
      </p:sp>
      <p:sp>
        <p:nvSpPr>
          <p:cNvPr id="20" name="Text 18"/>
          <p:cNvSpPr/>
          <p:nvPr/>
        </p:nvSpPr>
        <p:spPr>
          <a:xfrm>
            <a:off x="329184" y="1956816"/>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Lostness medio global</a:t>
            </a:r>
            <a:endParaRPr lang="en-US" sz="950" dirty="0"/>
          </a:p>
        </p:txBody>
      </p:sp>
      <p:sp>
        <p:nvSpPr>
          <p:cNvPr id="21" name="Text 19"/>
          <p:cNvSpPr/>
          <p:nvPr/>
        </p:nvSpPr>
        <p:spPr>
          <a:xfrm>
            <a:off x="3346704" y="1956816"/>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0,572</a:t>
            </a:r>
            <a:endParaRPr lang="en-US" sz="950" dirty="0"/>
          </a:p>
        </p:txBody>
      </p:sp>
      <p:sp>
        <p:nvSpPr>
          <p:cNvPr id="22" name="Text 20"/>
          <p:cNvSpPr/>
          <p:nvPr/>
        </p:nvSpPr>
        <p:spPr>
          <a:xfrm>
            <a:off x="5266944" y="1956816"/>
            <a:ext cx="21945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0,468</a:t>
            </a:r>
            <a:endParaRPr lang="en-US" sz="950" dirty="0"/>
          </a:p>
        </p:txBody>
      </p:sp>
      <p:sp>
        <p:nvSpPr>
          <p:cNvPr id="23" name="Text 21"/>
          <p:cNvSpPr/>
          <p:nvPr/>
        </p:nvSpPr>
        <p:spPr>
          <a:xfrm>
            <a:off x="7552944" y="1956816"/>
            <a:ext cx="1280160" cy="265176"/>
          </a:xfrm>
          <a:prstGeom prst="rect">
            <a:avLst/>
          </a:prstGeom>
          <a:noFill/>
          <a:ln/>
        </p:spPr>
        <p:txBody>
          <a:bodyPr wrap="square" lIns="0" tIns="0" rIns="0" bIns="0" rtlCol="0" anchor="ctr"/>
          <a:lstStyle/>
          <a:p>
            <a:pPr marL="0" indent="0">
              <a:buNone/>
            </a:pPr>
            <a:r>
              <a:rPr lang="en-US" sz="950" dirty="0">
                <a:solidFill>
                  <a:srgbClr val="F4A261"/>
                </a:solidFill>
                <a:latin typeface="Calibri" pitchFamily="34" charset="0"/>
                <a:ea typeface="Calibri" pitchFamily="34" charset="-122"/>
                <a:cs typeface="Calibri" pitchFamily="34" charset="-120"/>
              </a:rPr>
              <a:t>■ B</a:t>
            </a:r>
            <a:endParaRPr lang="en-US" sz="950" dirty="0"/>
          </a:p>
        </p:txBody>
      </p:sp>
      <p:sp>
        <p:nvSpPr>
          <p:cNvPr id="24" name="Shape 22"/>
          <p:cNvSpPr/>
          <p:nvPr/>
        </p:nvSpPr>
        <p:spPr>
          <a:xfrm>
            <a:off x="274320" y="2276856"/>
            <a:ext cx="8595360" cy="365760"/>
          </a:xfrm>
          <a:prstGeom prst="rect">
            <a:avLst/>
          </a:prstGeom>
          <a:solidFill>
            <a:srgbClr val="E9F5EE"/>
          </a:solidFill>
          <a:ln/>
        </p:spPr>
      </p:sp>
      <p:sp>
        <p:nvSpPr>
          <p:cNvPr id="25" name="Text 23"/>
          <p:cNvSpPr/>
          <p:nvPr/>
        </p:nvSpPr>
        <p:spPr>
          <a:xfrm>
            <a:off x="329184" y="2331720"/>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EE total medio</a:t>
            </a:r>
            <a:endParaRPr lang="en-US" sz="950" dirty="0"/>
          </a:p>
        </p:txBody>
      </p:sp>
      <p:sp>
        <p:nvSpPr>
          <p:cNvPr id="26" name="Text 24"/>
          <p:cNvSpPr/>
          <p:nvPr/>
        </p:nvSpPr>
        <p:spPr>
          <a:xfrm>
            <a:off x="3346704" y="2331720"/>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+0,27</a:t>
            </a:r>
            <a:endParaRPr lang="en-US" sz="950" dirty="0"/>
          </a:p>
        </p:txBody>
      </p:sp>
      <p:sp>
        <p:nvSpPr>
          <p:cNvPr id="27" name="Text 25"/>
          <p:cNvSpPr/>
          <p:nvPr/>
        </p:nvSpPr>
        <p:spPr>
          <a:xfrm>
            <a:off x="5266944" y="2331720"/>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−0,40</a:t>
            </a:r>
            <a:endParaRPr lang="en-US" sz="950" dirty="0"/>
          </a:p>
        </p:txBody>
      </p:sp>
      <p:sp>
        <p:nvSpPr>
          <p:cNvPr id="28" name="Text 26"/>
          <p:cNvSpPr/>
          <p:nvPr/>
        </p:nvSpPr>
        <p:spPr>
          <a:xfrm>
            <a:off x="7552944" y="2331720"/>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29" name="Shape 27"/>
          <p:cNvSpPr/>
          <p:nvPr/>
        </p:nvSpPr>
        <p:spPr>
          <a:xfrm>
            <a:off x="274320" y="2651760"/>
            <a:ext cx="8595360" cy="365760"/>
          </a:xfrm>
          <a:prstGeom prst="rect">
            <a:avLst/>
          </a:prstGeom>
          <a:solidFill>
            <a:srgbClr val="FFFFFF"/>
          </a:solidFill>
          <a:ln/>
        </p:spPr>
      </p:sp>
      <p:sp>
        <p:nvSpPr>
          <p:cNvPr id="30" name="Text 28"/>
          <p:cNvSpPr/>
          <p:nvPr/>
        </p:nvSpPr>
        <p:spPr>
          <a:xfrm>
            <a:off x="329184" y="2706624"/>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UMUX global (0–100)</a:t>
            </a:r>
            <a:endParaRPr lang="en-US" sz="950" dirty="0"/>
          </a:p>
        </p:txBody>
      </p:sp>
      <p:sp>
        <p:nvSpPr>
          <p:cNvPr id="31" name="Text 29"/>
          <p:cNvSpPr/>
          <p:nvPr/>
        </p:nvSpPr>
        <p:spPr>
          <a:xfrm>
            <a:off x="3346704" y="2706624"/>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69,0</a:t>
            </a:r>
            <a:endParaRPr lang="en-US" sz="950" dirty="0"/>
          </a:p>
        </p:txBody>
      </p:sp>
      <p:sp>
        <p:nvSpPr>
          <p:cNvPr id="32" name="Text 30"/>
          <p:cNvSpPr/>
          <p:nvPr/>
        </p:nvSpPr>
        <p:spPr>
          <a:xfrm>
            <a:off x="5266944" y="2706624"/>
            <a:ext cx="21945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68,2</a:t>
            </a:r>
            <a:endParaRPr lang="en-US" sz="950" dirty="0"/>
          </a:p>
        </p:txBody>
      </p:sp>
      <p:sp>
        <p:nvSpPr>
          <p:cNvPr id="33" name="Text 31"/>
          <p:cNvSpPr/>
          <p:nvPr/>
        </p:nvSpPr>
        <p:spPr>
          <a:xfrm>
            <a:off x="7552944" y="2706624"/>
            <a:ext cx="12801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 Empate</a:t>
            </a:r>
            <a:endParaRPr lang="en-US" sz="950" dirty="0"/>
          </a:p>
        </p:txBody>
      </p:sp>
      <p:sp>
        <p:nvSpPr>
          <p:cNvPr id="34" name="Shape 32"/>
          <p:cNvSpPr/>
          <p:nvPr/>
        </p:nvSpPr>
        <p:spPr>
          <a:xfrm>
            <a:off x="274320" y="3026664"/>
            <a:ext cx="8595360" cy="365760"/>
          </a:xfrm>
          <a:prstGeom prst="rect">
            <a:avLst/>
          </a:prstGeom>
          <a:solidFill>
            <a:srgbClr val="E9F5EE"/>
          </a:solidFill>
          <a:ln/>
        </p:spPr>
      </p:sp>
      <p:sp>
        <p:nvSpPr>
          <p:cNvPr id="35" name="Text 33"/>
          <p:cNvSpPr/>
          <p:nvPr/>
        </p:nvSpPr>
        <p:spPr>
          <a:xfrm>
            <a:off x="329184" y="3081528"/>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Facilidad de uso — UMUX2</a:t>
            </a:r>
            <a:endParaRPr lang="en-US" sz="950" dirty="0"/>
          </a:p>
        </p:txBody>
      </p:sp>
      <p:sp>
        <p:nvSpPr>
          <p:cNvPr id="36" name="Text 34"/>
          <p:cNvSpPr/>
          <p:nvPr/>
        </p:nvSpPr>
        <p:spPr>
          <a:xfrm>
            <a:off x="3346704" y="3081528"/>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3,93</a:t>
            </a:r>
            <a:endParaRPr lang="en-US" sz="950" dirty="0"/>
          </a:p>
        </p:txBody>
      </p:sp>
      <p:sp>
        <p:nvSpPr>
          <p:cNvPr id="37" name="Text 35"/>
          <p:cNvSpPr/>
          <p:nvPr/>
        </p:nvSpPr>
        <p:spPr>
          <a:xfrm>
            <a:off x="5266944" y="3081528"/>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3,21</a:t>
            </a:r>
            <a:endParaRPr lang="en-US" sz="950" dirty="0"/>
          </a:p>
        </p:txBody>
      </p:sp>
      <p:sp>
        <p:nvSpPr>
          <p:cNvPr id="38" name="Text 36"/>
          <p:cNvSpPr/>
          <p:nvPr/>
        </p:nvSpPr>
        <p:spPr>
          <a:xfrm>
            <a:off x="7552944" y="3081528"/>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39" name="Shape 37"/>
          <p:cNvSpPr/>
          <p:nvPr/>
        </p:nvSpPr>
        <p:spPr>
          <a:xfrm>
            <a:off x="274320" y="3401568"/>
            <a:ext cx="8595360" cy="365760"/>
          </a:xfrm>
          <a:prstGeom prst="rect">
            <a:avLst/>
          </a:prstGeom>
          <a:solidFill>
            <a:srgbClr val="FFFFFF"/>
          </a:solidFill>
          <a:ln/>
        </p:spPr>
      </p:sp>
      <p:sp>
        <p:nvSpPr>
          <p:cNvPr id="40" name="Text 38"/>
          <p:cNvSpPr/>
          <p:nvPr/>
        </p:nvSpPr>
        <p:spPr>
          <a:xfrm>
            <a:off x="329184" y="3456432"/>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NPS</a:t>
            </a:r>
            <a:endParaRPr lang="en-US" sz="950" dirty="0"/>
          </a:p>
        </p:txBody>
      </p:sp>
      <p:sp>
        <p:nvSpPr>
          <p:cNvPr id="41" name="Text 39"/>
          <p:cNvSpPr/>
          <p:nvPr/>
        </p:nvSpPr>
        <p:spPr>
          <a:xfrm>
            <a:off x="3346704" y="3456432"/>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0</a:t>
            </a:r>
            <a:endParaRPr lang="en-US" sz="950" dirty="0"/>
          </a:p>
        </p:txBody>
      </p:sp>
      <p:sp>
        <p:nvSpPr>
          <p:cNvPr id="42" name="Text 40"/>
          <p:cNvSpPr/>
          <p:nvPr/>
        </p:nvSpPr>
        <p:spPr>
          <a:xfrm>
            <a:off x="5266944" y="3456432"/>
            <a:ext cx="219456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+43</a:t>
            </a:r>
            <a:endParaRPr lang="en-US" sz="950" dirty="0"/>
          </a:p>
        </p:txBody>
      </p:sp>
      <p:sp>
        <p:nvSpPr>
          <p:cNvPr id="43" name="Text 41"/>
          <p:cNvSpPr/>
          <p:nvPr/>
        </p:nvSpPr>
        <p:spPr>
          <a:xfrm>
            <a:off x="7552944" y="3456432"/>
            <a:ext cx="1280160" cy="265176"/>
          </a:xfrm>
          <a:prstGeom prst="rect">
            <a:avLst/>
          </a:prstGeom>
          <a:noFill/>
          <a:ln/>
        </p:spPr>
        <p:txBody>
          <a:bodyPr wrap="square" lIns="0" tIns="0" rIns="0" bIns="0" rtlCol="0" anchor="ctr"/>
          <a:lstStyle/>
          <a:p>
            <a:pPr marL="0" indent="0">
              <a:buNone/>
            </a:pPr>
            <a:r>
              <a:rPr lang="en-US" sz="950" dirty="0">
                <a:solidFill>
                  <a:srgbClr val="F4A261"/>
                </a:solidFill>
                <a:latin typeface="Calibri" pitchFamily="34" charset="0"/>
                <a:ea typeface="Calibri" pitchFamily="34" charset="-122"/>
                <a:cs typeface="Calibri" pitchFamily="34" charset="-120"/>
              </a:rPr>
              <a:t>■ B</a:t>
            </a:r>
            <a:endParaRPr lang="en-US" sz="950" dirty="0"/>
          </a:p>
        </p:txBody>
      </p:sp>
      <p:sp>
        <p:nvSpPr>
          <p:cNvPr id="44" name="Shape 42"/>
          <p:cNvSpPr/>
          <p:nvPr/>
        </p:nvSpPr>
        <p:spPr>
          <a:xfrm>
            <a:off x="274320" y="3776472"/>
            <a:ext cx="8595360" cy="365760"/>
          </a:xfrm>
          <a:prstGeom prst="rect">
            <a:avLst/>
          </a:prstGeom>
          <a:solidFill>
            <a:srgbClr val="E9F5EE"/>
          </a:solidFill>
          <a:ln/>
        </p:spPr>
      </p:sp>
      <p:sp>
        <p:nvSpPr>
          <p:cNvPr id="45" name="Text 43"/>
          <p:cNvSpPr/>
          <p:nvPr/>
        </p:nvSpPr>
        <p:spPr>
          <a:xfrm>
            <a:off x="329184" y="3831336"/>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Brecha de género T1 (éxito)</a:t>
            </a:r>
            <a:endParaRPr lang="en-US" sz="950" dirty="0"/>
          </a:p>
        </p:txBody>
      </p:sp>
      <p:sp>
        <p:nvSpPr>
          <p:cNvPr id="46" name="Text 44"/>
          <p:cNvSpPr/>
          <p:nvPr/>
        </p:nvSpPr>
        <p:spPr>
          <a:xfrm>
            <a:off x="3346704" y="3831336"/>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15 pp</a:t>
            </a:r>
            <a:endParaRPr lang="en-US" sz="950" dirty="0"/>
          </a:p>
        </p:txBody>
      </p:sp>
      <p:sp>
        <p:nvSpPr>
          <p:cNvPr id="47" name="Text 45"/>
          <p:cNvSpPr/>
          <p:nvPr/>
        </p:nvSpPr>
        <p:spPr>
          <a:xfrm>
            <a:off x="5266944" y="3831336"/>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43 pp</a:t>
            </a:r>
            <a:endParaRPr lang="en-US" sz="950" dirty="0"/>
          </a:p>
        </p:txBody>
      </p:sp>
      <p:sp>
        <p:nvSpPr>
          <p:cNvPr id="48" name="Text 46"/>
          <p:cNvSpPr/>
          <p:nvPr/>
        </p:nvSpPr>
        <p:spPr>
          <a:xfrm>
            <a:off x="7552944" y="3831336"/>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49" name="Shape 47"/>
          <p:cNvSpPr/>
          <p:nvPr/>
        </p:nvSpPr>
        <p:spPr>
          <a:xfrm>
            <a:off x="274320" y="4151376"/>
            <a:ext cx="8595360" cy="365760"/>
          </a:xfrm>
          <a:prstGeom prst="rect">
            <a:avLst/>
          </a:prstGeom>
          <a:solidFill>
            <a:srgbClr val="FFFFFF"/>
          </a:solidFill>
          <a:ln/>
        </p:spPr>
      </p:sp>
      <p:sp>
        <p:nvSpPr>
          <p:cNvPr id="50" name="Text 48"/>
          <p:cNvSpPr/>
          <p:nvPr/>
        </p:nvSpPr>
        <p:spPr>
          <a:xfrm>
            <a:off x="329184" y="4206240"/>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Bug crítico visible</a:t>
            </a:r>
            <a:endParaRPr lang="en-US" sz="950" dirty="0"/>
          </a:p>
        </p:txBody>
      </p:sp>
      <p:sp>
        <p:nvSpPr>
          <p:cNvPr id="51" name="Text 49"/>
          <p:cNvSpPr/>
          <p:nvPr/>
        </p:nvSpPr>
        <p:spPr>
          <a:xfrm>
            <a:off x="3346704" y="4206240"/>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No detectado</a:t>
            </a:r>
            <a:endParaRPr lang="en-US" sz="950" dirty="0"/>
          </a:p>
        </p:txBody>
      </p:sp>
      <p:sp>
        <p:nvSpPr>
          <p:cNvPr id="52" name="Text 50"/>
          <p:cNvSpPr/>
          <p:nvPr/>
        </p:nvSpPr>
        <p:spPr>
          <a:xfrm>
            <a:off x="5266944" y="4206240"/>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"Invalid Date"</a:t>
            </a:r>
            <a:endParaRPr lang="en-US" sz="950" dirty="0"/>
          </a:p>
        </p:txBody>
      </p:sp>
      <p:sp>
        <p:nvSpPr>
          <p:cNvPr id="53" name="Text 51"/>
          <p:cNvSpPr/>
          <p:nvPr/>
        </p:nvSpPr>
        <p:spPr>
          <a:xfrm>
            <a:off x="7552944" y="4206240"/>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
        <p:nvSpPr>
          <p:cNvPr id="54" name="Shape 52"/>
          <p:cNvSpPr/>
          <p:nvPr/>
        </p:nvSpPr>
        <p:spPr>
          <a:xfrm>
            <a:off x="274320" y="4526280"/>
            <a:ext cx="8595360" cy="365760"/>
          </a:xfrm>
          <a:prstGeom prst="rect">
            <a:avLst/>
          </a:prstGeom>
          <a:solidFill>
            <a:srgbClr val="E9F5EE"/>
          </a:solidFill>
          <a:ln/>
        </p:spPr>
      </p:sp>
      <p:sp>
        <p:nvSpPr>
          <p:cNvPr id="55" name="Text 53"/>
          <p:cNvSpPr/>
          <p:nvPr/>
        </p:nvSpPr>
        <p:spPr>
          <a:xfrm>
            <a:off x="329184" y="4581144"/>
            <a:ext cx="2926080" cy="265176"/>
          </a:xfrm>
          <a:prstGeom prst="rect">
            <a:avLst/>
          </a:prstGeom>
          <a:noFill/>
          <a:ln/>
        </p:spPr>
        <p:txBody>
          <a:bodyPr wrap="square" lIns="0" tIns="0" rIns="0" bIns="0" rtlCol="0" anchor="ctr"/>
          <a:lstStyle/>
          <a:p>
            <a:pPr marL="0" indent="0">
              <a:buNone/>
            </a:pPr>
            <a:r>
              <a:rPr lang="en-US" sz="950" b="1" dirty="0">
                <a:solidFill>
                  <a:srgbClr val="212529"/>
                </a:solidFill>
                <a:latin typeface="Calibri" pitchFamily="34" charset="0"/>
                <a:ea typeface="Calibri" pitchFamily="34" charset="-122"/>
                <a:cs typeface="Calibri" pitchFamily="34" charset="-120"/>
              </a:rPr>
              <a:t>Consistencia de idioma</a:t>
            </a:r>
            <a:endParaRPr lang="en-US" sz="950" dirty="0"/>
          </a:p>
        </p:txBody>
      </p:sp>
      <p:sp>
        <p:nvSpPr>
          <p:cNvPr id="56" name="Text 54"/>
          <p:cNvSpPr/>
          <p:nvPr/>
        </p:nvSpPr>
        <p:spPr>
          <a:xfrm>
            <a:off x="3346704" y="4581144"/>
            <a:ext cx="1828800" cy="265176"/>
          </a:xfrm>
          <a:prstGeom prst="rect">
            <a:avLst/>
          </a:prstGeom>
          <a:noFill/>
          <a:ln/>
        </p:spPr>
        <p:txBody>
          <a:bodyPr wrap="square" lIns="0" tIns="0" rIns="0" bIns="0" rtlCol="0" anchor="ctr"/>
          <a:lstStyle/>
          <a:p>
            <a:pPr marL="0" indent="0">
              <a:buNone/>
            </a:pPr>
            <a:r>
              <a:rPr lang="en-US" sz="950" dirty="0">
                <a:solidFill>
                  <a:srgbClr val="212529"/>
                </a:solidFill>
                <a:latin typeface="Calibri" pitchFamily="34" charset="0"/>
                <a:ea typeface="Calibri" pitchFamily="34" charset="-122"/>
                <a:cs typeface="Calibri" pitchFamily="34" charset="-120"/>
              </a:rPr>
              <a:t>Uniforme castellano</a:t>
            </a:r>
            <a:endParaRPr lang="en-US" sz="950" dirty="0"/>
          </a:p>
        </p:txBody>
      </p:sp>
      <p:sp>
        <p:nvSpPr>
          <p:cNvPr id="57" name="Text 55"/>
          <p:cNvSpPr/>
          <p:nvPr/>
        </p:nvSpPr>
        <p:spPr>
          <a:xfrm>
            <a:off x="5266944" y="4581144"/>
            <a:ext cx="2194560" cy="265176"/>
          </a:xfrm>
          <a:prstGeom prst="rect">
            <a:avLst/>
          </a:prstGeom>
          <a:noFill/>
          <a:ln/>
        </p:spPr>
        <p:txBody>
          <a:bodyPr wrap="square" lIns="0" tIns="0" rIns="0" bIns="0" rtlCol="0" anchor="ctr"/>
          <a:lstStyle/>
          <a:p>
            <a:pPr marL="0" indent="0">
              <a:buNone/>
            </a:pPr>
            <a:r>
              <a:rPr lang="en-US" sz="950" dirty="0">
                <a:solidFill>
                  <a:srgbClr val="D62828"/>
                </a:solidFill>
                <a:latin typeface="Calibri" pitchFamily="34" charset="0"/>
                <a:ea typeface="Calibri" pitchFamily="34" charset="-122"/>
                <a:cs typeface="Calibri" pitchFamily="34" charset="-120"/>
              </a:rPr>
              <a:t>Filtros en inglés</a:t>
            </a:r>
            <a:endParaRPr lang="en-US" sz="950" dirty="0"/>
          </a:p>
        </p:txBody>
      </p:sp>
      <p:sp>
        <p:nvSpPr>
          <p:cNvPr id="58" name="Text 56"/>
          <p:cNvSpPr/>
          <p:nvPr/>
        </p:nvSpPr>
        <p:spPr>
          <a:xfrm>
            <a:off x="7552944" y="4581144"/>
            <a:ext cx="1280160" cy="265176"/>
          </a:xfrm>
          <a:prstGeom prst="rect">
            <a:avLst/>
          </a:prstGeom>
          <a:noFill/>
          <a:ln/>
        </p:spPr>
        <p:txBody>
          <a:bodyPr wrap="square" lIns="0" tIns="0" rIns="0" bIns="0" rtlCol="0" anchor="ctr"/>
          <a:lstStyle/>
          <a:p>
            <a:pPr marL="0" indent="0">
              <a:buNone/>
            </a:pPr>
            <a:r>
              <a:rPr lang="en-US" sz="950" dirty="0">
                <a:solidFill>
                  <a:srgbClr val="40916C"/>
                </a:solidFill>
                <a:latin typeface="Calibri" pitchFamily="34" charset="0"/>
                <a:ea typeface="Calibri" pitchFamily="34" charset="-122"/>
                <a:cs typeface="Calibri" pitchFamily="34" charset="-120"/>
              </a:rPr>
              <a:t>■ A</a:t>
            </a:r>
            <a:endParaRPr lang="en-US" sz="95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9. Problemas Detectados, Gravedad y Soluciones Propuestas</a:t>
            </a:r>
            <a:endParaRPr lang="en-US" sz="1900" dirty="0"/>
          </a:p>
        </p:txBody>
      </p:sp>
      <p:sp>
        <p:nvSpPr>
          <p:cNvPr id="4" name="Shape 2"/>
          <p:cNvSpPr/>
          <p:nvPr/>
        </p:nvSpPr>
        <p:spPr>
          <a:xfrm>
            <a:off x="182880" y="768096"/>
            <a:ext cx="8778240" cy="274320"/>
          </a:xfrm>
          <a:prstGeom prst="rect">
            <a:avLst/>
          </a:prstGeom>
          <a:solidFill>
            <a:srgbClr val="1B4332"/>
          </a:solidFill>
          <a:ln/>
        </p:spPr>
      </p:sp>
      <p:sp>
        <p:nvSpPr>
          <p:cNvPr id="5" name="Text 3"/>
          <p:cNvSpPr/>
          <p:nvPr/>
        </p:nvSpPr>
        <p:spPr>
          <a:xfrm>
            <a:off x="219456" y="795528"/>
            <a:ext cx="484632"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Proto</a:t>
            </a:r>
            <a:endParaRPr lang="en-US" sz="950" dirty="0"/>
          </a:p>
        </p:txBody>
      </p:sp>
      <p:sp>
        <p:nvSpPr>
          <p:cNvPr id="6" name="Text 4"/>
          <p:cNvSpPr/>
          <p:nvPr/>
        </p:nvSpPr>
        <p:spPr>
          <a:xfrm>
            <a:off x="749808" y="795528"/>
            <a:ext cx="269748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Problema detectado</a:t>
            </a:r>
            <a:endParaRPr lang="en-US" sz="950" dirty="0"/>
          </a:p>
        </p:txBody>
      </p:sp>
      <p:sp>
        <p:nvSpPr>
          <p:cNvPr id="7" name="Text 5"/>
          <p:cNvSpPr/>
          <p:nvPr/>
        </p:nvSpPr>
        <p:spPr>
          <a:xfrm>
            <a:off x="3493008" y="795528"/>
            <a:ext cx="59436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Heur.</a:t>
            </a:r>
            <a:endParaRPr lang="en-US" sz="950" dirty="0"/>
          </a:p>
        </p:txBody>
      </p:sp>
      <p:sp>
        <p:nvSpPr>
          <p:cNvPr id="8" name="Text 6"/>
          <p:cNvSpPr/>
          <p:nvPr/>
        </p:nvSpPr>
        <p:spPr>
          <a:xfrm>
            <a:off x="4133088" y="795528"/>
            <a:ext cx="521208"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Grav.</a:t>
            </a:r>
            <a:endParaRPr lang="en-US" sz="950" dirty="0"/>
          </a:p>
        </p:txBody>
      </p:sp>
      <p:sp>
        <p:nvSpPr>
          <p:cNvPr id="9" name="Text 7"/>
          <p:cNvSpPr/>
          <p:nvPr/>
        </p:nvSpPr>
        <p:spPr>
          <a:xfrm>
            <a:off x="4700016" y="795528"/>
            <a:ext cx="3886200" cy="219456"/>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Solución propuesta</a:t>
            </a:r>
            <a:endParaRPr lang="en-US" sz="950" dirty="0"/>
          </a:p>
        </p:txBody>
      </p:sp>
      <p:sp>
        <p:nvSpPr>
          <p:cNvPr id="10" name="Shape 8"/>
          <p:cNvSpPr/>
          <p:nvPr/>
        </p:nvSpPr>
        <p:spPr>
          <a:xfrm>
            <a:off x="182880" y="1060704"/>
            <a:ext cx="8778240" cy="402336"/>
          </a:xfrm>
          <a:prstGeom prst="rect">
            <a:avLst/>
          </a:prstGeom>
          <a:solidFill>
            <a:srgbClr val="FFFFFF"/>
          </a:solidFill>
          <a:ln/>
        </p:spPr>
      </p:sp>
      <p:sp>
        <p:nvSpPr>
          <p:cNvPr id="11" name="Text 9"/>
          <p:cNvSpPr/>
          <p:nvPr/>
        </p:nvSpPr>
        <p:spPr>
          <a:xfrm>
            <a:off x="219456" y="1097280"/>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12" name="Text 10"/>
          <p:cNvSpPr/>
          <p:nvPr/>
        </p:nvSpPr>
        <p:spPr>
          <a:xfrm>
            <a:off x="749808" y="1097280"/>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"Invalid Date" en fecha de caducidad en el listado</a:t>
            </a:r>
            <a:endParaRPr lang="en-US" sz="850" dirty="0"/>
          </a:p>
        </p:txBody>
      </p:sp>
      <p:sp>
        <p:nvSpPr>
          <p:cNvPr id="13" name="Text 11"/>
          <p:cNvSpPr/>
          <p:nvPr/>
        </p:nvSpPr>
        <p:spPr>
          <a:xfrm>
            <a:off x="3493008" y="1097280"/>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H1, H9</a:t>
            </a:r>
            <a:endParaRPr lang="en-US" sz="850" dirty="0"/>
          </a:p>
        </p:txBody>
      </p:sp>
      <p:sp>
        <p:nvSpPr>
          <p:cNvPr id="14" name="Text 12"/>
          <p:cNvSpPr/>
          <p:nvPr/>
        </p:nvSpPr>
        <p:spPr>
          <a:xfrm>
            <a:off x="4133088" y="1097280"/>
            <a:ext cx="512064" cy="338328"/>
          </a:xfrm>
          <a:prstGeom prst="rect">
            <a:avLst/>
          </a:prstGeom>
          <a:noFill/>
          <a:ln/>
        </p:spPr>
        <p:txBody>
          <a:bodyPr wrap="square" lIns="0" tIns="0" rIns="0" bIns="0" rtlCol="0" anchor="ctr"/>
          <a:lstStyle/>
          <a:p>
            <a:pPr marL="0" indent="0">
              <a:buNone/>
            </a:pPr>
            <a:r>
              <a:rPr lang="en-US" sz="850" b="1" dirty="0">
                <a:solidFill>
                  <a:srgbClr val="D62828"/>
                </a:solidFill>
                <a:latin typeface="Calibri" pitchFamily="34" charset="0"/>
                <a:ea typeface="Calibri" pitchFamily="34" charset="-122"/>
                <a:cs typeface="Calibri" pitchFamily="34" charset="-120"/>
              </a:rPr>
              <a:t>Alta</a:t>
            </a:r>
            <a:endParaRPr lang="en-US" sz="850" dirty="0"/>
          </a:p>
        </p:txBody>
      </p:sp>
      <p:sp>
        <p:nvSpPr>
          <p:cNvPr id="15" name="Text 13"/>
          <p:cNvSpPr/>
          <p:nvPr/>
        </p:nvSpPr>
        <p:spPr>
          <a:xfrm>
            <a:off x="4700016" y="1097280"/>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Date.toLocaleDateString('es-ES') + fallback 'Sin fecha'</a:t>
            </a:r>
            <a:endParaRPr lang="en-US" sz="850" dirty="0"/>
          </a:p>
        </p:txBody>
      </p:sp>
      <p:sp>
        <p:nvSpPr>
          <p:cNvPr id="16" name="Shape 14"/>
          <p:cNvSpPr/>
          <p:nvPr/>
        </p:nvSpPr>
        <p:spPr>
          <a:xfrm>
            <a:off x="182880" y="1481328"/>
            <a:ext cx="8778240" cy="402336"/>
          </a:xfrm>
          <a:prstGeom prst="rect">
            <a:avLst/>
          </a:prstGeom>
          <a:solidFill>
            <a:srgbClr val="E9F5EE"/>
          </a:solidFill>
          <a:ln/>
        </p:spPr>
      </p:sp>
      <p:sp>
        <p:nvSpPr>
          <p:cNvPr id="17" name="Text 15"/>
          <p:cNvSpPr/>
          <p:nvPr/>
        </p:nvSpPr>
        <p:spPr>
          <a:xfrm>
            <a:off x="219456" y="1517904"/>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18" name="Text 16"/>
          <p:cNvSpPr/>
          <p:nvPr/>
        </p:nvSpPr>
        <p:spPr>
          <a:xfrm>
            <a:off x="749808" y="1517904"/>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Botón 'Compartir' confunde solicitar con publicar donación</a:t>
            </a:r>
            <a:endParaRPr lang="en-US" sz="850" dirty="0"/>
          </a:p>
        </p:txBody>
      </p:sp>
      <p:sp>
        <p:nvSpPr>
          <p:cNvPr id="19" name="Text 17"/>
          <p:cNvSpPr/>
          <p:nvPr/>
        </p:nvSpPr>
        <p:spPr>
          <a:xfrm>
            <a:off x="3493008" y="1517904"/>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H2, H3</a:t>
            </a:r>
            <a:endParaRPr lang="en-US" sz="850" dirty="0"/>
          </a:p>
        </p:txBody>
      </p:sp>
      <p:sp>
        <p:nvSpPr>
          <p:cNvPr id="20" name="Text 18"/>
          <p:cNvSpPr/>
          <p:nvPr/>
        </p:nvSpPr>
        <p:spPr>
          <a:xfrm>
            <a:off x="4133088" y="1517904"/>
            <a:ext cx="512064" cy="338328"/>
          </a:xfrm>
          <a:prstGeom prst="rect">
            <a:avLst/>
          </a:prstGeom>
          <a:noFill/>
          <a:ln/>
        </p:spPr>
        <p:txBody>
          <a:bodyPr wrap="square" lIns="0" tIns="0" rIns="0" bIns="0" rtlCol="0" anchor="ctr"/>
          <a:lstStyle/>
          <a:p>
            <a:pPr marL="0" indent="0">
              <a:buNone/>
            </a:pPr>
            <a:r>
              <a:rPr lang="en-US" sz="850" b="1" dirty="0">
                <a:solidFill>
                  <a:srgbClr val="D62828"/>
                </a:solidFill>
                <a:latin typeface="Calibri" pitchFamily="34" charset="0"/>
                <a:ea typeface="Calibri" pitchFamily="34" charset="-122"/>
                <a:cs typeface="Calibri" pitchFamily="34" charset="-120"/>
              </a:rPr>
              <a:t>Alta</a:t>
            </a:r>
            <a:endParaRPr lang="en-US" sz="850" dirty="0"/>
          </a:p>
        </p:txBody>
      </p:sp>
      <p:sp>
        <p:nvSpPr>
          <p:cNvPr id="21" name="Text 19"/>
          <p:cNvSpPr/>
          <p:nvPr/>
        </p:nvSpPr>
        <p:spPr>
          <a:xfrm>
            <a:off x="4700016" y="1517904"/>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Renombrar a 'Publicar donación' y añadir tooltip explicativo</a:t>
            </a:r>
            <a:endParaRPr lang="en-US" sz="850" dirty="0"/>
          </a:p>
        </p:txBody>
      </p:sp>
      <p:sp>
        <p:nvSpPr>
          <p:cNvPr id="22" name="Shape 20"/>
          <p:cNvSpPr/>
          <p:nvPr/>
        </p:nvSpPr>
        <p:spPr>
          <a:xfrm>
            <a:off x="182880" y="1901952"/>
            <a:ext cx="8778240" cy="402336"/>
          </a:xfrm>
          <a:prstGeom prst="rect">
            <a:avLst/>
          </a:prstGeom>
          <a:solidFill>
            <a:srgbClr val="FFFFFF"/>
          </a:solidFill>
          <a:ln/>
        </p:spPr>
      </p:sp>
      <p:sp>
        <p:nvSpPr>
          <p:cNvPr id="23" name="Text 21"/>
          <p:cNvSpPr/>
          <p:nvPr/>
        </p:nvSpPr>
        <p:spPr>
          <a:xfrm>
            <a:off x="219456" y="1938528"/>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a:t>
            </a:r>
            <a:endParaRPr lang="en-US" sz="850" dirty="0"/>
          </a:p>
        </p:txBody>
      </p:sp>
      <p:sp>
        <p:nvSpPr>
          <p:cNvPr id="24" name="Text 22"/>
          <p:cNvSpPr/>
          <p:nvPr/>
        </p:nvSpPr>
        <p:spPr>
          <a:xfrm>
            <a:off x="749808" y="1938528"/>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T3: tarjetas sin chip de estado en el listado</a:t>
            </a:r>
            <a:endParaRPr lang="en-US" sz="850" dirty="0"/>
          </a:p>
        </p:txBody>
      </p:sp>
      <p:sp>
        <p:nvSpPr>
          <p:cNvPr id="25" name="Text 23"/>
          <p:cNvSpPr/>
          <p:nvPr/>
        </p:nvSpPr>
        <p:spPr>
          <a:xfrm>
            <a:off x="3493008" y="1938528"/>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H6, H1</a:t>
            </a:r>
            <a:endParaRPr lang="en-US" sz="850" dirty="0"/>
          </a:p>
        </p:txBody>
      </p:sp>
      <p:sp>
        <p:nvSpPr>
          <p:cNvPr id="26" name="Text 24"/>
          <p:cNvSpPr/>
          <p:nvPr/>
        </p:nvSpPr>
        <p:spPr>
          <a:xfrm>
            <a:off x="4133088" y="1938528"/>
            <a:ext cx="512064" cy="338328"/>
          </a:xfrm>
          <a:prstGeom prst="rect">
            <a:avLst/>
          </a:prstGeom>
          <a:noFill/>
          <a:ln/>
        </p:spPr>
        <p:txBody>
          <a:bodyPr wrap="square" lIns="0" tIns="0" rIns="0" bIns="0" rtlCol="0" anchor="ctr"/>
          <a:lstStyle/>
          <a:p>
            <a:pPr marL="0" indent="0">
              <a:buNone/>
            </a:pPr>
            <a:r>
              <a:rPr lang="en-US" sz="850" b="1" dirty="0">
                <a:solidFill>
                  <a:srgbClr val="D62828"/>
                </a:solidFill>
                <a:latin typeface="Calibri" pitchFamily="34" charset="0"/>
                <a:ea typeface="Calibri" pitchFamily="34" charset="-122"/>
                <a:cs typeface="Calibri" pitchFamily="34" charset="-120"/>
              </a:rPr>
              <a:t>Alta</a:t>
            </a:r>
            <a:endParaRPr lang="en-US" sz="850" dirty="0"/>
          </a:p>
        </p:txBody>
      </p:sp>
      <p:sp>
        <p:nvSpPr>
          <p:cNvPr id="27" name="Text 25"/>
          <p:cNvSpPr/>
          <p:nvPr/>
        </p:nvSpPr>
        <p:spPr>
          <a:xfrm>
            <a:off x="4700016" y="1938528"/>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Mostrar chip estado (Pendiente/Aprobada/Rechazada) en cada tarjeta</a:t>
            </a:r>
            <a:endParaRPr lang="en-US" sz="850" dirty="0"/>
          </a:p>
        </p:txBody>
      </p:sp>
      <p:sp>
        <p:nvSpPr>
          <p:cNvPr id="28" name="Shape 26"/>
          <p:cNvSpPr/>
          <p:nvPr/>
        </p:nvSpPr>
        <p:spPr>
          <a:xfrm>
            <a:off x="182880" y="2322576"/>
            <a:ext cx="8778240" cy="402336"/>
          </a:xfrm>
          <a:prstGeom prst="rect">
            <a:avLst/>
          </a:prstGeom>
          <a:solidFill>
            <a:srgbClr val="E9F5EE"/>
          </a:solidFill>
          <a:ln/>
        </p:spPr>
      </p:sp>
      <p:sp>
        <p:nvSpPr>
          <p:cNvPr id="29" name="Text 27"/>
          <p:cNvSpPr/>
          <p:nvPr/>
        </p:nvSpPr>
        <p:spPr>
          <a:xfrm>
            <a:off x="219456" y="2359152"/>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30" name="Text 28"/>
          <p:cNvSpPr/>
          <p:nvPr/>
        </p:nvSpPr>
        <p:spPr>
          <a:xfrm>
            <a:off x="749808" y="2359152"/>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Filtros de estado en inglés en UI en castellano</a:t>
            </a:r>
            <a:endParaRPr lang="en-US" sz="850" dirty="0"/>
          </a:p>
        </p:txBody>
      </p:sp>
      <p:sp>
        <p:nvSpPr>
          <p:cNvPr id="31" name="Text 29"/>
          <p:cNvSpPr/>
          <p:nvPr/>
        </p:nvSpPr>
        <p:spPr>
          <a:xfrm>
            <a:off x="3493008" y="2359152"/>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H2, H4</a:t>
            </a:r>
            <a:endParaRPr lang="en-US" sz="850" dirty="0"/>
          </a:p>
        </p:txBody>
      </p:sp>
      <p:sp>
        <p:nvSpPr>
          <p:cNvPr id="32" name="Text 30"/>
          <p:cNvSpPr/>
          <p:nvPr/>
        </p:nvSpPr>
        <p:spPr>
          <a:xfrm>
            <a:off x="4133088" y="2359152"/>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33" name="Text 31"/>
          <p:cNvSpPr/>
          <p:nvPr/>
        </p:nvSpPr>
        <p:spPr>
          <a:xfrm>
            <a:off x="4700016" y="2359152"/>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Mapear valores del enum a etiquetas en castellano en la vista</a:t>
            </a:r>
            <a:endParaRPr lang="en-US" sz="850" dirty="0"/>
          </a:p>
        </p:txBody>
      </p:sp>
      <p:sp>
        <p:nvSpPr>
          <p:cNvPr id="34" name="Shape 32"/>
          <p:cNvSpPr/>
          <p:nvPr/>
        </p:nvSpPr>
        <p:spPr>
          <a:xfrm>
            <a:off x="182880" y="2743200"/>
            <a:ext cx="8778240" cy="402336"/>
          </a:xfrm>
          <a:prstGeom prst="rect">
            <a:avLst/>
          </a:prstGeom>
          <a:solidFill>
            <a:srgbClr val="FFFFFF"/>
          </a:solidFill>
          <a:ln/>
        </p:spPr>
      </p:sp>
      <p:sp>
        <p:nvSpPr>
          <p:cNvPr id="35" name="Text 33"/>
          <p:cNvSpPr/>
          <p:nvPr/>
        </p:nvSpPr>
        <p:spPr>
          <a:xfrm>
            <a:off x="219456" y="2779776"/>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36" name="Text 34"/>
          <p:cNvSpPr/>
          <p:nvPr/>
        </p:nvSpPr>
        <p:spPr>
          <a:xfrm>
            <a:off x="749808" y="2779776"/>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Botones Aprobar/Rechazar sin confirmación previa</a:t>
            </a:r>
            <a:endParaRPr lang="en-US" sz="850" dirty="0"/>
          </a:p>
        </p:txBody>
      </p:sp>
      <p:sp>
        <p:nvSpPr>
          <p:cNvPr id="37" name="Text 35"/>
          <p:cNvSpPr/>
          <p:nvPr/>
        </p:nvSpPr>
        <p:spPr>
          <a:xfrm>
            <a:off x="3493008" y="2779776"/>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H5, H3</a:t>
            </a:r>
            <a:endParaRPr lang="en-US" sz="850" dirty="0"/>
          </a:p>
        </p:txBody>
      </p:sp>
      <p:sp>
        <p:nvSpPr>
          <p:cNvPr id="38" name="Text 36"/>
          <p:cNvSpPr/>
          <p:nvPr/>
        </p:nvSpPr>
        <p:spPr>
          <a:xfrm>
            <a:off x="4133088" y="2779776"/>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39" name="Text 37"/>
          <p:cNvSpPr/>
          <p:nvPr/>
        </p:nvSpPr>
        <p:spPr>
          <a:xfrm>
            <a:off x="4700016" y="2779776"/>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Modal de confirmación + opción de deshacer con ventana de 5s</a:t>
            </a:r>
            <a:endParaRPr lang="en-US" sz="850" dirty="0"/>
          </a:p>
        </p:txBody>
      </p:sp>
      <p:sp>
        <p:nvSpPr>
          <p:cNvPr id="40" name="Shape 38"/>
          <p:cNvSpPr/>
          <p:nvPr/>
        </p:nvSpPr>
        <p:spPr>
          <a:xfrm>
            <a:off x="182880" y="3163824"/>
            <a:ext cx="8778240" cy="402336"/>
          </a:xfrm>
          <a:prstGeom prst="rect">
            <a:avLst/>
          </a:prstGeom>
          <a:solidFill>
            <a:srgbClr val="E9F5EE"/>
          </a:solidFill>
          <a:ln/>
        </p:spPr>
      </p:sp>
      <p:sp>
        <p:nvSpPr>
          <p:cNvPr id="41" name="Text 39"/>
          <p:cNvSpPr/>
          <p:nvPr/>
        </p:nvSpPr>
        <p:spPr>
          <a:xfrm>
            <a:off x="219456" y="3200400"/>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a:t>
            </a:r>
            <a:endParaRPr lang="en-US" sz="850" dirty="0"/>
          </a:p>
        </p:txBody>
      </p:sp>
      <p:sp>
        <p:nvSpPr>
          <p:cNvPr id="42" name="Text 40"/>
          <p:cNvSpPr/>
          <p:nvPr/>
        </p:nvSpPr>
        <p:spPr>
          <a:xfrm>
            <a:off x="749808" y="3200400"/>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Campo cantidad sin selector de unidad (texto libre ambiguo)</a:t>
            </a:r>
            <a:endParaRPr lang="en-US" sz="850" dirty="0"/>
          </a:p>
        </p:txBody>
      </p:sp>
      <p:sp>
        <p:nvSpPr>
          <p:cNvPr id="43" name="Text 41"/>
          <p:cNvSpPr/>
          <p:nvPr/>
        </p:nvSpPr>
        <p:spPr>
          <a:xfrm>
            <a:off x="3493008" y="3200400"/>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H5</a:t>
            </a:r>
            <a:endParaRPr lang="en-US" sz="850" dirty="0"/>
          </a:p>
        </p:txBody>
      </p:sp>
      <p:sp>
        <p:nvSpPr>
          <p:cNvPr id="44" name="Text 42"/>
          <p:cNvSpPr/>
          <p:nvPr/>
        </p:nvSpPr>
        <p:spPr>
          <a:xfrm>
            <a:off x="4133088" y="3200400"/>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45" name="Text 43"/>
          <p:cNvSpPr/>
          <p:nvPr/>
        </p:nvSpPr>
        <p:spPr>
          <a:xfrm>
            <a:off x="4700016" y="3200400"/>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Añadir selector de unidad: kg / unidades / litros</a:t>
            </a:r>
            <a:endParaRPr lang="en-US" sz="850" dirty="0"/>
          </a:p>
        </p:txBody>
      </p:sp>
      <p:sp>
        <p:nvSpPr>
          <p:cNvPr id="46" name="Shape 44"/>
          <p:cNvSpPr/>
          <p:nvPr/>
        </p:nvSpPr>
        <p:spPr>
          <a:xfrm>
            <a:off x="182880" y="3584448"/>
            <a:ext cx="8778240" cy="402336"/>
          </a:xfrm>
          <a:prstGeom prst="rect">
            <a:avLst/>
          </a:prstGeom>
          <a:solidFill>
            <a:srgbClr val="FFFFFF"/>
          </a:solidFill>
          <a:ln/>
        </p:spPr>
      </p:sp>
      <p:sp>
        <p:nvSpPr>
          <p:cNvPr id="47" name="Text 45"/>
          <p:cNvSpPr/>
          <p:nvPr/>
        </p:nvSpPr>
        <p:spPr>
          <a:xfrm>
            <a:off x="219456" y="3621024"/>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a:t>
            </a:r>
            <a:endParaRPr lang="en-US" sz="850" dirty="0"/>
          </a:p>
        </p:txBody>
      </p:sp>
      <p:sp>
        <p:nvSpPr>
          <p:cNvPr id="48" name="Text 46"/>
          <p:cNvSpPr/>
          <p:nvPr/>
        </p:nvSpPr>
        <p:spPr>
          <a:xfrm>
            <a:off x="749808" y="3621024"/>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T1: 6,1 páginas visitadas vs 3 mínimas para crear solicitud</a:t>
            </a:r>
            <a:endParaRPr lang="en-US" sz="850" dirty="0"/>
          </a:p>
        </p:txBody>
      </p:sp>
      <p:sp>
        <p:nvSpPr>
          <p:cNvPr id="49" name="Text 47"/>
          <p:cNvSpPr/>
          <p:nvPr/>
        </p:nvSpPr>
        <p:spPr>
          <a:xfrm>
            <a:off x="3493008" y="3621024"/>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H7, H6</a:t>
            </a:r>
            <a:endParaRPr lang="en-US" sz="850" dirty="0"/>
          </a:p>
        </p:txBody>
      </p:sp>
      <p:sp>
        <p:nvSpPr>
          <p:cNvPr id="50" name="Text 48"/>
          <p:cNvSpPr/>
          <p:nvPr/>
        </p:nvSpPr>
        <p:spPr>
          <a:xfrm>
            <a:off x="4133088" y="3621024"/>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51" name="Text 49"/>
          <p:cNvSpPr/>
          <p:nvPr/>
        </p:nvSpPr>
        <p:spPr>
          <a:xfrm>
            <a:off x="4700016" y="3621024"/>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CTA 'Solicitar' visible en tarjeta del listado sin abrir detalle</a:t>
            </a:r>
            <a:endParaRPr lang="en-US" sz="850" dirty="0"/>
          </a:p>
        </p:txBody>
      </p:sp>
      <p:sp>
        <p:nvSpPr>
          <p:cNvPr id="52" name="Shape 50"/>
          <p:cNvSpPr/>
          <p:nvPr/>
        </p:nvSpPr>
        <p:spPr>
          <a:xfrm>
            <a:off x="182880" y="4005072"/>
            <a:ext cx="8778240" cy="402336"/>
          </a:xfrm>
          <a:prstGeom prst="rect">
            <a:avLst/>
          </a:prstGeom>
          <a:solidFill>
            <a:srgbClr val="E9F5EE"/>
          </a:solidFill>
          <a:ln/>
        </p:spPr>
      </p:sp>
      <p:sp>
        <p:nvSpPr>
          <p:cNvPr id="53" name="Text 51"/>
          <p:cNvSpPr/>
          <p:nvPr/>
        </p:nvSpPr>
        <p:spPr>
          <a:xfrm>
            <a:off x="219456" y="4041648"/>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A+B</a:t>
            </a:r>
            <a:endParaRPr lang="en-US" sz="850" dirty="0"/>
          </a:p>
        </p:txBody>
      </p:sp>
      <p:sp>
        <p:nvSpPr>
          <p:cNvPr id="54" name="Text 52"/>
          <p:cNvSpPr/>
          <p:nvPr/>
        </p:nvSpPr>
        <p:spPr>
          <a:xfrm>
            <a:off x="749808" y="4041648"/>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Sin feedback de confirmación tras crear solicitud o donación</a:t>
            </a:r>
            <a:endParaRPr lang="en-US" sz="850" dirty="0"/>
          </a:p>
        </p:txBody>
      </p:sp>
      <p:sp>
        <p:nvSpPr>
          <p:cNvPr id="55" name="Text 53"/>
          <p:cNvSpPr/>
          <p:nvPr/>
        </p:nvSpPr>
        <p:spPr>
          <a:xfrm>
            <a:off x="3493008" y="4041648"/>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H1</a:t>
            </a:r>
            <a:endParaRPr lang="en-US" sz="850" dirty="0"/>
          </a:p>
        </p:txBody>
      </p:sp>
      <p:sp>
        <p:nvSpPr>
          <p:cNvPr id="56" name="Text 54"/>
          <p:cNvSpPr/>
          <p:nvPr/>
        </p:nvSpPr>
        <p:spPr>
          <a:xfrm>
            <a:off x="4133088" y="4041648"/>
            <a:ext cx="512064" cy="338328"/>
          </a:xfrm>
          <a:prstGeom prst="rect">
            <a:avLst/>
          </a:prstGeom>
          <a:noFill/>
          <a:ln/>
        </p:spPr>
        <p:txBody>
          <a:bodyPr wrap="square" lIns="0" tIns="0" rIns="0" bIns="0" rtlCol="0" anchor="ctr"/>
          <a:lstStyle/>
          <a:p>
            <a:pPr marL="0" indent="0">
              <a:buNone/>
            </a:pPr>
            <a:r>
              <a:rPr lang="en-US" sz="850" b="1" dirty="0">
                <a:solidFill>
                  <a:srgbClr val="E76F51"/>
                </a:solidFill>
                <a:latin typeface="Calibri" pitchFamily="34" charset="0"/>
                <a:ea typeface="Calibri" pitchFamily="34" charset="-122"/>
                <a:cs typeface="Calibri" pitchFamily="34" charset="-120"/>
              </a:rPr>
              <a:t>Media</a:t>
            </a:r>
            <a:endParaRPr lang="en-US" sz="850" dirty="0"/>
          </a:p>
        </p:txBody>
      </p:sp>
      <p:sp>
        <p:nvSpPr>
          <p:cNvPr id="57" name="Text 55"/>
          <p:cNvSpPr/>
          <p:nvPr/>
        </p:nvSpPr>
        <p:spPr>
          <a:xfrm>
            <a:off x="4700016" y="4041648"/>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Mostrar toast/snackbar con enlace a la solicitud creada</a:t>
            </a:r>
            <a:endParaRPr lang="en-US" sz="850" dirty="0"/>
          </a:p>
        </p:txBody>
      </p:sp>
      <p:sp>
        <p:nvSpPr>
          <p:cNvPr id="58" name="Shape 56"/>
          <p:cNvSpPr/>
          <p:nvPr/>
        </p:nvSpPr>
        <p:spPr>
          <a:xfrm>
            <a:off x="182880" y="4425696"/>
            <a:ext cx="8778240" cy="402336"/>
          </a:xfrm>
          <a:prstGeom prst="rect">
            <a:avLst/>
          </a:prstGeom>
          <a:solidFill>
            <a:srgbClr val="FFFFFF"/>
          </a:solidFill>
          <a:ln/>
        </p:spPr>
      </p:sp>
      <p:sp>
        <p:nvSpPr>
          <p:cNvPr id="59" name="Text 57"/>
          <p:cNvSpPr/>
          <p:nvPr/>
        </p:nvSpPr>
        <p:spPr>
          <a:xfrm>
            <a:off x="219456" y="4462272"/>
            <a:ext cx="475488" cy="338328"/>
          </a:xfrm>
          <a:prstGeom prst="rect">
            <a:avLst/>
          </a:prstGeom>
          <a:noFill/>
          <a:ln/>
        </p:spPr>
        <p:txBody>
          <a:bodyPr wrap="square" lIns="0" tIns="0" rIns="0" bIns="0" rtlCol="0" anchor="ctr"/>
          <a:lstStyle/>
          <a:p>
            <a:pPr marL="0" indent="0">
              <a:buNone/>
            </a:pPr>
            <a:r>
              <a:rPr lang="en-US" sz="850" b="1" dirty="0">
                <a:solidFill>
                  <a:srgbClr val="212529"/>
                </a:solidFill>
                <a:latin typeface="Calibri" pitchFamily="34" charset="0"/>
                <a:ea typeface="Calibri" pitchFamily="34" charset="-122"/>
                <a:cs typeface="Calibri" pitchFamily="34" charset="-120"/>
              </a:rPr>
              <a:t>B</a:t>
            </a:r>
            <a:endParaRPr lang="en-US" sz="850" dirty="0"/>
          </a:p>
        </p:txBody>
      </p:sp>
      <p:sp>
        <p:nvSpPr>
          <p:cNvPr id="60" name="Text 58"/>
          <p:cNvSpPr/>
          <p:nvPr/>
        </p:nvSpPr>
        <p:spPr>
          <a:xfrm>
            <a:off x="749808" y="4462272"/>
            <a:ext cx="268833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Formulario de 8 campos excesivo en móvil</a:t>
            </a:r>
            <a:endParaRPr lang="en-US" sz="850" dirty="0"/>
          </a:p>
        </p:txBody>
      </p:sp>
      <p:sp>
        <p:nvSpPr>
          <p:cNvPr id="61" name="Text 59"/>
          <p:cNvSpPr/>
          <p:nvPr/>
        </p:nvSpPr>
        <p:spPr>
          <a:xfrm>
            <a:off x="3493008" y="4462272"/>
            <a:ext cx="58521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H8</a:t>
            </a:r>
            <a:endParaRPr lang="en-US" sz="850" dirty="0"/>
          </a:p>
        </p:txBody>
      </p:sp>
      <p:sp>
        <p:nvSpPr>
          <p:cNvPr id="62" name="Text 60"/>
          <p:cNvSpPr/>
          <p:nvPr/>
        </p:nvSpPr>
        <p:spPr>
          <a:xfrm>
            <a:off x="4133088" y="4462272"/>
            <a:ext cx="512064" cy="338328"/>
          </a:xfrm>
          <a:prstGeom prst="rect">
            <a:avLst/>
          </a:prstGeom>
          <a:noFill/>
          <a:ln/>
        </p:spPr>
        <p:txBody>
          <a:bodyPr wrap="square" lIns="0" tIns="0" rIns="0" bIns="0" rtlCol="0" anchor="ctr"/>
          <a:lstStyle/>
          <a:p>
            <a:pPr marL="0" indent="0">
              <a:buNone/>
            </a:pPr>
            <a:r>
              <a:rPr lang="en-US" sz="850" b="1" dirty="0">
                <a:solidFill>
                  <a:srgbClr val="2D6A4F"/>
                </a:solidFill>
                <a:latin typeface="Calibri" pitchFamily="34" charset="0"/>
                <a:ea typeface="Calibri" pitchFamily="34" charset="-122"/>
                <a:cs typeface="Calibri" pitchFamily="34" charset="-120"/>
              </a:rPr>
              <a:t>Baja</a:t>
            </a:r>
            <a:endParaRPr lang="en-US" sz="850" dirty="0"/>
          </a:p>
        </p:txBody>
      </p:sp>
      <p:sp>
        <p:nvSpPr>
          <p:cNvPr id="63" name="Text 61"/>
          <p:cNvSpPr/>
          <p:nvPr/>
        </p:nvSpPr>
        <p:spPr>
          <a:xfrm>
            <a:off x="4700016" y="4462272"/>
            <a:ext cx="3877056" cy="338328"/>
          </a:xfrm>
          <a:prstGeom prst="rect">
            <a:avLst/>
          </a:prstGeom>
          <a:noFill/>
          <a:ln/>
        </p:spPr>
        <p:txBody>
          <a:bodyPr wrap="square" lIns="0" tIns="0" rIns="0" bIns="0" rtlCol="0" anchor="ctr"/>
          <a:lstStyle/>
          <a:p>
            <a:pPr marL="0" indent="0">
              <a:buNone/>
            </a:pPr>
            <a:r>
              <a:rPr lang="en-US" sz="850" dirty="0">
                <a:solidFill>
                  <a:srgbClr val="212529"/>
                </a:solidFill>
                <a:latin typeface="Calibri" pitchFamily="34" charset="0"/>
                <a:ea typeface="Calibri" pitchFamily="34" charset="-122"/>
                <a:cs typeface="Calibri" pitchFamily="34" charset="-120"/>
              </a:rPr>
              <a:t>Campos opcionales colapsables o dividir en pasos wizard para móvil</a:t>
            </a:r>
            <a:endParaRPr lang="en-US" sz="8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B4332"/>
          </a:solidFill>
          <a:ln/>
        </p:spPr>
      </p:sp>
      <p:sp>
        <p:nvSpPr>
          <p:cNvPr id="3" name="Text 1"/>
          <p:cNvSpPr/>
          <p:nvPr/>
        </p:nvSpPr>
        <p:spPr>
          <a:xfrm>
            <a:off x="365760" y="109728"/>
            <a:ext cx="8412480" cy="47548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10. Reflexiones y Lecciones Aprendidas</a:t>
            </a:r>
            <a:endParaRPr lang="en-US" sz="2200" dirty="0"/>
          </a:p>
        </p:txBody>
      </p:sp>
      <p:sp>
        <p:nvSpPr>
          <p:cNvPr id="4" name="Shape 2"/>
          <p:cNvSpPr/>
          <p:nvPr/>
        </p:nvSpPr>
        <p:spPr>
          <a:xfrm>
            <a:off x="274320" y="80467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5" name="Text 3"/>
          <p:cNvSpPr/>
          <p:nvPr/>
        </p:nvSpPr>
        <p:spPr>
          <a:xfrm>
            <a:off x="411480" y="89611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NPS ≠ Usabilidad</a:t>
            </a:r>
            <a:endParaRPr lang="en-US" sz="1100" dirty="0"/>
          </a:p>
        </p:txBody>
      </p:sp>
      <p:sp>
        <p:nvSpPr>
          <p:cNvPr id="6" name="Text 4"/>
          <p:cNvSpPr/>
          <p:nvPr/>
        </p:nvSpPr>
        <p:spPr>
          <a:xfrm>
            <a:off x="411480" y="120700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UMUX casi idénticos (69 vs 68) pero NPS radicalmente diferente (0 vs +43). El NPS captura intención de </a:t>
            </a:r>
            <a:r>
              <a:rPr lang="en-US" sz="900" dirty="0" err="1">
                <a:solidFill>
                  <a:srgbClr val="212529"/>
                </a:solidFill>
                <a:latin typeface="Calibri" pitchFamily="34" charset="0"/>
                <a:ea typeface="Calibri" pitchFamily="34" charset="-122"/>
                <a:cs typeface="Calibri" pitchFamily="34" charset="-120"/>
              </a:rPr>
              <a:t>recomendar</a:t>
            </a:r>
            <a:r>
              <a:rPr lang="en-US" sz="900" dirty="0">
                <a:solidFill>
                  <a:srgbClr val="212529"/>
                </a:solidFill>
                <a:latin typeface="Calibri" pitchFamily="34" charset="0"/>
                <a:ea typeface="Calibri" pitchFamily="34" charset="-122"/>
                <a:cs typeface="Calibri" pitchFamily="34" charset="-120"/>
              </a:rPr>
              <a:t> </a:t>
            </a:r>
            <a:r>
              <a:rPr lang="en-US" sz="900" dirty="0" smtClean="0">
                <a:solidFill>
                  <a:srgbClr val="212529"/>
                </a:solidFill>
                <a:latin typeface="Calibri" pitchFamily="34" charset="0"/>
                <a:ea typeface="Calibri" pitchFamily="34" charset="-122"/>
                <a:cs typeface="Calibri" pitchFamily="34" charset="-120"/>
              </a:rPr>
              <a:t>—</a:t>
            </a:r>
            <a:r>
              <a:rPr lang="en-US" sz="900" dirty="0" err="1" smtClean="0">
                <a:solidFill>
                  <a:srgbClr val="212529"/>
                </a:solidFill>
                <a:latin typeface="Calibri" pitchFamily="34" charset="0"/>
                <a:ea typeface="Calibri" pitchFamily="34" charset="-122"/>
                <a:cs typeface="Calibri" pitchFamily="34" charset="-120"/>
              </a:rPr>
              <a:t>influenciada</a:t>
            </a:r>
            <a:r>
              <a:rPr lang="en-US" sz="900" dirty="0" smtClean="0">
                <a:solidFill>
                  <a:srgbClr val="212529"/>
                </a:solidFill>
                <a:latin typeface="Calibri" pitchFamily="34" charset="0"/>
                <a:ea typeface="Calibri" pitchFamily="34" charset="-122"/>
                <a:cs typeface="Calibri" pitchFamily="34" charset="-120"/>
              </a:rPr>
              <a:t> </a:t>
            </a:r>
            <a:r>
              <a:rPr lang="en-US" sz="900" dirty="0">
                <a:solidFill>
                  <a:srgbClr val="212529"/>
                </a:solidFill>
                <a:latin typeface="Calibri" pitchFamily="34" charset="0"/>
                <a:ea typeface="Calibri" pitchFamily="34" charset="-122"/>
                <a:cs typeface="Calibri" pitchFamily="34" charset="-120"/>
              </a:rPr>
              <a:t>por el </a:t>
            </a:r>
            <a:r>
              <a:rPr lang="en-US" sz="900" dirty="0" err="1">
                <a:solidFill>
                  <a:srgbClr val="212529"/>
                </a:solidFill>
                <a:latin typeface="Calibri" pitchFamily="34" charset="0"/>
                <a:ea typeface="Calibri" pitchFamily="34" charset="-122"/>
                <a:cs typeface="Calibri" pitchFamily="34" charset="-120"/>
              </a:rPr>
              <a:t>diseño</a:t>
            </a:r>
            <a:r>
              <a:rPr lang="en-US" sz="900" dirty="0">
                <a:solidFill>
                  <a:srgbClr val="212529"/>
                </a:solidFill>
                <a:latin typeface="Calibri" pitchFamily="34" charset="0"/>
                <a:ea typeface="Calibri" pitchFamily="34" charset="-122"/>
                <a:cs typeface="Calibri" pitchFamily="34" charset="-120"/>
              </a:rPr>
              <a:t> </a:t>
            </a:r>
            <a:r>
              <a:rPr lang="en-US" sz="900" dirty="0" err="1" smtClean="0">
                <a:solidFill>
                  <a:srgbClr val="212529"/>
                </a:solidFill>
                <a:latin typeface="Calibri" pitchFamily="34" charset="0"/>
                <a:ea typeface="Calibri" pitchFamily="34" charset="-122"/>
                <a:cs typeface="Calibri" pitchFamily="34" charset="-120"/>
              </a:rPr>
              <a:t>emocional</a:t>
            </a:r>
            <a:r>
              <a:rPr lang="en-US" sz="900" dirty="0" smtClean="0">
                <a:solidFill>
                  <a:srgbClr val="212529"/>
                </a:solidFill>
                <a:latin typeface="Calibri" pitchFamily="34" charset="0"/>
                <a:ea typeface="Calibri" pitchFamily="34" charset="-122"/>
                <a:cs typeface="Calibri" pitchFamily="34" charset="-120"/>
              </a:rPr>
              <a:t>— </a:t>
            </a:r>
            <a:r>
              <a:rPr lang="en-US" sz="900" dirty="0">
                <a:solidFill>
                  <a:srgbClr val="212529"/>
                </a:solidFill>
                <a:latin typeface="Calibri" pitchFamily="34" charset="0"/>
                <a:ea typeface="Calibri" pitchFamily="34" charset="-122"/>
                <a:cs typeface="Calibri" pitchFamily="34" charset="-120"/>
              </a:rPr>
              <a:t>mientras que el UMUX mide eficiencia funcional. Para plataformas de impacto social, ambas dimensiones son necesarias e insustituibles.</a:t>
            </a:r>
            <a:endParaRPr lang="en-US" sz="900" dirty="0"/>
          </a:p>
        </p:txBody>
      </p:sp>
      <p:sp>
        <p:nvSpPr>
          <p:cNvPr id="7" name="Shape 5"/>
          <p:cNvSpPr/>
          <p:nvPr/>
        </p:nvSpPr>
        <p:spPr>
          <a:xfrm>
            <a:off x="4754880" y="80467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8" name="Text 6"/>
          <p:cNvSpPr/>
          <p:nvPr/>
        </p:nvSpPr>
        <p:spPr>
          <a:xfrm>
            <a:off x="4892040" y="89611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Riqueza visual ≠ Facilidad de tarea</a:t>
            </a:r>
            <a:endParaRPr lang="en-US" sz="1100" dirty="0"/>
          </a:p>
        </p:txBody>
      </p:sp>
      <p:sp>
        <p:nvSpPr>
          <p:cNvPr id="9" name="Text 7"/>
          <p:cNvSpPr/>
          <p:nvPr/>
        </p:nvSpPr>
        <p:spPr>
          <a:xfrm>
            <a:off x="4892040" y="120700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B tiene diseño más elaborado y mayor NPS, pero peores tiempos globales y más abandonos. Cada elemento visual debe servir a la acción del usuario: añadir un botón prominente sin etiqueta precisa genera más confusión que su ausencia.</a:t>
            </a:r>
            <a:endParaRPr lang="en-US" sz="900" dirty="0"/>
          </a:p>
        </p:txBody>
      </p:sp>
      <p:sp>
        <p:nvSpPr>
          <p:cNvPr id="10" name="Shape 8"/>
          <p:cNvSpPr/>
          <p:nvPr/>
        </p:nvSpPr>
        <p:spPr>
          <a:xfrm>
            <a:off x="274320" y="222199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11" name="Text 9"/>
          <p:cNvSpPr/>
          <p:nvPr/>
        </p:nvSpPr>
        <p:spPr>
          <a:xfrm>
            <a:off x="411480" y="231343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Bugs de producción contaminan los datos del test</a:t>
            </a:r>
            <a:endParaRPr lang="en-US" sz="1100" dirty="0"/>
          </a:p>
        </p:txBody>
      </p:sp>
      <p:sp>
        <p:nvSpPr>
          <p:cNvPr id="12" name="Text 10"/>
          <p:cNvSpPr/>
          <p:nvPr/>
        </p:nvSpPr>
        <p:spPr>
          <a:xfrm>
            <a:off x="411480" y="262432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El bug 'Invalid Date' en B sesga las métricas de la pantalla afectada. Es imprescindible realizar un smoke test del prototipo antes de distribuirlo a los participantes. Un defecto así invalida parcialmente los datos e introduce ruido en todas las métricas relacionadas.</a:t>
            </a:r>
            <a:endParaRPr lang="en-US" sz="900" dirty="0"/>
          </a:p>
        </p:txBody>
      </p:sp>
      <p:sp>
        <p:nvSpPr>
          <p:cNvPr id="13" name="Shape 11"/>
          <p:cNvSpPr/>
          <p:nvPr/>
        </p:nvSpPr>
        <p:spPr>
          <a:xfrm>
            <a:off x="4754880" y="222199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892040" y="231343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Consistencia de idioma es crítica para la inclusividad</a:t>
            </a:r>
            <a:endParaRPr lang="en-US" sz="1100" dirty="0"/>
          </a:p>
        </p:txBody>
      </p:sp>
      <p:sp>
        <p:nvSpPr>
          <p:cNvPr id="15" name="Text 13"/>
          <p:cNvSpPr/>
          <p:nvPr/>
        </p:nvSpPr>
        <p:spPr>
          <a:xfrm>
            <a:off x="4892040" y="262432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Los filtros en inglés de B violan H4 y desorientan a usuarios no técnicos. En un dominio solidario con usuarios de variada experiencia digital, la coherencia lingüística en todos los elementos —incluyendo los valores de los desplegables— es fundamental.</a:t>
            </a:r>
            <a:endParaRPr lang="en-US" sz="900" dirty="0"/>
          </a:p>
        </p:txBody>
      </p:sp>
      <p:sp>
        <p:nvSpPr>
          <p:cNvPr id="16" name="Shape 14"/>
          <p:cNvSpPr/>
          <p:nvPr/>
        </p:nvSpPr>
        <p:spPr>
          <a:xfrm>
            <a:off x="274320" y="363931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17" name="Text 15"/>
          <p:cNvSpPr/>
          <p:nvPr/>
        </p:nvSpPr>
        <p:spPr>
          <a:xfrm>
            <a:off x="411480" y="373075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Tests no moderados: potentes para medir, limitados para diagnosticar</a:t>
            </a:r>
            <a:endParaRPr lang="en-US" sz="1100" dirty="0"/>
          </a:p>
        </p:txBody>
      </p:sp>
      <p:sp>
        <p:nvSpPr>
          <p:cNvPr id="18" name="Text 16"/>
          <p:cNvSpPr/>
          <p:nvPr/>
        </p:nvSpPr>
        <p:spPr>
          <a:xfrm>
            <a:off x="411480" y="404164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Loop11 nos dio datos cuantitativos ricos con 28 participantes sin coste de moderación, pero no captura el razonamiento verbal. Recomendamos combinar test no moderado (cantidad) con 3–5 sesiones moderadas con think-aloud (diagnóstico cualitativo).</a:t>
            </a:r>
            <a:endParaRPr lang="en-US" sz="900" dirty="0"/>
          </a:p>
        </p:txBody>
      </p:sp>
      <p:sp>
        <p:nvSpPr>
          <p:cNvPr id="19" name="Shape 17"/>
          <p:cNvSpPr/>
          <p:nvPr/>
        </p:nvSpPr>
        <p:spPr>
          <a:xfrm>
            <a:off x="4754880" y="3639312"/>
            <a:ext cx="4206240" cy="1325880"/>
          </a:xfrm>
          <a:prstGeom prst="roundRect">
            <a:avLst>
              <a:gd name="adj" fmla="val 6897"/>
            </a:avLst>
          </a:prstGeom>
          <a:solidFill>
            <a:srgbClr val="FFFFFF"/>
          </a:solidFill>
          <a:ln/>
          <a:effectLst>
            <a:outerShdw blurRad="76200" dist="25400" dir="2700000" algn="bl" rotWithShape="0">
              <a:srgbClr val="000000">
                <a:alpha val="10000"/>
              </a:srgbClr>
            </a:outerShdw>
          </a:effectLst>
        </p:spPr>
      </p:sp>
      <p:sp>
        <p:nvSpPr>
          <p:cNvPr id="20" name="Text 18"/>
          <p:cNvSpPr/>
          <p:nvPr/>
        </p:nvSpPr>
        <p:spPr>
          <a:xfrm>
            <a:off x="4892040" y="3730752"/>
            <a:ext cx="3931920" cy="274320"/>
          </a:xfrm>
          <a:prstGeom prst="rect">
            <a:avLst/>
          </a:prstGeom>
          <a:noFill/>
          <a:ln/>
        </p:spPr>
        <p:txBody>
          <a:bodyPr wrap="square" lIns="0" tIns="0" rIns="0" bIns="0" rtlCol="0" anchor="ctr"/>
          <a:lstStyle/>
          <a:p>
            <a:pPr marL="0" indent="0">
              <a:buNone/>
            </a:pPr>
            <a:r>
              <a:rPr lang="en-US" sz="1100" b="1" dirty="0">
                <a:solidFill>
                  <a:srgbClr val="1B4332"/>
                </a:solidFill>
                <a:latin typeface="Calibri" pitchFamily="34" charset="0"/>
                <a:ea typeface="Calibri" pitchFamily="34" charset="-122"/>
                <a:cs typeface="Calibri" pitchFamily="34" charset="-120"/>
              </a:rPr>
              <a:t>🏷️  Las etiquetas de acción deben ser inequívocas en su contexto</a:t>
            </a:r>
            <a:endParaRPr lang="en-US" sz="1100" dirty="0"/>
          </a:p>
        </p:txBody>
      </p:sp>
      <p:sp>
        <p:nvSpPr>
          <p:cNvPr id="21" name="Text 19"/>
          <p:cNvSpPr/>
          <p:nvPr/>
        </p:nvSpPr>
        <p:spPr>
          <a:xfrm>
            <a:off x="4892040" y="4041648"/>
            <a:ext cx="3931920" cy="868680"/>
          </a:xfrm>
          <a:prstGeom prst="rect">
            <a:avLst/>
          </a:prstGeom>
          <a:noFill/>
          <a:ln/>
        </p:spPr>
        <p:txBody>
          <a:bodyPr wrap="square" lIns="0" tIns="0" rIns="0" bIns="0" rtlCol="0" anchor="ctr"/>
          <a:lstStyle/>
          <a:p>
            <a:pPr marL="0" indent="0">
              <a:buNone/>
            </a:pPr>
            <a:r>
              <a:rPr lang="en-US" sz="900" dirty="0">
                <a:solidFill>
                  <a:srgbClr val="212529"/>
                </a:solidFill>
                <a:latin typeface="Calibri" pitchFamily="34" charset="0"/>
                <a:ea typeface="Calibri" pitchFamily="34" charset="-122"/>
                <a:cs typeface="Calibri" pitchFamily="34" charset="-120"/>
              </a:rPr>
              <a:t>La brecha de género de 43 pp en T1 de B revela que 'Compartir' puede interpretarse de formas radicalmente distintas. Solicitar y publicar son acciones contrarias: la UI debe distinguirlas con claridad total. Esta lección refuerza la importancia de las pruebas con usuarios antes de cerrar cualquier CTA.</a:t>
            </a:r>
            <a:endParaRPr lang="en-US" sz="9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4332"/>
        </a:solidFill>
        <a:effectLst/>
      </p:bgPr>
    </p:bg>
    <p:spTree>
      <p:nvGrpSpPr>
        <p:cNvPr id="1" name=""/>
        <p:cNvGrpSpPr/>
        <p:nvPr/>
      </p:nvGrpSpPr>
      <p:grpSpPr>
        <a:xfrm>
          <a:off x="0" y="0"/>
          <a:ext cx="0" cy="0"/>
          <a:chOff x="0" y="0"/>
          <a:chExt cx="0" cy="0"/>
        </a:xfrm>
      </p:grpSpPr>
      <p:sp>
        <p:nvSpPr>
          <p:cNvPr id="2" name="Text 0"/>
          <p:cNvSpPr/>
          <p:nvPr/>
        </p:nvSpPr>
        <p:spPr>
          <a:xfrm>
            <a:off x="640080" y="411480"/>
            <a:ext cx="7863840" cy="594360"/>
          </a:xfrm>
          <a:prstGeom prst="rect">
            <a:avLst/>
          </a:prstGeom>
          <a:noFill/>
          <a:ln/>
        </p:spPr>
        <p:txBody>
          <a:bodyPr wrap="square" rtlCol="0" anchor="ctr"/>
          <a:lstStyle/>
          <a:p>
            <a:pPr marL="0" indent="0">
              <a:buNone/>
            </a:pPr>
            <a:r>
              <a:rPr lang="en-US" sz="3400" b="1" dirty="0">
                <a:solidFill>
                  <a:srgbClr val="E9C46A"/>
                </a:solidFill>
                <a:latin typeface="Calibri" pitchFamily="34" charset="0"/>
                <a:ea typeface="Calibri" pitchFamily="34" charset="-122"/>
                <a:cs typeface="Calibri" pitchFamily="34" charset="-120"/>
              </a:rPr>
              <a:t>Conclusión</a:t>
            </a:r>
            <a:endParaRPr lang="en-US" sz="3400" dirty="0"/>
          </a:p>
        </p:txBody>
      </p:sp>
      <p:sp>
        <p:nvSpPr>
          <p:cNvPr id="3" name="Shape 1"/>
          <p:cNvSpPr/>
          <p:nvPr/>
        </p:nvSpPr>
        <p:spPr>
          <a:xfrm>
            <a:off x="640080" y="1024128"/>
            <a:ext cx="7863840" cy="36576"/>
          </a:xfrm>
          <a:prstGeom prst="rect">
            <a:avLst/>
          </a:prstGeom>
          <a:solidFill>
            <a:srgbClr val="E9C46A"/>
          </a:solidFill>
          <a:ln/>
        </p:spPr>
      </p:sp>
      <p:sp>
        <p:nvSpPr>
          <p:cNvPr id="4" name="Text 2"/>
          <p:cNvSpPr/>
          <p:nvPr/>
        </p:nvSpPr>
        <p:spPr>
          <a:xfrm>
            <a:off x="640080" y="1115568"/>
            <a:ext cx="7863840" cy="347472"/>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Ningún prototipo es superior en todas las dimensiones.</a:t>
            </a:r>
            <a:endParaRPr lang="en-US" sz="1600" dirty="0"/>
          </a:p>
        </p:txBody>
      </p:sp>
      <p:sp>
        <p:nvSpPr>
          <p:cNvPr id="5" name="Shape 3"/>
          <p:cNvSpPr/>
          <p:nvPr/>
        </p:nvSpPr>
        <p:spPr>
          <a:xfrm>
            <a:off x="640080" y="1572768"/>
            <a:ext cx="3977640" cy="2331720"/>
          </a:xfrm>
          <a:prstGeom prst="roundRect">
            <a:avLst>
              <a:gd name="adj" fmla="val 3922"/>
            </a:avLst>
          </a:prstGeom>
          <a:solidFill>
            <a:srgbClr val="6C63A8">
              <a:alpha val="25000"/>
            </a:srgbClr>
          </a:solidFill>
          <a:ln/>
        </p:spPr>
      </p:sp>
      <p:sp>
        <p:nvSpPr>
          <p:cNvPr id="6" name="Text 4"/>
          <p:cNvSpPr/>
          <p:nvPr/>
        </p:nvSpPr>
        <p:spPr>
          <a:xfrm>
            <a:off x="777240" y="1627632"/>
            <a:ext cx="3749040" cy="320040"/>
          </a:xfrm>
          <a:prstGeom prst="rect">
            <a:avLst/>
          </a:prstGeom>
          <a:noFill/>
          <a:ln/>
        </p:spPr>
        <p:txBody>
          <a:bodyPr wrap="square" lIns="0" tIns="0" rIns="0" bIns="0" rtlCol="0" anchor="ctr"/>
          <a:lstStyle/>
          <a:p>
            <a:pPr marL="0" indent="0">
              <a:buNone/>
            </a:pPr>
            <a:r>
              <a:rPr lang="en-US" sz="1400" b="1" dirty="0">
                <a:solidFill>
                  <a:srgbClr val="6C63A8"/>
                </a:solidFill>
                <a:latin typeface="Calibri" pitchFamily="34" charset="0"/>
                <a:ea typeface="Calibri" pitchFamily="34" charset="-122"/>
                <a:cs typeface="Calibri" pitchFamily="34" charset="-120"/>
              </a:rPr>
              <a:t>Prototipo A  ✓</a:t>
            </a:r>
            <a:endParaRPr lang="en-US" sz="1400" dirty="0"/>
          </a:p>
        </p:txBody>
      </p:sp>
      <p:sp>
        <p:nvSpPr>
          <p:cNvPr id="7" name="Text 5"/>
          <p:cNvSpPr/>
          <p:nvPr/>
        </p:nvSpPr>
        <p:spPr>
          <a:xfrm>
            <a:off x="777240" y="1993392"/>
            <a:ext cx="3749040" cy="1828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Más eficiente: 74,4s vs 83,5s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Mejor EE global: +0,27 vs −0,40</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Menor brecha de género (15 pp vs 43 pp)</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Más consistencia lingüística</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Sin bugs críticos visibles</a:t>
            </a:r>
            <a:endParaRPr lang="en-US" sz="1100" dirty="0"/>
          </a:p>
        </p:txBody>
      </p:sp>
      <p:sp>
        <p:nvSpPr>
          <p:cNvPr id="8" name="Shape 6"/>
          <p:cNvSpPr/>
          <p:nvPr/>
        </p:nvSpPr>
        <p:spPr>
          <a:xfrm>
            <a:off x="4937760" y="1572768"/>
            <a:ext cx="3977640" cy="2331720"/>
          </a:xfrm>
          <a:prstGeom prst="roundRect">
            <a:avLst>
              <a:gd name="adj" fmla="val 3922"/>
            </a:avLst>
          </a:prstGeom>
          <a:solidFill>
            <a:srgbClr val="F4A261">
              <a:alpha val="25000"/>
            </a:srgbClr>
          </a:solidFill>
          <a:ln/>
        </p:spPr>
      </p:sp>
      <p:sp>
        <p:nvSpPr>
          <p:cNvPr id="9" name="Text 7"/>
          <p:cNvSpPr/>
          <p:nvPr/>
        </p:nvSpPr>
        <p:spPr>
          <a:xfrm>
            <a:off x="5074920" y="1627632"/>
            <a:ext cx="3749040" cy="320040"/>
          </a:xfrm>
          <a:prstGeom prst="rect">
            <a:avLst/>
          </a:prstGeom>
          <a:noFill/>
          <a:ln/>
        </p:spPr>
        <p:txBody>
          <a:bodyPr wrap="square" lIns="0" tIns="0" rIns="0" bIns="0" rtlCol="0" anchor="ctr"/>
          <a:lstStyle/>
          <a:p>
            <a:pPr marL="0" indent="0">
              <a:buNone/>
            </a:pPr>
            <a:r>
              <a:rPr lang="en-US" sz="1400" b="1" dirty="0">
                <a:solidFill>
                  <a:srgbClr val="F4A261"/>
                </a:solidFill>
                <a:latin typeface="Calibri" pitchFamily="34" charset="0"/>
                <a:ea typeface="Calibri" pitchFamily="34" charset="-122"/>
                <a:cs typeface="Calibri" pitchFamily="34" charset="-120"/>
              </a:rPr>
              <a:t>Prototipo B  ✓</a:t>
            </a:r>
            <a:endParaRPr lang="en-US" sz="1400" dirty="0"/>
          </a:p>
        </p:txBody>
      </p:sp>
      <p:sp>
        <p:nvSpPr>
          <p:cNvPr id="10" name="Text 8"/>
          <p:cNvSpPr/>
          <p:nvPr/>
        </p:nvSpPr>
        <p:spPr>
          <a:xfrm>
            <a:off x="5074920" y="1993392"/>
            <a:ext cx="3749040" cy="1828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Mejor NPS: +43 vs 0</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Menor lostness global: 0,468 vs 0,572</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Mejor T3 Ver solicitud (85,7% vs 64,3%)</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Mayor identidad de marca y conexión emocional</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Formularios más completos y estructurados</a:t>
            </a:r>
            <a:endParaRPr lang="en-US" sz="1100" dirty="0"/>
          </a:p>
        </p:txBody>
      </p:sp>
      <p:sp>
        <p:nvSpPr>
          <p:cNvPr id="11" name="Shape 9"/>
          <p:cNvSpPr/>
          <p:nvPr/>
        </p:nvSpPr>
        <p:spPr>
          <a:xfrm>
            <a:off x="640080" y="4005072"/>
            <a:ext cx="7863840" cy="868680"/>
          </a:xfrm>
          <a:prstGeom prst="roundRect">
            <a:avLst>
              <a:gd name="adj" fmla="val 10526"/>
            </a:avLst>
          </a:prstGeom>
          <a:solidFill>
            <a:srgbClr val="40916C">
              <a:alpha val="70000"/>
            </a:srgbClr>
          </a:solidFill>
          <a:ln/>
        </p:spPr>
      </p:sp>
      <p:sp>
        <p:nvSpPr>
          <p:cNvPr id="12" name="Text 10"/>
          <p:cNvSpPr/>
          <p:nvPr/>
        </p:nvSpPr>
        <p:spPr>
          <a:xfrm>
            <a:off x="777240" y="4041648"/>
            <a:ext cx="7589520" cy="256032"/>
          </a:xfrm>
          <a:prstGeom prst="rect">
            <a:avLst/>
          </a:prstGeom>
          <a:noFill/>
          <a:ln/>
        </p:spPr>
        <p:txBody>
          <a:bodyPr wrap="square" lIns="0" tIns="0" rIns="0" bIns="0" rtlCol="0" anchor="ctr"/>
          <a:lstStyle/>
          <a:p>
            <a:pPr marL="0" indent="0">
              <a:buNone/>
            </a:pPr>
            <a:r>
              <a:rPr lang="en-US" sz="1200" b="1" dirty="0">
                <a:solidFill>
                  <a:srgbClr val="E9C46A"/>
                </a:solidFill>
                <a:latin typeface="Calibri" pitchFamily="34" charset="0"/>
                <a:ea typeface="Calibri" pitchFamily="34" charset="-122"/>
                <a:cs typeface="Calibri" pitchFamily="34" charset="-120"/>
              </a:rPr>
              <a:t>Solución óptima: </a:t>
            </a:r>
            <a:endParaRPr lang="en-US" sz="1200" dirty="0"/>
          </a:p>
        </p:txBody>
      </p:sp>
      <p:sp>
        <p:nvSpPr>
          <p:cNvPr id="13" name="Text 11"/>
          <p:cNvSpPr/>
          <p:nvPr/>
        </p:nvSpPr>
        <p:spPr>
          <a:xfrm>
            <a:off x="777240" y="4315968"/>
            <a:ext cx="7589520" cy="50292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Combinar la estructura de navegación y claridad de etiquetas de A con la identidad visual, densidad informativa de tarjetas y formulario estructurado de B — corrigiendo el bug de fechas, unificando el idioma de los filtros y añadiendo selector de unidades en A.</a:t>
            </a:r>
            <a:endParaRPr lang="en-US" sz="11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2246</Words>
  <Application>Microsoft Office PowerPoint</Application>
  <PresentationFormat>Presentación en pantalla (16:9)</PresentationFormat>
  <Paragraphs>334</Paragraphs>
  <Slides>14</Slides>
  <Notes>14</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14</vt:i4>
      </vt:variant>
    </vt:vector>
  </HeadingPairs>
  <TitlesOfParts>
    <vt:vector size="17"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GCS-08 · RedDonación · Evaluación Heurística 2026</dc:title>
  <dc:subject>PptxGenJS Presentation</dc:subject>
  <dc:creator>PptxGenJS</dc:creator>
  <cp:lastModifiedBy>Usuario</cp:lastModifiedBy>
  <cp:revision>5</cp:revision>
  <dcterms:created xsi:type="dcterms:W3CDTF">2026-06-13T17:12:02Z</dcterms:created>
  <dcterms:modified xsi:type="dcterms:W3CDTF">2026-06-15T13:51:38Z</dcterms:modified>
</cp:coreProperties>
</file>